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9" r:id="rId6"/>
    <p:sldId id="260" r:id="rId7"/>
    <p:sldId id="261" r:id="rId9"/>
    <p:sldId id="262" r:id="rId8"/>
    <p:sldId id="263" r:id="rId10"/>
    <p:sldId id="264" r:id="rId11"/>
    <p:sldId id="265" r:id="rId12"/>
    <p:sldId id="266" r:id="rId13"/>
    <p:sldId id="270" r:id="rId20"/>
    <p:sldId id="272" r:id="rId22"/>
    <p:sldId id="273" r:id="rId23"/>
    <p:sldId id="274" r:id="rId24"/>
    <p:sldId id="275" r:id="rId25"/>
    <p:sldId id="276" r:id="rId26"/>
    <p:sldId id="267" r:id="rId14"/>
    <p:sldId id="271"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48884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06919-1A45-1FCC-C592-08A5C9DB76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9D1C6C-971C-DA80-28B7-FB40953AC5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3E2A56-9195-CB86-E17B-CF95811FA0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486885F-84E1-CF5A-2048-5720B5FD55B3}"/>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909944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2.png"/><Relationship Id="rId6" Type="http://schemas.openxmlformats.org/officeDocument/2006/relationships/image" Target="../media/image11.png"/><Relationship Id="rId7"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13.png"/><Relationship Id="rId5" Type="http://schemas.openxmlformats.org/officeDocument/2006/relationships/image" Target="../media/image8.png"/><Relationship Id="rId6" Type="http://schemas.openxmlformats.org/officeDocument/2006/relationships/image" Target="../media/image6.png"/><Relationship Id="rId7" Type="http://schemas.openxmlformats.org/officeDocument/2006/relationships/image" Target="../media/image12.png"/><Relationship Id="rId8" Type="http://schemas.openxmlformats.org/officeDocument/2006/relationships/image" Target="../media/image14.png"/><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15.png"/><Relationship Id="rId6" Type="http://schemas.openxmlformats.org/officeDocument/2006/relationships/image" Target="../media/image12.png"/><Relationship Id="rId7"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7.png"/><Relationship Id="rId7" Type="http://schemas.openxmlformats.org/officeDocument/2006/relationships/image" Target="../media/image9.png"/><Relationship Id="rId8"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5.png"/><Relationship Id="rId8" Type="http://schemas.openxmlformats.org/officeDocument/2006/relationships/image" Target="../media/image12.png"/><Relationship Id="rId9"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12.png"/><Relationship Id="rId7"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19.png"/><Relationship Id="rId7" Type="http://schemas.openxmlformats.org/officeDocument/2006/relationships/image" Target="../media/image6.png"/><Relationship Id="rId8" Type="http://schemas.openxmlformats.org/officeDocument/2006/relationships/image" Target="../media/image12.png"/><Relationship Id="rId9" Type="http://schemas.openxmlformats.org/officeDocument/2006/relationships/image" Target="../media/image9.png"/><Relationship Id="rId10" Type="http://schemas.openxmlformats.org/officeDocument/2006/relationships/image" Target="../media/image13.png"/><Relationship Id="rId11"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0.png"/><Relationship Id="rId5"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21.png"/><Relationship Id="rId5" Type="http://schemas.openxmlformats.org/officeDocument/2006/relationships/image" Target="../media/image10.png"/><Relationship Id="rId6" Type="http://schemas.openxmlformats.org/officeDocument/2006/relationships/image" Target="../media/image15.png"/><Relationship Id="rId7"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DF6F3"/>
        </a:solidFill>
        <a:effectLst/>
      </p:bgPr>
    </p:bg>
    <p:spTree>
      <p:nvGrpSpPr>
        <p:cNvPr id="1" name=""/>
        <p:cNvGrpSpPr/>
        <p:nvPr/>
      </p:nvGrpSpPr>
      <p:grpSpPr>
        <a:xfrm>
          <a:off x="0" y="0"/>
          <a:ext cx="0" cy="0"/>
          <a:chOff x="0" y="0"/>
          <a:chExt cx="0" cy="0"/>
        </a:xfrm>
      </p:grpSpPr>
      <p:sp>
        <p:nvSpPr>
          <p:cNvPr id="2" name="Shape 0"/>
          <p:cNvSpPr/>
          <p:nvPr/>
        </p:nvSpPr>
        <p:spPr>
          <a:xfrm>
            <a:off x="0" y="6784848"/>
            <a:ext cx="12188952" cy="73152"/>
          </a:xfrm>
          <a:prstGeom prst="rect">
            <a:avLst/>
          </a:prstGeom>
          <a:solidFill>
            <a:srgbClr val="BA2532"/>
          </a:solidFill>
          <a:ln/>
        </p:spPr>
        <p:txBody>
          <a:bodyPr/>
          <a:p/>
        </p:txBody>
      </p:sp>
      <p:pic>
        <p:nvPicPr>
          <p:cNvPr id="3" name="Image 0" descr="/home/claude/work/unpacked/ppt/media/image1.png"/>
          <p:cNvPicPr>
            <a:picLocks noChangeAspect="1"/>
          </p:cNvPicPr>
          <p:nvPr/>
        </p:nvPicPr>
        <p:blipFill>
          <a:blip r:embed="rId3"/>
          <a:stretch>
            <a:fillRect/>
          </a:stretch>
        </p:blipFill>
        <p:spPr>
          <a:xfrm>
            <a:off x="5180076" y="384048"/>
            <a:ext cx="1828800" cy="804672"/>
          </a:xfrm>
          <a:prstGeom prst="rect">
            <a:avLst/>
          </a:prstGeom>
        </p:spPr>
      </p:pic>
      <p:sp>
        <p:nvSpPr>
          <p:cNvPr id="4" name="Text 1"/>
          <p:cNvSpPr/>
          <p:nvPr/>
        </p:nvSpPr>
        <p:spPr>
          <a:xfrm>
            <a:off x="0" y="1371600"/>
            <a:ext cx="12188952" cy="329184"/>
          </a:xfrm>
          <a:prstGeom prst="rect">
            <a:avLst/>
          </a:prstGeom>
          <a:noFill/>
          <a:ln/>
        </p:spPr>
        <p:txBody>
          <a:bodyPr wrap="square" rtlCol="0" anchor="ctr"/>
          <a:lstStyle/>
          <a:p>
            <a:pPr marL="0" indent="0" algn="ctr">
              <a:buNone/>
            </a:pPr>
            <a:r>
              <a:rPr lang="en-US" sz="1500" dirty="0">
                <a:solidFill>
                  <a:srgbClr val="C00000"/>
                </a:solidFill>
                <a:latin typeface="Calibri" pitchFamily="34" charset="0"/>
                <a:ea typeface="Calibri" pitchFamily="34" charset="-122"/>
                <a:cs typeface="Calibri" pitchFamily="34" charset="-120"/>
              </a:rPr>
              <a:t>Department of CSE</a:t>
            </a:r>
            <a:endParaRPr lang="en-US" sz="1500" dirty="0"/>
          </a:p>
        </p:txBody>
      </p:sp>
      <p:sp>
        <p:nvSpPr>
          <p:cNvPr id="5" name="Text 2"/>
          <p:cNvSpPr/>
          <p:nvPr/>
        </p:nvSpPr>
        <p:spPr>
          <a:xfrm>
            <a:off x="0" y="1810512"/>
            <a:ext cx="12188952" cy="457200"/>
          </a:xfrm>
          <a:prstGeom prst="rect">
            <a:avLst/>
          </a:prstGeom>
          <a:noFill/>
          <a:ln/>
        </p:spPr>
        <p:txBody>
          <a:bodyPr wrap="square" rtlCol="0" anchor="ctr"/>
          <a:lstStyle/>
          <a:p>
            <a:r>
              <a:t>PROJECT REVIEW – 2</a:t>
            </a:r>
          </a:p>
        </p:txBody>
      </p:sp>
      <p:sp>
        <p:nvSpPr>
          <p:cNvPr id="6" name="Text 3"/>
          <p:cNvSpPr/>
          <p:nvPr/>
        </p:nvSpPr>
        <p:spPr>
          <a:xfrm>
            <a:off x="731520" y="2286000"/>
            <a:ext cx="10725912" cy="566928"/>
          </a:xfrm>
          <a:prstGeom prst="rect">
            <a:avLst/>
          </a:prstGeom>
          <a:noFill/>
          <a:ln/>
        </p:spPr>
        <p:txBody>
          <a:bodyPr wrap="square" rtlCol="0" anchor="ctr"/>
          <a:lstStyle/>
          <a:p>
            <a:pPr marL="0" indent="0" algn="ctr">
              <a:buNone/>
            </a:pPr>
            <a:r>
              <a:rPr lang="en-US" sz="2900" b="1" dirty="0">
                <a:solidFill>
                  <a:srgbClr val="2B2B2B"/>
                </a:solidFill>
                <a:latin typeface="Calibri" pitchFamily="34" charset="0"/>
                <a:ea typeface="Calibri" pitchFamily="34" charset="-122"/>
                <a:cs typeface="Calibri" pitchFamily="34" charset="-120"/>
              </a:rPr>
              <a:t>AI MULTI-AGENT RESEARCH ASSISTANT</a:t>
            </a:r>
            <a:endParaRPr lang="en-US" sz="2900" dirty="0"/>
          </a:p>
        </p:txBody>
      </p:sp>
      <p:sp>
        <p:nvSpPr>
          <p:cNvPr id="7" name="Text 4"/>
          <p:cNvSpPr/>
          <p:nvPr/>
        </p:nvSpPr>
        <p:spPr>
          <a:xfrm>
            <a:off x="1097280" y="2871216"/>
            <a:ext cx="9994392" cy="384048"/>
          </a:xfrm>
          <a:prstGeom prst="rect">
            <a:avLst/>
          </a:prstGeom>
          <a:noFill/>
          <a:ln/>
        </p:spPr>
        <p:txBody>
          <a:bodyPr wrap="square" rtlCol="0" anchor="ctr"/>
          <a:lstStyle/>
          <a:p>
            <a:r>
              <a:t>Methodology, System Design, Tools, Implementation &amp; Evaluation</a:t>
            </a:r>
          </a:p>
        </p:txBody>
      </p:sp>
      <p:sp>
        <p:nvSpPr>
          <p:cNvPr id="8" name="Shape 5"/>
          <p:cNvSpPr/>
          <p:nvPr/>
        </p:nvSpPr>
        <p:spPr>
          <a:xfrm>
            <a:off x="2345436" y="3364992"/>
            <a:ext cx="7498080" cy="457200"/>
          </a:xfrm>
          <a:prstGeom prst="roundRect">
            <a:avLst>
              <a:gd name="adj" fmla="val 20000"/>
            </a:avLst>
          </a:prstGeom>
          <a:solidFill>
            <a:srgbClr val="C00000"/>
          </a:solidFill>
          <a:ln/>
        </p:spPr>
        <p:txBody>
          <a:bodyPr/>
          <a:p/>
        </p:txBody>
      </p:sp>
      <p:sp>
        <p:nvSpPr>
          <p:cNvPr id="9" name="Text 6"/>
          <p:cNvSpPr/>
          <p:nvPr/>
        </p:nvSpPr>
        <p:spPr>
          <a:xfrm>
            <a:off x="2345436" y="3364992"/>
            <a:ext cx="7498080" cy="45720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Subject: </a:t>
            </a:r>
            <a:r>
              <a:rPr lang="en-US" sz="1250" dirty="0">
                <a:solidFill>
                  <a:srgbClr val="FFFFFF"/>
                </a:solidFill>
                <a:latin typeface="Calibri" pitchFamily="34" charset="0"/>
                <a:ea typeface="Calibri" pitchFamily="34" charset="-122"/>
                <a:cs typeface="Calibri" pitchFamily="34" charset="-120"/>
              </a:rPr>
              <a:t>Applied Machine Learning for Text Analysis   </a:t>
            </a:r>
            <a:r>
              <a:rPr lang="en-US" sz="1250" b="1" dirty="0">
                <a:solidFill>
                  <a:srgbClr val="FFFFFF"/>
                </a:solidFill>
                <a:latin typeface="Calibri" pitchFamily="34" charset="0"/>
                <a:ea typeface="Calibri" pitchFamily="34" charset="-122"/>
                <a:cs typeface="Calibri" pitchFamily="34" charset="-120"/>
              </a:rPr>
              <a:t>|   Code: </a:t>
            </a:r>
            <a:r>
              <a:rPr lang="en-US" sz="1250" dirty="0">
                <a:solidFill>
                  <a:srgbClr val="FFFFFF"/>
                </a:solidFill>
                <a:latin typeface="Calibri" pitchFamily="34" charset="0"/>
                <a:ea typeface="Calibri" pitchFamily="34" charset="-122"/>
                <a:cs typeface="Calibri" pitchFamily="34" charset="-120"/>
              </a:rPr>
              <a:t>24ALT3101</a:t>
            </a:r>
            <a:endParaRPr lang="en-US" sz="1250" dirty="0"/>
          </a:p>
        </p:txBody>
      </p:sp>
      <p:sp>
        <p:nvSpPr>
          <p:cNvPr id="10" name="Shape 7"/>
          <p:cNvSpPr/>
          <p:nvPr/>
        </p:nvSpPr>
        <p:spPr>
          <a:xfrm>
            <a:off x="2711196" y="4023360"/>
            <a:ext cx="6766560" cy="1417320"/>
          </a:xfrm>
          <a:prstGeom prst="roundRect">
            <a:avLst>
              <a:gd name="adj" fmla="val 6452"/>
            </a:avLst>
          </a:prstGeom>
          <a:solidFill>
            <a:srgbClr val="FFFFFF"/>
          </a:solidFill>
          <a:ln w="12700">
            <a:solidFill>
              <a:srgbClr val="F7E1DE"/>
            </a:solidFill>
            <a:prstDash val="solid"/>
          </a:ln>
          <a:effectLst>
            <a:outerShdw blurRad="101600" dist="25400" dir="5400000" algn="bl" rotWithShape="0">
              <a:srgbClr val="444444">
                <a:alpha val="12000"/>
              </a:srgbClr>
            </a:outerShdw>
          </a:effectLst>
        </p:spPr>
        <p:txBody>
          <a:bodyPr/>
          <a:p/>
        </p:txBody>
      </p:sp>
      <p:sp>
        <p:nvSpPr>
          <p:cNvPr id="11" name="Text 8"/>
          <p:cNvSpPr/>
          <p:nvPr/>
        </p:nvSpPr>
        <p:spPr>
          <a:xfrm>
            <a:off x="2985516" y="4133088"/>
            <a:ext cx="6217920" cy="292608"/>
          </a:xfrm>
          <a:prstGeom prst="rect">
            <a:avLst/>
          </a:prstGeom>
          <a:noFill/>
          <a:ln/>
        </p:spPr>
        <p:txBody>
          <a:bodyPr wrap="square" rtlCol="0" anchor="ctr"/>
          <a:lstStyle/>
          <a:p>
            <a:pPr marL="0" indent="0">
              <a:buNone/>
            </a:pPr>
            <a:r>
              <a:rPr lang="en-US" sz="1250" b="1" dirty="0">
                <a:solidFill>
                  <a:srgbClr val="C00000"/>
                </a:solidFill>
                <a:latin typeface="Calibri" pitchFamily="34" charset="0"/>
                <a:ea typeface="Calibri" pitchFamily="34" charset="-122"/>
                <a:cs typeface="Calibri" pitchFamily="34" charset="-120"/>
              </a:rPr>
              <a:t>Team Members</a:t>
            </a:r>
            <a:endParaRPr lang="en-US" sz="1250" dirty="0"/>
          </a:p>
        </p:txBody>
      </p:sp>
      <p:sp>
        <p:nvSpPr>
          <p:cNvPr id="12" name="Shape 9"/>
          <p:cNvSpPr/>
          <p:nvPr/>
        </p:nvSpPr>
        <p:spPr>
          <a:xfrm>
            <a:off x="3765804" y="4480560"/>
            <a:ext cx="512064" cy="512064"/>
          </a:xfrm>
          <a:prstGeom prst="ellipse">
            <a:avLst/>
          </a:prstGeom>
          <a:solidFill>
            <a:srgbClr val="C00000"/>
          </a:solidFill>
          <a:ln/>
          <a:effectLst>
            <a:outerShdw blurRad="76200" dist="25400" dir="5400000" algn="bl" rotWithShape="0">
              <a:srgbClr val="9B1B1B">
                <a:alpha val="25000"/>
              </a:srgbClr>
            </a:outerShdw>
          </a:effectLst>
        </p:spPr>
        <p:txBody>
          <a:bodyPr/>
          <a:p/>
        </p:txBody>
      </p:sp>
      <p:pic>
        <p:nvPicPr>
          <p:cNvPr id="13" name="Image 1" descr="/home/claude/work/icons/users.png"/>
          <p:cNvPicPr>
            <a:picLocks noChangeAspect="1"/>
          </p:cNvPicPr>
          <p:nvPr/>
        </p:nvPicPr>
        <p:blipFill>
          <a:blip r:embed="rId4"/>
          <a:stretch>
            <a:fillRect/>
          </a:stretch>
        </p:blipFill>
        <p:spPr>
          <a:xfrm>
            <a:off x="3898941" y="4613697"/>
            <a:ext cx="245791" cy="245791"/>
          </a:xfrm>
          <a:prstGeom prst="rect">
            <a:avLst/>
          </a:prstGeom>
        </p:spPr>
      </p:pic>
      <p:sp>
        <p:nvSpPr>
          <p:cNvPr id="14" name="Text 10"/>
          <p:cNvSpPr/>
          <p:nvPr/>
        </p:nvSpPr>
        <p:spPr>
          <a:xfrm>
            <a:off x="2985516" y="5010912"/>
            <a:ext cx="2072640" cy="256032"/>
          </a:xfrm>
          <a:prstGeom prst="rect">
            <a:avLst/>
          </a:prstGeom>
          <a:noFill/>
          <a:ln/>
        </p:spPr>
        <p:txBody>
          <a:bodyPr wrap="square" rtlCol="0" anchor="ctr"/>
          <a:lstStyle/>
          <a:p>
            <a:pPr marL="0" indent="0" algn="ctr">
              <a:buNone/>
            </a:pPr>
            <a:r>
              <a:rPr lang="en-US" sz="1150" b="1" dirty="0">
                <a:solidFill>
                  <a:srgbClr val="2B2B2B"/>
                </a:solidFill>
                <a:latin typeface="Calibri" pitchFamily="34" charset="0"/>
                <a:ea typeface="Calibri" pitchFamily="34" charset="-122"/>
                <a:cs typeface="Calibri" pitchFamily="34" charset="-120"/>
              </a:rPr>
              <a:t>Y. Srija</a:t>
            </a:r>
            <a:endParaRPr lang="en-US" sz="1150" dirty="0"/>
          </a:p>
        </p:txBody>
      </p:sp>
      <p:sp>
        <p:nvSpPr>
          <p:cNvPr id="15" name="Text 11"/>
          <p:cNvSpPr/>
          <p:nvPr/>
        </p:nvSpPr>
        <p:spPr>
          <a:xfrm>
            <a:off x="2985516" y="5230368"/>
            <a:ext cx="2072640" cy="201168"/>
          </a:xfrm>
          <a:prstGeom prst="rect">
            <a:avLst/>
          </a:prstGeom>
          <a:noFill/>
          <a:ln/>
        </p:spPr>
        <p:txBody>
          <a:bodyPr wrap="square" rtlCol="0" anchor="ctr"/>
          <a:lstStyle/>
          <a:p>
            <a:pPr marL="0" indent="0" algn="ctr">
              <a:buNone/>
            </a:pPr>
            <a:r>
              <a:rPr lang="en-US" sz="950" dirty="0">
                <a:solidFill>
                  <a:srgbClr val="6B6B6B"/>
                </a:solidFill>
                <a:latin typeface="Calibri" pitchFamily="34" charset="0"/>
                <a:ea typeface="Calibri" pitchFamily="34" charset="-122"/>
                <a:cs typeface="Calibri" pitchFamily="34" charset="-120"/>
              </a:rPr>
              <a:t>2420030480</a:t>
            </a:r>
            <a:endParaRPr lang="en-US" sz="950" dirty="0"/>
          </a:p>
        </p:txBody>
      </p:sp>
      <p:sp>
        <p:nvSpPr>
          <p:cNvPr id="16" name="Shape 12"/>
          <p:cNvSpPr/>
          <p:nvPr/>
        </p:nvSpPr>
        <p:spPr>
          <a:xfrm>
            <a:off x="5838444" y="4480560"/>
            <a:ext cx="512064" cy="512064"/>
          </a:xfrm>
          <a:prstGeom prst="ellipse">
            <a:avLst/>
          </a:prstGeom>
          <a:solidFill>
            <a:srgbClr val="C00000"/>
          </a:solidFill>
          <a:ln/>
          <a:effectLst>
            <a:outerShdw blurRad="76200" dist="25400" dir="5400000" algn="bl" rotWithShape="0">
              <a:srgbClr val="9B1B1B">
                <a:alpha val="25000"/>
              </a:srgbClr>
            </a:outerShdw>
          </a:effectLst>
        </p:spPr>
        <p:txBody>
          <a:bodyPr/>
          <a:p/>
        </p:txBody>
      </p:sp>
      <p:pic>
        <p:nvPicPr>
          <p:cNvPr id="17" name="Image 2" descr="/home/claude/work/icons/users.png"/>
          <p:cNvPicPr>
            <a:picLocks noChangeAspect="1"/>
          </p:cNvPicPr>
          <p:nvPr/>
        </p:nvPicPr>
        <p:blipFill>
          <a:blip r:embed="rId4"/>
          <a:stretch>
            <a:fillRect/>
          </a:stretch>
        </p:blipFill>
        <p:spPr>
          <a:xfrm>
            <a:off x="5971581" y="4613697"/>
            <a:ext cx="245791" cy="245791"/>
          </a:xfrm>
          <a:prstGeom prst="rect">
            <a:avLst/>
          </a:prstGeom>
        </p:spPr>
      </p:pic>
      <p:sp>
        <p:nvSpPr>
          <p:cNvPr id="18" name="Text 13"/>
          <p:cNvSpPr/>
          <p:nvPr/>
        </p:nvSpPr>
        <p:spPr>
          <a:xfrm>
            <a:off x="5058156" y="5010912"/>
            <a:ext cx="2072640" cy="256032"/>
          </a:xfrm>
          <a:prstGeom prst="rect">
            <a:avLst/>
          </a:prstGeom>
          <a:noFill/>
          <a:ln/>
        </p:spPr>
        <p:txBody>
          <a:bodyPr wrap="square" rtlCol="0" anchor="ctr"/>
          <a:lstStyle/>
          <a:p>
            <a:pPr marL="0" indent="0" algn="ctr">
              <a:buNone/>
            </a:pPr>
            <a:r>
              <a:rPr lang="en-US" sz="1150" b="1" dirty="0">
                <a:solidFill>
                  <a:srgbClr val="2B2B2B"/>
                </a:solidFill>
                <a:latin typeface="Calibri" pitchFamily="34" charset="0"/>
                <a:ea typeface="Calibri" pitchFamily="34" charset="-122"/>
                <a:cs typeface="Calibri" pitchFamily="34" charset="-120"/>
              </a:rPr>
              <a:t>T. Deepak</a:t>
            </a:r>
            <a:endParaRPr lang="en-US" sz="1150" dirty="0"/>
          </a:p>
        </p:txBody>
      </p:sp>
      <p:sp>
        <p:nvSpPr>
          <p:cNvPr id="19" name="Text 14"/>
          <p:cNvSpPr/>
          <p:nvPr/>
        </p:nvSpPr>
        <p:spPr>
          <a:xfrm>
            <a:off x="5058156" y="5230368"/>
            <a:ext cx="2072640" cy="201168"/>
          </a:xfrm>
          <a:prstGeom prst="rect">
            <a:avLst/>
          </a:prstGeom>
          <a:noFill/>
          <a:ln/>
        </p:spPr>
        <p:txBody>
          <a:bodyPr wrap="square" rtlCol="0" anchor="ctr"/>
          <a:lstStyle/>
          <a:p>
            <a:pPr marL="0" indent="0" algn="ctr">
              <a:buNone/>
            </a:pPr>
            <a:r>
              <a:rPr lang="en-US" sz="950" dirty="0">
                <a:solidFill>
                  <a:srgbClr val="6B6B6B"/>
                </a:solidFill>
                <a:latin typeface="Calibri" pitchFamily="34" charset="0"/>
                <a:ea typeface="Calibri" pitchFamily="34" charset="-122"/>
                <a:cs typeface="Calibri" pitchFamily="34" charset="-120"/>
              </a:rPr>
              <a:t>2420030106</a:t>
            </a:r>
            <a:endParaRPr lang="en-US" sz="950" dirty="0"/>
          </a:p>
        </p:txBody>
      </p:sp>
      <p:sp>
        <p:nvSpPr>
          <p:cNvPr id="20" name="Shape 15"/>
          <p:cNvSpPr/>
          <p:nvPr/>
        </p:nvSpPr>
        <p:spPr>
          <a:xfrm>
            <a:off x="7911084" y="4480560"/>
            <a:ext cx="512064" cy="512064"/>
          </a:xfrm>
          <a:prstGeom prst="ellipse">
            <a:avLst/>
          </a:prstGeom>
          <a:solidFill>
            <a:srgbClr val="C00000"/>
          </a:solidFill>
          <a:ln/>
          <a:effectLst>
            <a:outerShdw blurRad="76200" dist="25400" dir="5400000" algn="bl" rotWithShape="0">
              <a:srgbClr val="9B1B1B">
                <a:alpha val="25000"/>
              </a:srgbClr>
            </a:outerShdw>
          </a:effectLst>
        </p:spPr>
        <p:txBody>
          <a:bodyPr/>
          <a:p/>
        </p:txBody>
      </p:sp>
      <p:pic>
        <p:nvPicPr>
          <p:cNvPr id="21" name="Image 3" descr="/home/claude/work/icons/users.png"/>
          <p:cNvPicPr>
            <a:picLocks noChangeAspect="1"/>
          </p:cNvPicPr>
          <p:nvPr/>
        </p:nvPicPr>
        <p:blipFill>
          <a:blip r:embed="rId4"/>
          <a:stretch>
            <a:fillRect/>
          </a:stretch>
        </p:blipFill>
        <p:spPr>
          <a:xfrm>
            <a:off x="8044221" y="4613697"/>
            <a:ext cx="245791" cy="245791"/>
          </a:xfrm>
          <a:prstGeom prst="rect">
            <a:avLst/>
          </a:prstGeom>
        </p:spPr>
      </p:pic>
      <p:sp>
        <p:nvSpPr>
          <p:cNvPr id="22" name="Text 16"/>
          <p:cNvSpPr/>
          <p:nvPr/>
        </p:nvSpPr>
        <p:spPr>
          <a:xfrm>
            <a:off x="7130796" y="5010912"/>
            <a:ext cx="2072640" cy="256032"/>
          </a:xfrm>
          <a:prstGeom prst="rect">
            <a:avLst/>
          </a:prstGeom>
          <a:noFill/>
          <a:ln/>
        </p:spPr>
        <p:txBody>
          <a:bodyPr wrap="square" rtlCol="0" anchor="ctr"/>
          <a:lstStyle/>
          <a:p>
            <a:pPr marL="0" indent="0" algn="ctr">
              <a:buNone/>
            </a:pPr>
            <a:r>
              <a:rPr lang="en-US" sz="1150" b="1" dirty="0">
                <a:solidFill>
                  <a:srgbClr val="2B2B2B"/>
                </a:solidFill>
                <a:latin typeface="Calibri" pitchFamily="34" charset="0"/>
                <a:ea typeface="Calibri" pitchFamily="34" charset="-122"/>
                <a:cs typeface="Calibri" pitchFamily="34" charset="-120"/>
              </a:rPr>
              <a:t>Bharat</a:t>
            </a:r>
            <a:endParaRPr lang="en-US" sz="1150" dirty="0"/>
          </a:p>
        </p:txBody>
      </p:sp>
      <p:sp>
        <p:nvSpPr>
          <p:cNvPr id="23" name="Text 17"/>
          <p:cNvSpPr/>
          <p:nvPr/>
        </p:nvSpPr>
        <p:spPr>
          <a:xfrm>
            <a:off x="7130796" y="5230368"/>
            <a:ext cx="2072640" cy="201168"/>
          </a:xfrm>
          <a:prstGeom prst="rect">
            <a:avLst/>
          </a:prstGeom>
          <a:noFill/>
          <a:ln/>
        </p:spPr>
        <p:txBody>
          <a:bodyPr wrap="square" rtlCol="0" anchor="ctr"/>
          <a:lstStyle/>
          <a:p>
            <a:pPr marL="0" indent="0" algn="ctr">
              <a:buNone/>
            </a:pPr>
            <a:r>
              <a:rPr lang="en-US" sz="950" dirty="0">
                <a:solidFill>
                  <a:srgbClr val="6B6B6B"/>
                </a:solidFill>
                <a:latin typeface="Calibri" pitchFamily="34" charset="0"/>
                <a:ea typeface="Calibri" pitchFamily="34" charset="-122"/>
                <a:cs typeface="Calibri" pitchFamily="34" charset="-120"/>
              </a:rPr>
              <a:t>2420090068</a:t>
            </a:r>
            <a:endParaRPr lang="en-US" sz="950" dirty="0"/>
          </a:p>
        </p:txBody>
      </p:sp>
      <p:sp>
        <p:nvSpPr>
          <p:cNvPr id="24" name="Text 18"/>
          <p:cNvSpPr/>
          <p:nvPr/>
        </p:nvSpPr>
        <p:spPr>
          <a:xfrm>
            <a:off x="0" y="5623560"/>
            <a:ext cx="12188952" cy="320040"/>
          </a:xfrm>
          <a:prstGeom prst="rect">
            <a:avLst/>
          </a:prstGeom>
          <a:noFill/>
          <a:ln/>
        </p:spPr>
        <p:txBody>
          <a:bodyPr wrap="square" rtlCol="0" anchor="ctr"/>
          <a:lstStyle/>
          <a:p>
            <a:r>
              <a:t>Plan • Research • Retrieve • Validate • Synthesize • Report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DF6F3"/>
        </a:solidFill>
        <a:effectLst/>
      </p:bgPr>
    </p:bg>
    <p:spTree>
      <p:nvGrpSpPr>
        <p:cNvPr id="1" name=""/>
        <p:cNvGrpSpPr/>
        <p:nvPr/>
      </p:nvGrpSpPr>
      <p:grpSpPr>
        <a:xfrm>
          <a:off x="0" y="0"/>
          <a:ext cx="0" cy="0"/>
          <a:chOff x="0" y="0"/>
          <a:chExt cx="0" cy="0"/>
        </a:xfrm>
      </p:grpSpPr>
      <p:sp>
        <p:nvSpPr>
          <p:cNvPr id="2" name="Shape 0"/>
          <p:cNvSpPr/>
          <p:nvPr/>
        </p:nvSpPr>
        <p:spPr>
          <a:xfrm>
            <a:off x="0" y="6812280"/>
            <a:ext cx="12188952" cy="45720"/>
          </a:xfrm>
          <a:prstGeom prst="rect">
            <a:avLst/>
          </a:prstGeom>
          <a:solidFill>
            <a:srgbClr val="BA2532"/>
          </a:solidFill>
          <a:ln/>
        </p:spPr>
        <p:txBody>
          <a:bodyPr/>
          <a:p/>
        </p:txBody>
      </p:sp>
      <p:pic>
        <p:nvPicPr>
          <p:cNvPr id="3" name="Image 0" descr="/home/claude/work/unpacked/ppt/media/image1.png"/>
          <p:cNvPicPr>
            <a:picLocks noChangeAspect="1"/>
          </p:cNvPicPr>
          <p:nvPr/>
        </p:nvPicPr>
        <p:blipFill>
          <a:blip r:embed="rId3"/>
          <a:stretch>
            <a:fillRect/>
          </a:stretch>
        </p:blipFill>
        <p:spPr>
          <a:xfrm>
            <a:off x="320040" y="256032"/>
            <a:ext cx="1417320" cy="621792"/>
          </a:xfrm>
          <a:prstGeom prst="rect">
            <a:avLst/>
          </a:prstGeom>
        </p:spPr>
      </p:pic>
      <p:sp>
        <p:nvSpPr>
          <p:cNvPr id="4" name="Shape 1"/>
          <p:cNvSpPr/>
          <p:nvPr/>
        </p:nvSpPr>
        <p:spPr>
          <a:xfrm>
            <a:off x="2880360" y="320040"/>
            <a:ext cx="9006840" cy="566928"/>
          </a:xfrm>
          <a:prstGeom prst="rect">
            <a:avLst/>
          </a:prstGeom>
          <a:solidFill>
            <a:srgbClr val="C00000"/>
          </a:solidFill>
          <a:ln/>
        </p:spPr>
        <p:txBody>
          <a:bodyPr/>
          <a:p/>
        </p:txBody>
      </p:sp>
      <p:sp>
        <p:nvSpPr>
          <p:cNvPr id="5" name="Text 2"/>
          <p:cNvSpPr/>
          <p:nvPr/>
        </p:nvSpPr>
        <p:spPr>
          <a:xfrm>
            <a:off x="2880360" y="320040"/>
            <a:ext cx="9006840" cy="566928"/>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Project Snapshot</a:t>
            </a:r>
            <a:endParaRPr lang="en-US" sz="2000" dirty="0"/>
          </a:p>
        </p:txBody>
      </p:sp>
      <p:sp>
        <p:nvSpPr>
          <p:cNvPr id="6" name="Text 3"/>
          <p:cNvSpPr/>
          <p:nvPr/>
        </p:nvSpPr>
        <p:spPr>
          <a:xfrm>
            <a:off x="320040" y="6473952"/>
            <a:ext cx="9601200" cy="274320"/>
          </a:xfrm>
          <a:prstGeom prst="rect">
            <a:avLst/>
          </a:prstGeom>
          <a:noFill/>
          <a:ln/>
        </p:spPr>
        <p:txBody>
          <a:bodyPr wrap="square" rtlCol="0" anchor="ctr"/>
          <a:lstStyle/>
          <a:p>
            <a:pPr marL="0" indent="0">
              <a:buNone/>
            </a:pPr>
            <a:r>
              <a:rPr lang="en-US" sz="900" dirty="0">
                <a:solidFill>
                  <a:srgbClr val="6B6B6B"/>
                </a:solidFill>
                <a:latin typeface="Calibri" pitchFamily="34" charset="0"/>
                <a:ea typeface="Calibri" pitchFamily="34" charset="-122"/>
                <a:cs typeface="Calibri" pitchFamily="34" charset="-120"/>
              </a:rPr>
              <a:t>AI Multi-Agent Research Assistant  |  Applied Machine Learning for Text Analysis</a:t>
            </a:r>
            <a:endParaRPr lang="en-US" sz="900" dirty="0"/>
          </a:p>
        </p:txBody>
      </p:sp>
      <p:sp>
        <p:nvSpPr>
          <p:cNvPr id="7" name="Text 4"/>
          <p:cNvSpPr/>
          <p:nvPr/>
        </p:nvSpPr>
        <p:spPr>
          <a:xfrm>
            <a:off x="11365992" y="6473952"/>
            <a:ext cx="54864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2</a:t>
            </a:r>
            <a:endParaRPr lang="en-US" sz="900" dirty="0"/>
          </a:p>
        </p:txBody>
      </p:sp>
      <p:sp>
        <p:nvSpPr>
          <p:cNvPr id="8" name="Shape 5"/>
          <p:cNvSpPr/>
          <p:nvPr/>
        </p:nvSpPr>
        <p:spPr>
          <a:xfrm>
            <a:off x="457200" y="1371600"/>
            <a:ext cx="6035040" cy="4892040"/>
          </a:xfrm>
          <a:prstGeom prst="roundRect">
            <a:avLst>
              <a:gd name="adj" fmla="val 1869"/>
            </a:avLst>
          </a:prstGeom>
          <a:solidFill>
            <a:srgbClr val="FFFFFF"/>
          </a:solidFill>
          <a:ln w="12700">
            <a:solidFill>
              <a:srgbClr val="F7E1DE"/>
            </a:solidFill>
            <a:prstDash val="solid"/>
          </a:ln>
          <a:effectLst>
            <a:outerShdw blurRad="101600" dist="25400" dir="5400000" algn="bl" rotWithShape="0">
              <a:srgbClr val="444444">
                <a:alpha val="12000"/>
              </a:srgbClr>
            </a:outerShdw>
          </a:effectLst>
        </p:spPr>
        <p:txBody>
          <a:bodyPr/>
          <a:p/>
        </p:txBody>
      </p:sp>
      <p:sp>
        <p:nvSpPr>
          <p:cNvPr id="9" name="Text 6"/>
          <p:cNvSpPr/>
          <p:nvPr/>
        </p:nvSpPr>
        <p:spPr>
          <a:xfrm>
            <a:off x="777240" y="1600200"/>
            <a:ext cx="5394960" cy="320040"/>
          </a:xfrm>
          <a:prstGeom prst="rect">
            <a:avLst/>
          </a:prstGeom>
          <a:noFill/>
          <a:ln/>
        </p:spPr>
        <p:txBody>
          <a:bodyPr wrap="square" rtlCol="0" anchor="ctr"/>
          <a:lstStyle/>
          <a:p>
            <a:pPr marL="0" indent="0">
              <a:buNone/>
            </a:pPr>
            <a:r>
              <a:rPr lang="en-US" sz="1400" b="1" dirty="0">
                <a:solidFill>
                  <a:srgbClr val="C00000"/>
                </a:solidFill>
                <a:latin typeface="Calibri" pitchFamily="34" charset="0"/>
                <a:ea typeface="Calibri" pitchFamily="34" charset="-122"/>
                <a:cs typeface="Calibri" pitchFamily="34" charset="-120"/>
              </a:rPr>
              <a:t>Role</a:t>
            </a:r>
            <a:endParaRPr lang="en-US" sz="1400" dirty="0"/>
          </a:p>
        </p:txBody>
      </p:sp>
      <p:sp>
        <p:nvSpPr>
          <p:cNvPr id="10" name="Text 7"/>
          <p:cNvSpPr/>
          <p:nvPr/>
        </p:nvSpPr>
        <p:spPr>
          <a:xfrm>
            <a:off x="777240" y="1901952"/>
            <a:ext cx="5394960" cy="365760"/>
          </a:xfrm>
          <a:prstGeom prst="rect">
            <a:avLst/>
          </a:prstGeom>
          <a:noFill/>
          <a:ln/>
        </p:spPr>
        <p:txBody>
          <a:bodyPr wrap="square" rtlCol="0" anchor="ctr"/>
          <a:lstStyle/>
          <a:p>
            <a:pPr marL="0" indent="0">
              <a:buNone/>
            </a:pPr>
            <a:r>
              <a:rPr lang="en-US" sz="1600" b="1" dirty="0">
                <a:solidFill>
                  <a:srgbClr val="2B2B2B"/>
                </a:solidFill>
                <a:latin typeface="Calibri" pitchFamily="34" charset="0"/>
                <a:ea typeface="Calibri" pitchFamily="34" charset="-122"/>
                <a:cs typeface="Calibri" pitchFamily="34" charset="-120"/>
              </a:rPr>
              <a:t>AI Systems Developer (Multi-Agent Architecture)</a:t>
            </a:r>
            <a:endParaRPr lang="en-US" sz="1600" dirty="0"/>
          </a:p>
        </p:txBody>
      </p:sp>
      <p:sp>
        <p:nvSpPr>
          <p:cNvPr id="11" name="Text 8"/>
          <p:cNvSpPr/>
          <p:nvPr/>
        </p:nvSpPr>
        <p:spPr>
          <a:xfrm>
            <a:off x="777240" y="2423160"/>
            <a:ext cx="5394960" cy="320040"/>
          </a:xfrm>
          <a:prstGeom prst="rect">
            <a:avLst/>
          </a:prstGeom>
          <a:noFill/>
          <a:ln/>
        </p:spPr>
        <p:txBody>
          <a:bodyPr wrap="square" rtlCol="0" anchor="ctr"/>
          <a:lstStyle/>
          <a:p>
            <a:pPr marL="0" indent="0">
              <a:buNone/>
            </a:pPr>
            <a:r>
              <a:rPr lang="en-US" sz="1400" b="1" dirty="0">
                <a:solidFill>
                  <a:srgbClr val="C00000"/>
                </a:solidFill>
                <a:latin typeface="Calibri" pitchFamily="34" charset="0"/>
                <a:ea typeface="Calibri" pitchFamily="34" charset="-122"/>
                <a:cs typeface="Calibri" pitchFamily="34" charset="-120"/>
              </a:rPr>
              <a:t>Description</a:t>
            </a:r>
            <a:endParaRPr lang="en-US" sz="1400" dirty="0"/>
          </a:p>
        </p:txBody>
      </p:sp>
      <p:sp>
        <p:nvSpPr>
          <p:cNvPr id="12" name="Text 9"/>
          <p:cNvSpPr/>
          <p:nvPr/>
        </p:nvSpPr>
        <p:spPr>
          <a:xfrm>
            <a:off x="777240" y="2743200"/>
            <a:ext cx="5394960" cy="3291840"/>
          </a:xfrm>
          <a:prstGeom prst="rect">
            <a:avLst/>
          </a:prstGeom>
          <a:noFill/>
          <a:ln/>
        </p:spPr>
        <p:txBody>
          <a:bodyPr wrap="square" rtlCol="0" anchor="ctr"/>
          <a:lstStyle/>
          <a:p>
            <a:pPr marL="342900" indent="-342900">
              <a:lnSpc>
                <a:spcPct val="108000"/>
              </a:lnSpc>
              <a:spcAft>
                <a:spcPts val="1200"/>
              </a:spcAft>
              <a:buSzPct val="100000"/>
              <a:buChar char="●"/>
            </a:pPr>
            <a:r>
              <a:rPr lang="en-US" sz="1250" dirty="0">
                <a:solidFill>
                  <a:srgbClr val="2B2B2B"/>
                </a:solidFill>
                <a:latin typeface="Calibri" pitchFamily="34" charset="0"/>
                <a:ea typeface="Calibri" pitchFamily="34" charset="-122"/>
                <a:cs typeface="Calibri" pitchFamily="34" charset="-120"/>
              </a:rPr>
              <a:t>Designed and implemented a hierarchical multi-agent research system that decomposes complex queries into structured sub-tasks using LLM-based planning.</a:t>
            </a:r>
            <a:endParaRPr lang="en-US" sz="1250" dirty="0"/>
          </a:p>
          <a:p>
            <a:pPr marL="342900" indent="-342900">
              <a:lnSpc>
                <a:spcPct val="108000"/>
              </a:lnSpc>
              <a:spcAft>
                <a:spcPts val="1200"/>
              </a:spcAft>
              <a:buSzPct val="100000"/>
              <a:buChar char="●"/>
            </a:pPr>
            <a:r>
              <a:rPr lang="en-US" sz="1250" dirty="0">
                <a:solidFill>
                  <a:srgbClr val="2B2B2B"/>
                </a:solidFill>
                <a:latin typeface="Calibri" pitchFamily="34" charset="0"/>
                <a:ea typeface="Calibri" pitchFamily="34" charset="-122"/>
                <a:cs typeface="Calibri" pitchFamily="34" charset="-120"/>
              </a:rPr>
              <a:t>Integrated hybrid RAG (vector search + keyword retrieval) to fetch verified sources, extract statistical insights, and minimize hallucinations through cross-agent validation.</a:t>
            </a:r>
            <a:endParaRPr lang="en-US" sz="1250" dirty="0"/>
          </a:p>
          <a:p>
            <a:pPr marL="342900" indent="-342900">
              <a:lnSpc>
                <a:spcPct val="108000"/>
              </a:lnSpc>
              <a:spcAft>
                <a:spcPts val="1200"/>
              </a:spcAft>
              <a:buSzPct val="100000"/>
              <a:buChar char="●"/>
            </a:pPr>
            <a:r>
              <a:rPr lang="en-US" sz="1250" dirty="0">
                <a:solidFill>
                  <a:srgbClr val="2B2B2B"/>
                </a:solidFill>
                <a:latin typeface="Calibri" pitchFamily="34" charset="0"/>
                <a:ea typeface="Calibri" pitchFamily="34" charset="-122"/>
                <a:cs typeface="Calibri" pitchFamily="34" charset="-120"/>
              </a:rPr>
              <a:t>Developed automated structured report generation with source citations and confidence scoring, following scalable production-ready architecture principles.</a:t>
            </a:r>
            <a:endParaRPr lang="en-US" sz="1250" dirty="0"/>
          </a:p>
        </p:txBody>
      </p:sp>
      <p:sp>
        <p:nvSpPr>
          <p:cNvPr id="13" name="Text 10"/>
          <p:cNvSpPr/>
          <p:nvPr/>
        </p:nvSpPr>
        <p:spPr>
          <a:xfrm>
            <a:off x="6720840" y="1371600"/>
            <a:ext cx="5029200" cy="320040"/>
          </a:xfrm>
          <a:prstGeom prst="rect">
            <a:avLst/>
          </a:prstGeom>
          <a:noFill/>
          <a:ln/>
        </p:spPr>
        <p:txBody>
          <a:bodyPr wrap="square" rtlCol="0" anchor="ctr"/>
          <a:lstStyle/>
          <a:p>
            <a:pPr marL="0" indent="0">
              <a:buNone/>
            </a:pPr>
            <a:r>
              <a:rPr lang="en-US" sz="1400" b="1" dirty="0">
                <a:solidFill>
                  <a:srgbClr val="C00000"/>
                </a:solidFill>
                <a:latin typeface="Calibri" pitchFamily="34" charset="0"/>
                <a:ea typeface="Calibri" pitchFamily="34" charset="-122"/>
                <a:cs typeface="Calibri" pitchFamily="34" charset="-120"/>
              </a:rPr>
              <a:t>Tools &amp; Technologies</a:t>
            </a:r>
            <a:endParaRPr lang="en-US" sz="1400" dirty="0"/>
          </a:p>
        </p:txBody>
      </p:sp>
      <p:sp>
        <p:nvSpPr>
          <p:cNvPr id="14" name="Shape 11"/>
          <p:cNvSpPr/>
          <p:nvPr/>
        </p:nvSpPr>
        <p:spPr>
          <a:xfrm>
            <a:off x="6720840" y="1691640"/>
            <a:ext cx="2450592" cy="932688"/>
          </a:xfrm>
          <a:prstGeom prst="roundRect">
            <a:avLst>
              <a:gd name="adj" fmla="val 8824"/>
            </a:avLst>
          </a:prstGeom>
          <a:solidFill>
            <a:srgbClr val="FFFFFF"/>
          </a:solidFill>
          <a:ln w="12700">
            <a:solidFill>
              <a:srgbClr val="F7E1DE"/>
            </a:solidFill>
            <a:prstDash val="solid"/>
          </a:ln>
          <a:effectLst>
            <a:outerShdw blurRad="76200" dist="25400" dir="5400000" algn="bl" rotWithShape="0">
              <a:srgbClr val="444444">
                <a:alpha val="10000"/>
              </a:srgbClr>
            </a:outerShdw>
          </a:effectLst>
        </p:spPr>
        <p:txBody>
          <a:bodyPr/>
          <a:p/>
        </p:txBody>
      </p:sp>
      <p:sp>
        <p:nvSpPr>
          <p:cNvPr id="15" name="Shape 12"/>
          <p:cNvSpPr/>
          <p:nvPr/>
        </p:nvSpPr>
        <p:spPr>
          <a:xfrm>
            <a:off x="6848856" y="1911096"/>
            <a:ext cx="493776" cy="493776"/>
          </a:xfrm>
          <a:prstGeom prst="ellipse">
            <a:avLst/>
          </a:prstGeom>
          <a:solidFill>
            <a:srgbClr val="C00000"/>
          </a:solidFill>
          <a:ln/>
          <a:effectLst>
            <a:outerShdw blurRad="76200" dist="25400" dir="5400000" algn="bl" rotWithShape="0">
              <a:srgbClr val="9B1B1B">
                <a:alpha val="25000"/>
              </a:srgbClr>
            </a:outerShdw>
          </a:effectLst>
        </p:spPr>
        <p:txBody>
          <a:bodyPr/>
          <a:p/>
        </p:txBody>
      </p:sp>
      <p:pic>
        <p:nvPicPr>
          <p:cNvPr id="16" name="Image 1" descr="/home/claude/work/icons/python_w.png"/>
          <p:cNvPicPr>
            <a:picLocks noChangeAspect="1"/>
          </p:cNvPicPr>
          <p:nvPr/>
        </p:nvPicPr>
        <p:blipFill>
          <a:blip r:embed="rId4"/>
          <a:stretch>
            <a:fillRect/>
          </a:stretch>
        </p:blipFill>
        <p:spPr>
          <a:xfrm>
            <a:off x="6977238" y="2039478"/>
            <a:ext cx="237012" cy="237012"/>
          </a:xfrm>
          <a:prstGeom prst="rect">
            <a:avLst/>
          </a:prstGeom>
        </p:spPr>
      </p:pic>
      <p:sp>
        <p:nvSpPr>
          <p:cNvPr id="17" name="Text 13"/>
          <p:cNvSpPr/>
          <p:nvPr/>
        </p:nvSpPr>
        <p:spPr>
          <a:xfrm>
            <a:off x="7434072" y="1691640"/>
            <a:ext cx="1609344" cy="932688"/>
          </a:xfrm>
          <a:prstGeom prst="rect">
            <a:avLst/>
          </a:prstGeom>
          <a:noFill/>
          <a:ln/>
        </p:spPr>
        <p:txBody>
          <a:bodyPr wrap="square" rtlCol="0" anchor="ctr"/>
          <a:lstStyle/>
          <a:p>
            <a:pPr marL="0" indent="0" algn="l">
              <a:buNone/>
            </a:pPr>
            <a:r>
              <a:rPr lang="en-US" sz="1100" b="1" dirty="0">
                <a:solidFill>
                  <a:srgbClr val="2B2B2B"/>
                </a:solidFill>
                <a:latin typeface="Calibri" pitchFamily="34" charset="0"/>
                <a:ea typeface="Calibri" pitchFamily="34" charset="-122"/>
                <a:cs typeface="Calibri" pitchFamily="34" charset="-120"/>
              </a:rPr>
              <a:t>Python</a:t>
            </a:r>
            <a:endParaRPr lang="en-US" sz="1100" dirty="0"/>
          </a:p>
        </p:txBody>
      </p:sp>
      <p:sp>
        <p:nvSpPr>
          <p:cNvPr id="18" name="Shape 14"/>
          <p:cNvSpPr/>
          <p:nvPr/>
        </p:nvSpPr>
        <p:spPr>
          <a:xfrm>
            <a:off x="9299448" y="1691640"/>
            <a:ext cx="2450592" cy="932688"/>
          </a:xfrm>
          <a:prstGeom prst="roundRect">
            <a:avLst>
              <a:gd name="adj" fmla="val 8824"/>
            </a:avLst>
          </a:prstGeom>
          <a:solidFill>
            <a:srgbClr val="FFFFFF"/>
          </a:solidFill>
          <a:ln w="12700">
            <a:solidFill>
              <a:srgbClr val="F7E1DE"/>
            </a:solidFill>
            <a:prstDash val="solid"/>
          </a:ln>
          <a:effectLst>
            <a:outerShdw blurRad="76200" dist="25400" dir="5400000" algn="bl" rotWithShape="0">
              <a:srgbClr val="444444">
                <a:alpha val="10000"/>
              </a:srgbClr>
            </a:outerShdw>
          </a:effectLst>
        </p:spPr>
        <p:txBody>
          <a:bodyPr/>
          <a:p/>
        </p:txBody>
      </p:sp>
      <p:sp>
        <p:nvSpPr>
          <p:cNvPr id="19" name="Shape 15"/>
          <p:cNvSpPr/>
          <p:nvPr/>
        </p:nvSpPr>
        <p:spPr>
          <a:xfrm>
            <a:off x="9427464" y="1911096"/>
            <a:ext cx="493776" cy="493776"/>
          </a:xfrm>
          <a:prstGeom prst="ellipse">
            <a:avLst/>
          </a:prstGeom>
          <a:solidFill>
            <a:srgbClr val="C00000"/>
          </a:solidFill>
          <a:ln/>
          <a:effectLst>
            <a:outerShdw blurRad="76200" dist="25400" dir="5400000" algn="bl" rotWithShape="0">
              <a:srgbClr val="9B1B1B">
                <a:alpha val="25000"/>
              </a:srgbClr>
            </a:outerShdw>
          </a:effectLst>
        </p:spPr>
        <p:txBody>
          <a:bodyPr/>
          <a:p/>
        </p:txBody>
      </p:sp>
      <p:pic>
        <p:nvPicPr>
          <p:cNvPr id="20" name="Image 2" descr="/home/claude/work/icons/fastapi_w.png"/>
          <p:cNvPicPr>
            <a:picLocks noChangeAspect="1"/>
          </p:cNvPicPr>
          <p:nvPr/>
        </p:nvPicPr>
        <p:blipFill>
          <a:blip r:embed="rId5"/>
          <a:stretch>
            <a:fillRect/>
          </a:stretch>
        </p:blipFill>
        <p:spPr>
          <a:xfrm>
            <a:off x="9555846" y="2039478"/>
            <a:ext cx="237012" cy="237012"/>
          </a:xfrm>
          <a:prstGeom prst="rect">
            <a:avLst/>
          </a:prstGeom>
        </p:spPr>
      </p:pic>
      <p:sp>
        <p:nvSpPr>
          <p:cNvPr id="21" name="Text 16"/>
          <p:cNvSpPr/>
          <p:nvPr/>
        </p:nvSpPr>
        <p:spPr>
          <a:xfrm>
            <a:off x="10012680" y="1691640"/>
            <a:ext cx="1609344" cy="932688"/>
          </a:xfrm>
          <a:prstGeom prst="rect">
            <a:avLst/>
          </a:prstGeom>
          <a:noFill/>
          <a:ln/>
        </p:spPr>
        <p:txBody>
          <a:bodyPr wrap="square" rtlCol="0" anchor="ctr"/>
          <a:lstStyle/>
          <a:p>
            <a:pPr marL="0" indent="0" algn="l">
              <a:buNone/>
            </a:pPr>
            <a:r>
              <a:rPr lang="en-US" sz="1100" b="1" dirty="0">
                <a:solidFill>
                  <a:srgbClr val="2B2B2B"/>
                </a:solidFill>
                <a:latin typeface="Calibri" pitchFamily="34" charset="0"/>
                <a:ea typeface="Calibri" pitchFamily="34" charset="-122"/>
                <a:cs typeface="Calibri" pitchFamily="34" charset="-120"/>
              </a:rPr>
              <a:t>FastAPI</a:t>
            </a:r>
            <a:endParaRPr lang="en-US" sz="1100" dirty="0"/>
          </a:p>
        </p:txBody>
      </p:sp>
      <p:sp>
        <p:nvSpPr>
          <p:cNvPr id="22" name="Shape 17"/>
          <p:cNvSpPr/>
          <p:nvPr/>
        </p:nvSpPr>
        <p:spPr>
          <a:xfrm>
            <a:off x="6720840" y="2734056"/>
            <a:ext cx="2450592" cy="932688"/>
          </a:xfrm>
          <a:prstGeom prst="roundRect">
            <a:avLst>
              <a:gd name="adj" fmla="val 8824"/>
            </a:avLst>
          </a:prstGeom>
          <a:solidFill>
            <a:srgbClr val="FFFFFF"/>
          </a:solidFill>
          <a:ln w="12700">
            <a:solidFill>
              <a:srgbClr val="F7E1DE"/>
            </a:solidFill>
            <a:prstDash val="solid"/>
          </a:ln>
          <a:effectLst>
            <a:outerShdw blurRad="76200" dist="25400" dir="5400000" algn="bl" rotWithShape="0">
              <a:srgbClr val="444444">
                <a:alpha val="10000"/>
              </a:srgbClr>
            </a:outerShdw>
          </a:effectLst>
        </p:spPr>
        <p:txBody>
          <a:bodyPr/>
          <a:p/>
        </p:txBody>
      </p:sp>
      <p:sp>
        <p:nvSpPr>
          <p:cNvPr id="23" name="Shape 18"/>
          <p:cNvSpPr/>
          <p:nvPr/>
        </p:nvSpPr>
        <p:spPr>
          <a:xfrm>
            <a:off x="6848856" y="2953512"/>
            <a:ext cx="493776" cy="493776"/>
          </a:xfrm>
          <a:prstGeom prst="ellipse">
            <a:avLst/>
          </a:prstGeom>
          <a:solidFill>
            <a:srgbClr val="C00000"/>
          </a:solidFill>
          <a:ln/>
          <a:effectLst>
            <a:outerShdw blurRad="76200" dist="25400" dir="5400000" algn="bl" rotWithShape="0">
              <a:srgbClr val="9B1B1B">
                <a:alpha val="25000"/>
              </a:srgbClr>
            </a:outerShdw>
          </a:effectLst>
        </p:spPr>
        <p:txBody>
          <a:bodyPr/>
          <a:p/>
        </p:txBody>
      </p:sp>
      <p:pic>
        <p:nvPicPr>
          <p:cNvPr id="24" name="Image 3" descr="/home/claude/work/icons/sitemap.png"/>
          <p:cNvPicPr>
            <a:picLocks noChangeAspect="1"/>
          </p:cNvPicPr>
          <p:nvPr/>
        </p:nvPicPr>
        <p:blipFill>
          <a:blip r:embed="rId6"/>
          <a:stretch>
            <a:fillRect/>
          </a:stretch>
        </p:blipFill>
        <p:spPr>
          <a:xfrm>
            <a:off x="6977238" y="3081894"/>
            <a:ext cx="237012" cy="237012"/>
          </a:xfrm>
          <a:prstGeom prst="rect">
            <a:avLst/>
          </a:prstGeom>
        </p:spPr>
      </p:pic>
      <p:sp>
        <p:nvSpPr>
          <p:cNvPr id="25" name="Text 19"/>
          <p:cNvSpPr/>
          <p:nvPr/>
        </p:nvSpPr>
        <p:spPr>
          <a:xfrm>
            <a:off x="7434072" y="2734056"/>
            <a:ext cx="1609344" cy="932688"/>
          </a:xfrm>
          <a:prstGeom prst="rect">
            <a:avLst/>
          </a:prstGeom>
          <a:noFill/>
          <a:ln/>
        </p:spPr>
        <p:txBody>
          <a:bodyPr wrap="square" rtlCol="0" anchor="ctr"/>
          <a:lstStyle/>
          <a:p>
            <a:pPr marL="0" indent="0" algn="l">
              <a:buNone/>
            </a:pPr>
            <a:r>
              <a:rPr lang="en-US" sz="1100" b="1" dirty="0">
                <a:solidFill>
                  <a:srgbClr val="2B2B2B"/>
                </a:solidFill>
                <a:latin typeface="Calibri" pitchFamily="34" charset="0"/>
                <a:ea typeface="Calibri" pitchFamily="34" charset="-122"/>
                <a:cs typeface="Calibri" pitchFamily="34" charset="-120"/>
              </a:rPr>
              <a:t>LangGraph</a:t>
            </a:r>
            <a:endParaRPr lang="en-US" sz="1100" dirty="0"/>
          </a:p>
        </p:txBody>
      </p:sp>
      <p:sp>
        <p:nvSpPr>
          <p:cNvPr id="26" name="Shape 20"/>
          <p:cNvSpPr/>
          <p:nvPr/>
        </p:nvSpPr>
        <p:spPr>
          <a:xfrm>
            <a:off x="9299448" y="2734056"/>
            <a:ext cx="2450592" cy="932688"/>
          </a:xfrm>
          <a:prstGeom prst="roundRect">
            <a:avLst>
              <a:gd name="adj" fmla="val 8824"/>
            </a:avLst>
          </a:prstGeom>
          <a:solidFill>
            <a:srgbClr val="FFFFFF"/>
          </a:solidFill>
          <a:ln w="12700">
            <a:solidFill>
              <a:srgbClr val="F7E1DE"/>
            </a:solidFill>
            <a:prstDash val="solid"/>
          </a:ln>
          <a:effectLst>
            <a:outerShdw blurRad="76200" dist="25400" dir="5400000" algn="bl" rotWithShape="0">
              <a:srgbClr val="444444">
                <a:alpha val="10000"/>
              </a:srgbClr>
            </a:outerShdw>
          </a:effectLst>
        </p:spPr>
        <p:txBody>
          <a:bodyPr/>
          <a:p/>
        </p:txBody>
      </p:sp>
      <p:sp>
        <p:nvSpPr>
          <p:cNvPr id="27" name="Shape 21"/>
          <p:cNvSpPr/>
          <p:nvPr/>
        </p:nvSpPr>
        <p:spPr>
          <a:xfrm>
            <a:off x="9427464" y="2953512"/>
            <a:ext cx="493776" cy="493776"/>
          </a:xfrm>
          <a:prstGeom prst="ellipse">
            <a:avLst/>
          </a:prstGeom>
          <a:solidFill>
            <a:srgbClr val="C00000"/>
          </a:solidFill>
          <a:ln/>
          <a:effectLst>
            <a:outerShdw blurRad="76200" dist="25400" dir="5400000" algn="bl" rotWithShape="0">
              <a:srgbClr val="9B1B1B">
                <a:alpha val="25000"/>
              </a:srgbClr>
            </a:outerShdw>
          </a:effectLst>
        </p:spPr>
        <p:txBody>
          <a:bodyPr/>
          <a:p/>
        </p:txBody>
      </p:sp>
      <p:pic>
        <p:nvPicPr>
          <p:cNvPr id="28" name="Image 4" descr="/home/claude/work/icons/database.png"/>
          <p:cNvPicPr>
            <a:picLocks noChangeAspect="1"/>
          </p:cNvPicPr>
          <p:nvPr/>
        </p:nvPicPr>
        <p:blipFill>
          <a:blip r:embed="rId7"/>
          <a:stretch>
            <a:fillRect/>
          </a:stretch>
        </p:blipFill>
        <p:spPr>
          <a:xfrm>
            <a:off x="9555846" y="3081894"/>
            <a:ext cx="237012" cy="237012"/>
          </a:xfrm>
          <a:prstGeom prst="rect">
            <a:avLst/>
          </a:prstGeom>
        </p:spPr>
      </p:pic>
      <p:sp>
        <p:nvSpPr>
          <p:cNvPr id="29" name="Text 22"/>
          <p:cNvSpPr/>
          <p:nvPr/>
        </p:nvSpPr>
        <p:spPr>
          <a:xfrm>
            <a:off x="10012680" y="2734056"/>
            <a:ext cx="1609344" cy="932688"/>
          </a:xfrm>
          <a:prstGeom prst="rect">
            <a:avLst/>
          </a:prstGeom>
          <a:noFill/>
          <a:ln/>
        </p:spPr>
        <p:txBody>
          <a:bodyPr wrap="square" rtlCol="0" anchor="ctr"/>
          <a:lstStyle/>
          <a:p>
            <a:pPr marL="0" indent="0" algn="l">
              <a:buNone/>
            </a:pPr>
            <a:r>
              <a:rPr lang="en-US" sz="1100" b="1" dirty="0">
                <a:solidFill>
                  <a:srgbClr val="2B2B2B"/>
                </a:solidFill>
                <a:latin typeface="Calibri" pitchFamily="34" charset="0"/>
                <a:ea typeface="Calibri" pitchFamily="34" charset="-122"/>
                <a:cs typeface="Calibri" pitchFamily="34" charset="-120"/>
              </a:rPr>
              <a:t>FAISS</a:t>
            </a:r>
            <a:endParaRPr lang="en-US" sz="1100" dirty="0"/>
          </a:p>
        </p:txBody>
      </p:sp>
      <p:sp>
        <p:nvSpPr>
          <p:cNvPr id="30" name="Shape 23"/>
          <p:cNvSpPr/>
          <p:nvPr/>
        </p:nvSpPr>
        <p:spPr>
          <a:xfrm>
            <a:off x="6720840" y="3776472"/>
            <a:ext cx="2450592" cy="932688"/>
          </a:xfrm>
          <a:prstGeom prst="roundRect">
            <a:avLst>
              <a:gd name="adj" fmla="val 8824"/>
            </a:avLst>
          </a:prstGeom>
          <a:solidFill>
            <a:srgbClr val="FFFFFF"/>
          </a:solidFill>
          <a:ln w="12700">
            <a:solidFill>
              <a:srgbClr val="F7E1DE"/>
            </a:solidFill>
            <a:prstDash val="solid"/>
          </a:ln>
          <a:effectLst>
            <a:outerShdw blurRad="76200" dist="25400" dir="5400000" algn="bl" rotWithShape="0">
              <a:srgbClr val="444444">
                <a:alpha val="10000"/>
              </a:srgbClr>
            </a:outerShdw>
          </a:effectLst>
        </p:spPr>
        <p:txBody>
          <a:bodyPr/>
          <a:p/>
        </p:txBody>
      </p:sp>
      <p:sp>
        <p:nvSpPr>
          <p:cNvPr id="31" name="Shape 24"/>
          <p:cNvSpPr/>
          <p:nvPr/>
        </p:nvSpPr>
        <p:spPr>
          <a:xfrm>
            <a:off x="6848856" y="3995928"/>
            <a:ext cx="493776" cy="493776"/>
          </a:xfrm>
          <a:prstGeom prst="ellipse">
            <a:avLst/>
          </a:prstGeom>
          <a:solidFill>
            <a:srgbClr val="C00000"/>
          </a:solidFill>
          <a:ln/>
          <a:effectLst>
            <a:outerShdw blurRad="76200" dist="25400" dir="5400000" algn="bl" rotWithShape="0">
              <a:srgbClr val="9B1B1B">
                <a:alpha val="25000"/>
              </a:srgbClr>
            </a:outerShdw>
          </a:effectLst>
        </p:spPr>
        <p:txBody>
          <a:bodyPr/>
          <a:p/>
        </p:txBody>
      </p:sp>
      <p:pic>
        <p:nvPicPr>
          <p:cNvPr id="32" name="Image 5" descr="/home/claude/work/icons/brain.png"/>
          <p:cNvPicPr>
            <a:picLocks noChangeAspect="1"/>
          </p:cNvPicPr>
          <p:nvPr/>
        </p:nvPicPr>
        <p:blipFill>
          <a:blip r:embed="rId8"/>
          <a:stretch>
            <a:fillRect/>
          </a:stretch>
        </p:blipFill>
        <p:spPr>
          <a:xfrm>
            <a:off x="6977238" y="4124310"/>
            <a:ext cx="237012" cy="237012"/>
          </a:xfrm>
          <a:prstGeom prst="rect">
            <a:avLst/>
          </a:prstGeom>
        </p:spPr>
      </p:pic>
      <p:sp>
        <p:nvSpPr>
          <p:cNvPr id="33" name="Text 25"/>
          <p:cNvSpPr/>
          <p:nvPr/>
        </p:nvSpPr>
        <p:spPr>
          <a:xfrm>
            <a:off x="7434072" y="3776472"/>
            <a:ext cx="1609344" cy="932688"/>
          </a:xfrm>
          <a:prstGeom prst="rect">
            <a:avLst/>
          </a:prstGeom>
          <a:noFill/>
          <a:ln/>
        </p:spPr>
        <p:txBody>
          <a:bodyPr wrap="square" rtlCol="0" anchor="ctr"/>
          <a:lstStyle/>
          <a:p>
            <a:pPr marL="0" indent="0" algn="l">
              <a:buNone/>
            </a:pPr>
            <a:r>
              <a:rPr lang="en-US" sz="1100" b="1" dirty="0">
                <a:solidFill>
                  <a:srgbClr val="2B2B2B"/>
                </a:solidFill>
                <a:latin typeface="Calibri" pitchFamily="34" charset="0"/>
                <a:ea typeface="Calibri" pitchFamily="34" charset="-122"/>
                <a:cs typeface="Calibri" pitchFamily="34" charset="-120"/>
              </a:rPr>
              <a:t>LLM APIs (GPT / Llama)</a:t>
            </a:r>
            <a:endParaRPr lang="en-US" sz="1100" dirty="0"/>
          </a:p>
        </p:txBody>
      </p:sp>
      <p:sp>
        <p:nvSpPr>
          <p:cNvPr id="34" name="Shape 26"/>
          <p:cNvSpPr/>
          <p:nvPr/>
        </p:nvSpPr>
        <p:spPr>
          <a:xfrm>
            <a:off x="9299448" y="3776472"/>
            <a:ext cx="2450592" cy="932688"/>
          </a:xfrm>
          <a:prstGeom prst="roundRect">
            <a:avLst>
              <a:gd name="adj" fmla="val 8824"/>
            </a:avLst>
          </a:prstGeom>
          <a:solidFill>
            <a:srgbClr val="FFFFFF"/>
          </a:solidFill>
          <a:ln w="12700">
            <a:solidFill>
              <a:srgbClr val="F7E1DE"/>
            </a:solidFill>
            <a:prstDash val="solid"/>
          </a:ln>
          <a:effectLst>
            <a:outerShdw blurRad="76200" dist="25400" dir="5400000" algn="bl" rotWithShape="0">
              <a:srgbClr val="444444">
                <a:alpha val="10000"/>
              </a:srgbClr>
            </a:outerShdw>
          </a:effectLst>
        </p:spPr>
        <p:txBody>
          <a:bodyPr/>
          <a:p/>
        </p:txBody>
      </p:sp>
      <p:sp>
        <p:nvSpPr>
          <p:cNvPr id="35" name="Shape 27"/>
          <p:cNvSpPr/>
          <p:nvPr/>
        </p:nvSpPr>
        <p:spPr>
          <a:xfrm>
            <a:off x="9427464" y="3995928"/>
            <a:ext cx="493776" cy="493776"/>
          </a:xfrm>
          <a:prstGeom prst="ellipse">
            <a:avLst/>
          </a:prstGeom>
          <a:solidFill>
            <a:srgbClr val="C00000"/>
          </a:solidFill>
          <a:ln/>
          <a:effectLst>
            <a:outerShdw blurRad="76200" dist="25400" dir="5400000" algn="bl" rotWithShape="0">
              <a:srgbClr val="9B1B1B">
                <a:alpha val="25000"/>
              </a:srgbClr>
            </a:outerShdw>
          </a:effectLst>
        </p:spPr>
        <p:txBody>
          <a:bodyPr/>
          <a:p/>
        </p:txBody>
      </p:sp>
      <p:pic>
        <p:nvPicPr>
          <p:cNvPr id="36" name="Image 6" descr="/home/claude/work/icons/search.png"/>
          <p:cNvPicPr>
            <a:picLocks noChangeAspect="1"/>
          </p:cNvPicPr>
          <p:nvPr/>
        </p:nvPicPr>
        <p:blipFill>
          <a:blip r:embed="rId9"/>
          <a:stretch>
            <a:fillRect/>
          </a:stretch>
        </p:blipFill>
        <p:spPr>
          <a:xfrm>
            <a:off x="9555846" y="4124310"/>
            <a:ext cx="237012" cy="237012"/>
          </a:xfrm>
          <a:prstGeom prst="rect">
            <a:avLst/>
          </a:prstGeom>
        </p:spPr>
      </p:pic>
      <p:sp>
        <p:nvSpPr>
          <p:cNvPr id="37" name="Text 28"/>
          <p:cNvSpPr/>
          <p:nvPr/>
        </p:nvSpPr>
        <p:spPr>
          <a:xfrm>
            <a:off x="10012680" y="3776472"/>
            <a:ext cx="1609344" cy="932688"/>
          </a:xfrm>
          <a:prstGeom prst="rect">
            <a:avLst/>
          </a:prstGeom>
          <a:noFill/>
          <a:ln/>
        </p:spPr>
        <p:txBody>
          <a:bodyPr wrap="square" rtlCol="0" anchor="ctr"/>
          <a:lstStyle/>
          <a:p>
            <a:pPr marL="0" indent="0" algn="l">
              <a:buNone/>
            </a:pPr>
            <a:r>
              <a:rPr lang="en-US" sz="1100" b="1" dirty="0">
                <a:solidFill>
                  <a:srgbClr val="2B2B2B"/>
                </a:solidFill>
                <a:latin typeface="Calibri" pitchFamily="34" charset="0"/>
                <a:ea typeface="Calibri" pitchFamily="34" charset="-122"/>
                <a:cs typeface="Calibri" pitchFamily="34" charset="-120"/>
              </a:rPr>
              <a:t>SerpAPI</a:t>
            </a:r>
            <a:endParaRPr lang="en-US" sz="1100" dirty="0"/>
          </a:p>
        </p:txBody>
      </p:sp>
      <p:sp>
        <p:nvSpPr>
          <p:cNvPr id="38" name="Shape 29"/>
          <p:cNvSpPr/>
          <p:nvPr/>
        </p:nvSpPr>
        <p:spPr>
          <a:xfrm>
            <a:off x="6720840" y="4818888"/>
            <a:ext cx="2450592" cy="932688"/>
          </a:xfrm>
          <a:prstGeom prst="roundRect">
            <a:avLst>
              <a:gd name="adj" fmla="val 8824"/>
            </a:avLst>
          </a:prstGeom>
          <a:solidFill>
            <a:srgbClr val="FFFFFF"/>
          </a:solidFill>
          <a:ln w="12700">
            <a:solidFill>
              <a:srgbClr val="F7E1DE"/>
            </a:solidFill>
            <a:prstDash val="solid"/>
          </a:ln>
          <a:effectLst>
            <a:outerShdw blurRad="76200" dist="25400" dir="5400000" algn="bl" rotWithShape="0">
              <a:srgbClr val="444444">
                <a:alpha val="10000"/>
              </a:srgbClr>
            </a:outerShdw>
          </a:effectLst>
        </p:spPr>
        <p:txBody>
          <a:bodyPr/>
          <a:p/>
        </p:txBody>
      </p:sp>
      <p:sp>
        <p:nvSpPr>
          <p:cNvPr id="39" name="Shape 30"/>
          <p:cNvSpPr/>
          <p:nvPr/>
        </p:nvSpPr>
        <p:spPr>
          <a:xfrm>
            <a:off x="6848856" y="5038344"/>
            <a:ext cx="493776" cy="493776"/>
          </a:xfrm>
          <a:prstGeom prst="ellipse">
            <a:avLst/>
          </a:prstGeom>
          <a:solidFill>
            <a:srgbClr val="C00000"/>
          </a:solidFill>
          <a:ln/>
          <a:effectLst>
            <a:outerShdw blurRad="76200" dist="25400" dir="5400000" algn="bl" rotWithShape="0">
              <a:srgbClr val="9B1B1B">
                <a:alpha val="25000"/>
              </a:srgbClr>
            </a:outerShdw>
          </a:effectLst>
        </p:spPr>
        <p:txBody>
          <a:bodyPr/>
          <a:p/>
        </p:txBody>
      </p:sp>
      <p:pic>
        <p:nvPicPr>
          <p:cNvPr id="40" name="Image 7" descr="/home/claude/work/icons/report.png"/>
          <p:cNvPicPr>
            <a:picLocks noChangeAspect="1"/>
          </p:cNvPicPr>
          <p:nvPr/>
        </p:nvPicPr>
        <p:blipFill>
          <a:blip r:embed="rId10"/>
          <a:stretch>
            <a:fillRect/>
          </a:stretch>
        </p:blipFill>
        <p:spPr>
          <a:xfrm>
            <a:off x="6977238" y="5166726"/>
            <a:ext cx="237012" cy="237012"/>
          </a:xfrm>
          <a:prstGeom prst="rect">
            <a:avLst/>
          </a:prstGeom>
        </p:spPr>
      </p:pic>
      <p:sp>
        <p:nvSpPr>
          <p:cNvPr id="41" name="Text 31"/>
          <p:cNvSpPr/>
          <p:nvPr/>
        </p:nvSpPr>
        <p:spPr>
          <a:xfrm>
            <a:off x="7434072" y="4818888"/>
            <a:ext cx="1609344" cy="932688"/>
          </a:xfrm>
          <a:prstGeom prst="rect">
            <a:avLst/>
          </a:prstGeom>
          <a:noFill/>
          <a:ln/>
        </p:spPr>
        <p:txBody>
          <a:bodyPr wrap="square" rtlCol="0" anchor="ctr"/>
          <a:lstStyle/>
          <a:p>
            <a:pPr marL="0" indent="0" algn="l">
              <a:buNone/>
            </a:pPr>
            <a:r>
              <a:rPr lang="en-US" sz="1100" b="1" dirty="0">
                <a:solidFill>
                  <a:srgbClr val="2B2B2B"/>
                </a:solidFill>
                <a:latin typeface="Calibri" pitchFamily="34" charset="0"/>
                <a:ea typeface="Calibri" pitchFamily="34" charset="-122"/>
                <a:cs typeface="Calibri" pitchFamily="34" charset="-120"/>
              </a:rPr>
              <a:t>ReportLab</a:t>
            </a:r>
            <a:endParaRPr lang="en-US" sz="1100" dirty="0"/>
          </a:p>
        </p:txBody>
      </p:sp>
      <p:sp>
        <p:nvSpPr>
          <p:cNvPr id="42" name="Shape 32"/>
          <p:cNvSpPr/>
          <p:nvPr/>
        </p:nvSpPr>
        <p:spPr>
          <a:xfrm>
            <a:off x="9299448" y="4818888"/>
            <a:ext cx="2450592" cy="932688"/>
          </a:xfrm>
          <a:prstGeom prst="roundRect">
            <a:avLst>
              <a:gd name="adj" fmla="val 8824"/>
            </a:avLst>
          </a:prstGeom>
          <a:solidFill>
            <a:srgbClr val="FFFFFF"/>
          </a:solidFill>
          <a:ln w="12700">
            <a:solidFill>
              <a:srgbClr val="F7E1DE"/>
            </a:solidFill>
            <a:prstDash val="solid"/>
          </a:ln>
          <a:effectLst>
            <a:outerShdw blurRad="76200" dist="25400" dir="5400000" algn="bl" rotWithShape="0">
              <a:srgbClr val="444444">
                <a:alpha val="10000"/>
              </a:srgbClr>
            </a:outerShdw>
          </a:effectLst>
        </p:spPr>
        <p:txBody>
          <a:bodyPr/>
          <a:p/>
        </p:txBody>
      </p:sp>
      <p:sp>
        <p:nvSpPr>
          <p:cNvPr id="43" name="Shape 33"/>
          <p:cNvSpPr/>
          <p:nvPr/>
        </p:nvSpPr>
        <p:spPr>
          <a:xfrm>
            <a:off x="9427464" y="5038344"/>
            <a:ext cx="493776" cy="493776"/>
          </a:xfrm>
          <a:prstGeom prst="ellipse">
            <a:avLst/>
          </a:prstGeom>
          <a:solidFill>
            <a:srgbClr val="C00000"/>
          </a:solidFill>
          <a:ln/>
          <a:effectLst>
            <a:outerShdw blurRad="76200" dist="25400" dir="5400000" algn="bl" rotWithShape="0">
              <a:srgbClr val="9B1B1B">
                <a:alpha val="25000"/>
              </a:srgbClr>
            </a:outerShdw>
          </a:effectLst>
        </p:spPr>
        <p:txBody>
          <a:bodyPr/>
          <a:p/>
        </p:txBody>
      </p:sp>
      <p:pic>
        <p:nvPicPr>
          <p:cNvPr id="44" name="Image 8" descr="/home/claude/work/icons/docker_w.png"/>
          <p:cNvPicPr>
            <a:picLocks noChangeAspect="1"/>
          </p:cNvPicPr>
          <p:nvPr/>
        </p:nvPicPr>
        <p:blipFill>
          <a:blip r:embed="rId11"/>
          <a:stretch>
            <a:fillRect/>
          </a:stretch>
        </p:blipFill>
        <p:spPr>
          <a:xfrm>
            <a:off x="9555846" y="5166726"/>
            <a:ext cx="237012" cy="237012"/>
          </a:xfrm>
          <a:prstGeom prst="rect">
            <a:avLst/>
          </a:prstGeom>
        </p:spPr>
      </p:pic>
      <p:sp>
        <p:nvSpPr>
          <p:cNvPr id="45" name="Text 34"/>
          <p:cNvSpPr/>
          <p:nvPr/>
        </p:nvSpPr>
        <p:spPr>
          <a:xfrm>
            <a:off x="10012680" y="4818888"/>
            <a:ext cx="1609344" cy="932688"/>
          </a:xfrm>
          <a:prstGeom prst="rect">
            <a:avLst/>
          </a:prstGeom>
          <a:noFill/>
          <a:ln/>
        </p:spPr>
        <p:txBody>
          <a:bodyPr wrap="square" rtlCol="0" anchor="ctr"/>
          <a:lstStyle/>
          <a:p>
            <a:pPr marL="0" indent="0" algn="l">
              <a:buNone/>
            </a:pPr>
            <a:r>
              <a:rPr lang="en-US" sz="1100" b="1" dirty="0">
                <a:solidFill>
                  <a:srgbClr val="2B2B2B"/>
                </a:solidFill>
                <a:latin typeface="Calibri" pitchFamily="34" charset="0"/>
                <a:ea typeface="Calibri" pitchFamily="34" charset="-122"/>
                <a:cs typeface="Calibri" pitchFamily="34" charset="-120"/>
              </a:rPr>
              <a:t>Docker</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DF6F3"/>
        </a:solidFill>
        <a:effectLst/>
      </p:bgPr>
    </p:bg>
    <p:spTree>
      <p:nvGrpSpPr>
        <p:cNvPr id="1" name=""/>
        <p:cNvGrpSpPr/>
        <p:nvPr/>
      </p:nvGrpSpPr>
      <p:grpSpPr>
        <a:xfrm>
          <a:off x="0" y="0"/>
          <a:ext cx="0" cy="0"/>
          <a:chOff x="0" y="0"/>
          <a:chExt cx="0" cy="0"/>
        </a:xfrm>
      </p:grpSpPr>
      <p:sp>
        <p:nvSpPr>
          <p:cNvPr id="2" name="Shape 0"/>
          <p:cNvSpPr/>
          <p:nvPr/>
        </p:nvSpPr>
        <p:spPr>
          <a:xfrm>
            <a:off x="0" y="6812280"/>
            <a:ext cx="12188952" cy="45720"/>
          </a:xfrm>
          <a:prstGeom prst="rect">
            <a:avLst/>
          </a:prstGeom>
          <a:solidFill>
            <a:srgbClr val="BA2532"/>
          </a:solidFill>
          <a:ln/>
        </p:spPr>
        <p:txBody>
          <a:bodyPr/>
          <a:p/>
        </p:txBody>
      </p:sp>
      <p:pic>
        <p:nvPicPr>
          <p:cNvPr id="3" name="Image 0" descr="/home/claude/work/unpacked/ppt/media/image1.png"/>
          <p:cNvPicPr>
            <a:picLocks noChangeAspect="1"/>
          </p:cNvPicPr>
          <p:nvPr/>
        </p:nvPicPr>
        <p:blipFill>
          <a:blip r:embed="rId3"/>
          <a:stretch>
            <a:fillRect/>
          </a:stretch>
        </p:blipFill>
        <p:spPr>
          <a:xfrm>
            <a:off x="320040" y="256032"/>
            <a:ext cx="1417320" cy="621792"/>
          </a:xfrm>
          <a:prstGeom prst="rect">
            <a:avLst/>
          </a:prstGeom>
        </p:spPr>
      </p:pic>
      <p:sp>
        <p:nvSpPr>
          <p:cNvPr id="4" name="Shape 1"/>
          <p:cNvSpPr/>
          <p:nvPr/>
        </p:nvSpPr>
        <p:spPr>
          <a:xfrm>
            <a:off x="2880360" y="320040"/>
            <a:ext cx="9006840" cy="566928"/>
          </a:xfrm>
          <a:prstGeom prst="rect">
            <a:avLst/>
          </a:prstGeom>
          <a:solidFill>
            <a:srgbClr val="C00000"/>
          </a:solidFill>
          <a:ln/>
        </p:spPr>
        <p:txBody>
          <a:bodyPr/>
          <a:p/>
        </p:txBody>
      </p:sp>
      <p:sp>
        <p:nvSpPr>
          <p:cNvPr id="5" name="Text 2"/>
          <p:cNvSpPr/>
          <p:nvPr/>
        </p:nvSpPr>
        <p:spPr>
          <a:xfrm>
            <a:off x="2880360" y="320040"/>
            <a:ext cx="9006840" cy="566928"/>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Problem Statement</a:t>
            </a:r>
            <a:endParaRPr lang="en-US" sz="2000" dirty="0"/>
          </a:p>
        </p:txBody>
      </p:sp>
      <p:sp>
        <p:nvSpPr>
          <p:cNvPr id="6" name="Text 3"/>
          <p:cNvSpPr/>
          <p:nvPr/>
        </p:nvSpPr>
        <p:spPr>
          <a:xfrm>
            <a:off x="320040" y="6473952"/>
            <a:ext cx="9601200" cy="274320"/>
          </a:xfrm>
          <a:prstGeom prst="rect">
            <a:avLst/>
          </a:prstGeom>
          <a:noFill/>
          <a:ln/>
        </p:spPr>
        <p:txBody>
          <a:bodyPr wrap="square" rtlCol="0" anchor="ctr"/>
          <a:lstStyle/>
          <a:p>
            <a:pPr marL="0" indent="0">
              <a:buNone/>
            </a:pPr>
            <a:r>
              <a:rPr lang="en-US" sz="900" dirty="0">
                <a:solidFill>
                  <a:srgbClr val="6B6B6B"/>
                </a:solidFill>
                <a:latin typeface="Calibri" pitchFamily="34" charset="0"/>
                <a:ea typeface="Calibri" pitchFamily="34" charset="-122"/>
                <a:cs typeface="Calibri" pitchFamily="34" charset="-120"/>
              </a:rPr>
              <a:t>AI Multi-Agent Research Assistant  |  Applied Machine Learning for Text Analysis</a:t>
            </a:r>
            <a:endParaRPr lang="en-US" sz="900" dirty="0"/>
          </a:p>
        </p:txBody>
      </p:sp>
      <p:sp>
        <p:nvSpPr>
          <p:cNvPr id="7" name="Text 4"/>
          <p:cNvSpPr/>
          <p:nvPr/>
        </p:nvSpPr>
        <p:spPr>
          <a:xfrm>
            <a:off x="11365992" y="6473952"/>
            <a:ext cx="54864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3</a:t>
            </a:r>
            <a:endParaRPr lang="en-US" sz="900" dirty="0"/>
          </a:p>
        </p:txBody>
      </p:sp>
      <p:sp>
        <p:nvSpPr>
          <p:cNvPr id="8" name="Shape 5"/>
          <p:cNvSpPr/>
          <p:nvPr/>
        </p:nvSpPr>
        <p:spPr>
          <a:xfrm>
            <a:off x="457200" y="1508760"/>
            <a:ext cx="2697480" cy="3931920"/>
          </a:xfrm>
          <a:prstGeom prst="roundRect">
            <a:avLst>
              <a:gd name="adj" fmla="val 3390"/>
            </a:avLst>
          </a:prstGeom>
          <a:solidFill>
            <a:srgbClr val="FFFFFF"/>
          </a:solidFill>
          <a:ln w="12700">
            <a:solidFill>
              <a:srgbClr val="F7E1DE"/>
            </a:solidFill>
            <a:prstDash val="solid"/>
          </a:ln>
          <a:effectLst>
            <a:outerShdw blurRad="101600" dist="25400" dir="5400000" algn="bl" rotWithShape="0">
              <a:srgbClr val="444444">
                <a:alpha val="12000"/>
              </a:srgbClr>
            </a:outerShdw>
          </a:effectLst>
        </p:spPr>
        <p:txBody>
          <a:bodyPr/>
          <a:p/>
        </p:txBody>
      </p:sp>
      <p:sp>
        <p:nvSpPr>
          <p:cNvPr id="9" name="Shape 6"/>
          <p:cNvSpPr/>
          <p:nvPr/>
        </p:nvSpPr>
        <p:spPr>
          <a:xfrm>
            <a:off x="1421892" y="1828800"/>
            <a:ext cx="768096" cy="768096"/>
          </a:xfrm>
          <a:prstGeom prst="ellipse">
            <a:avLst/>
          </a:prstGeom>
          <a:solidFill>
            <a:srgbClr val="C00000"/>
          </a:solidFill>
          <a:ln/>
          <a:effectLst>
            <a:outerShdw blurRad="76200" dist="25400" dir="5400000" algn="bl" rotWithShape="0">
              <a:srgbClr val="9B1B1B">
                <a:alpha val="25000"/>
              </a:srgbClr>
            </a:outerShdw>
          </a:effectLst>
        </p:spPr>
        <p:txBody>
          <a:bodyPr/>
          <a:p/>
        </p:txBody>
      </p:sp>
      <p:pic>
        <p:nvPicPr>
          <p:cNvPr id="10" name="Image 1" descr="/home/claude/work/icons/search.png"/>
          <p:cNvPicPr>
            <a:picLocks noChangeAspect="1"/>
          </p:cNvPicPr>
          <p:nvPr/>
        </p:nvPicPr>
        <p:blipFill>
          <a:blip r:embed="rId4"/>
          <a:stretch>
            <a:fillRect/>
          </a:stretch>
        </p:blipFill>
        <p:spPr>
          <a:xfrm>
            <a:off x="1621597" y="2028505"/>
            <a:ext cx="368686" cy="368686"/>
          </a:xfrm>
          <a:prstGeom prst="rect">
            <a:avLst/>
          </a:prstGeom>
        </p:spPr>
      </p:pic>
      <p:sp>
        <p:nvSpPr>
          <p:cNvPr id="11" name="Text 7"/>
          <p:cNvSpPr/>
          <p:nvPr/>
        </p:nvSpPr>
        <p:spPr>
          <a:xfrm>
            <a:off x="621792" y="2788920"/>
            <a:ext cx="2368296" cy="594360"/>
          </a:xfrm>
          <a:prstGeom prst="rect">
            <a:avLst/>
          </a:prstGeom>
          <a:noFill/>
          <a:ln/>
        </p:spPr>
        <p:txBody>
          <a:bodyPr wrap="square" rtlCol="0" anchor="ctr"/>
          <a:lstStyle/>
          <a:p>
            <a:pPr marL="0" indent="0" algn="ctr">
              <a:buNone/>
            </a:pPr>
            <a:r>
              <a:rPr lang="en-US" sz="1400" b="1" dirty="0">
                <a:solidFill>
                  <a:srgbClr val="C00000"/>
                </a:solidFill>
                <a:latin typeface="Calibri" pitchFamily="34" charset="0"/>
                <a:ea typeface="Calibri" pitchFamily="34" charset="-122"/>
                <a:cs typeface="Calibri" pitchFamily="34" charset="-120"/>
              </a:rPr>
              <a:t>Overwhelming Volume</a:t>
            </a:r>
            <a:endParaRPr lang="en-US" sz="1400" dirty="0"/>
          </a:p>
        </p:txBody>
      </p:sp>
      <p:sp>
        <p:nvSpPr>
          <p:cNvPr id="12" name="Text 8"/>
          <p:cNvSpPr/>
          <p:nvPr/>
        </p:nvSpPr>
        <p:spPr>
          <a:xfrm>
            <a:off x="640080" y="3383280"/>
            <a:ext cx="2331720" cy="1920240"/>
          </a:xfrm>
          <a:prstGeom prst="rect">
            <a:avLst/>
          </a:prstGeom>
          <a:noFill/>
          <a:ln/>
        </p:spPr>
        <p:txBody>
          <a:bodyPr wrap="square" rtlCol="0" anchor="ctr"/>
          <a:lstStyle/>
          <a:p>
            <a:pPr marL="0" indent="0" algn="ctr">
              <a:lnSpc>
                <a:spcPct val="112000"/>
              </a:lnSpc>
              <a:buNone/>
            </a:pPr>
            <a:r>
              <a:rPr lang="en-US" sz="1150" dirty="0">
                <a:solidFill>
                  <a:srgbClr val="2B2B2B"/>
                </a:solidFill>
                <a:latin typeface="Calibri" pitchFamily="34" charset="0"/>
                <a:ea typeface="Calibri" pitchFamily="34" charset="-122"/>
                <a:cs typeface="Calibri" pitchFamily="34" charset="-120"/>
              </a:rPr>
              <a:t>Large volumes of unstructured web text make reliable, manual research slow and difficult to scale.</a:t>
            </a:r>
            <a:endParaRPr lang="en-US" sz="1150" dirty="0"/>
          </a:p>
        </p:txBody>
      </p:sp>
      <p:sp>
        <p:nvSpPr>
          <p:cNvPr id="13" name="Shape 9"/>
          <p:cNvSpPr/>
          <p:nvPr/>
        </p:nvSpPr>
        <p:spPr>
          <a:xfrm>
            <a:off x="3355848" y="1508760"/>
            <a:ext cx="2697480" cy="3931920"/>
          </a:xfrm>
          <a:prstGeom prst="roundRect">
            <a:avLst>
              <a:gd name="adj" fmla="val 3390"/>
            </a:avLst>
          </a:prstGeom>
          <a:solidFill>
            <a:srgbClr val="FFFFFF"/>
          </a:solidFill>
          <a:ln w="12700">
            <a:solidFill>
              <a:srgbClr val="F7E1DE"/>
            </a:solidFill>
            <a:prstDash val="solid"/>
          </a:ln>
          <a:effectLst>
            <a:outerShdw blurRad="101600" dist="25400" dir="5400000" algn="bl" rotWithShape="0">
              <a:srgbClr val="444444">
                <a:alpha val="12000"/>
              </a:srgbClr>
            </a:outerShdw>
          </a:effectLst>
        </p:spPr>
        <p:txBody>
          <a:bodyPr/>
          <a:p/>
        </p:txBody>
      </p:sp>
      <p:sp>
        <p:nvSpPr>
          <p:cNvPr id="14" name="Shape 10"/>
          <p:cNvSpPr/>
          <p:nvPr/>
        </p:nvSpPr>
        <p:spPr>
          <a:xfrm>
            <a:off x="4320540" y="1828800"/>
            <a:ext cx="768096" cy="768096"/>
          </a:xfrm>
          <a:prstGeom prst="ellipse">
            <a:avLst/>
          </a:prstGeom>
          <a:solidFill>
            <a:srgbClr val="C00000"/>
          </a:solidFill>
          <a:ln/>
          <a:effectLst>
            <a:outerShdw blurRad="76200" dist="25400" dir="5400000" algn="bl" rotWithShape="0">
              <a:srgbClr val="9B1B1B">
                <a:alpha val="25000"/>
              </a:srgbClr>
            </a:outerShdw>
          </a:effectLst>
        </p:spPr>
        <p:txBody>
          <a:bodyPr/>
          <a:p/>
        </p:txBody>
      </p:sp>
      <p:pic>
        <p:nvPicPr>
          <p:cNvPr id="15" name="Image 2" descr="/home/claude/work/icons/users.png"/>
          <p:cNvPicPr>
            <a:picLocks noChangeAspect="1"/>
          </p:cNvPicPr>
          <p:nvPr/>
        </p:nvPicPr>
        <p:blipFill>
          <a:blip r:embed="rId5"/>
          <a:stretch>
            <a:fillRect/>
          </a:stretch>
        </p:blipFill>
        <p:spPr>
          <a:xfrm>
            <a:off x="4520245" y="2028505"/>
            <a:ext cx="368686" cy="368686"/>
          </a:xfrm>
          <a:prstGeom prst="rect">
            <a:avLst/>
          </a:prstGeom>
        </p:spPr>
      </p:pic>
      <p:sp>
        <p:nvSpPr>
          <p:cNvPr id="16" name="Text 11"/>
          <p:cNvSpPr/>
          <p:nvPr/>
        </p:nvSpPr>
        <p:spPr>
          <a:xfrm>
            <a:off x="3520440" y="2788920"/>
            <a:ext cx="2368296" cy="594360"/>
          </a:xfrm>
          <a:prstGeom prst="rect">
            <a:avLst/>
          </a:prstGeom>
          <a:noFill/>
          <a:ln/>
        </p:spPr>
        <p:txBody>
          <a:bodyPr wrap="square" rtlCol="0" anchor="ctr"/>
          <a:lstStyle/>
          <a:p>
            <a:pPr marL="0" indent="0" algn="ctr">
              <a:buNone/>
            </a:pPr>
            <a:r>
              <a:rPr lang="en-US" sz="1400" b="1" dirty="0">
                <a:solidFill>
                  <a:srgbClr val="C00000"/>
                </a:solidFill>
                <a:latin typeface="Calibri" pitchFamily="34" charset="0"/>
                <a:ea typeface="Calibri" pitchFamily="34" charset="-122"/>
                <a:cs typeface="Calibri" pitchFamily="34" charset="-120"/>
              </a:rPr>
              <a:t>Manual Effort</a:t>
            </a:r>
            <a:endParaRPr lang="en-US" sz="1400" dirty="0"/>
          </a:p>
        </p:txBody>
      </p:sp>
      <p:sp>
        <p:nvSpPr>
          <p:cNvPr id="17" name="Text 12"/>
          <p:cNvSpPr/>
          <p:nvPr/>
        </p:nvSpPr>
        <p:spPr>
          <a:xfrm>
            <a:off x="3538728" y="3383280"/>
            <a:ext cx="2331720" cy="1920240"/>
          </a:xfrm>
          <a:prstGeom prst="rect">
            <a:avLst/>
          </a:prstGeom>
          <a:noFill/>
          <a:ln/>
        </p:spPr>
        <p:txBody>
          <a:bodyPr wrap="square" rtlCol="0" anchor="ctr"/>
          <a:lstStyle/>
          <a:p>
            <a:pPr marL="0" indent="0" algn="ctr">
              <a:lnSpc>
                <a:spcPct val="112000"/>
              </a:lnSpc>
              <a:buNone/>
            </a:pPr>
            <a:r>
              <a:rPr lang="en-US" sz="1150" dirty="0">
                <a:solidFill>
                  <a:srgbClr val="2B2B2B"/>
                </a:solidFill>
                <a:latin typeface="Calibri" pitchFamily="34" charset="0"/>
                <a:ea typeface="Calibri" pitchFamily="34" charset="-122"/>
                <a:cs typeface="Calibri" pitchFamily="34" charset="-120"/>
              </a:rPr>
              <a:t>Users must manually search, compare sources, and judge credibility before synthesizing evidence.</a:t>
            </a:r>
            <a:endParaRPr lang="en-US" sz="1150" dirty="0"/>
          </a:p>
        </p:txBody>
      </p:sp>
      <p:sp>
        <p:nvSpPr>
          <p:cNvPr id="18" name="Shape 13"/>
          <p:cNvSpPr/>
          <p:nvPr/>
        </p:nvSpPr>
        <p:spPr>
          <a:xfrm>
            <a:off x="6254496" y="1508760"/>
            <a:ext cx="2697480" cy="3931920"/>
          </a:xfrm>
          <a:prstGeom prst="roundRect">
            <a:avLst>
              <a:gd name="adj" fmla="val 3390"/>
            </a:avLst>
          </a:prstGeom>
          <a:solidFill>
            <a:srgbClr val="FFFFFF"/>
          </a:solidFill>
          <a:ln w="12700">
            <a:solidFill>
              <a:srgbClr val="F7E1DE"/>
            </a:solidFill>
            <a:prstDash val="solid"/>
          </a:ln>
          <a:effectLst>
            <a:outerShdw blurRad="101600" dist="25400" dir="5400000" algn="bl" rotWithShape="0">
              <a:srgbClr val="444444">
                <a:alpha val="12000"/>
              </a:srgbClr>
            </a:outerShdw>
          </a:effectLst>
        </p:spPr>
        <p:txBody>
          <a:bodyPr/>
          <a:p/>
        </p:txBody>
      </p:sp>
      <p:sp>
        <p:nvSpPr>
          <p:cNvPr id="19" name="Shape 14"/>
          <p:cNvSpPr/>
          <p:nvPr/>
        </p:nvSpPr>
        <p:spPr>
          <a:xfrm>
            <a:off x="7219188" y="1828800"/>
            <a:ext cx="768096" cy="768096"/>
          </a:xfrm>
          <a:prstGeom prst="ellipse">
            <a:avLst/>
          </a:prstGeom>
          <a:solidFill>
            <a:srgbClr val="C00000"/>
          </a:solidFill>
          <a:ln/>
          <a:effectLst>
            <a:outerShdw blurRad="76200" dist="25400" dir="5400000" algn="bl" rotWithShape="0">
              <a:srgbClr val="9B1B1B">
                <a:alpha val="25000"/>
              </a:srgbClr>
            </a:outerShdw>
          </a:effectLst>
        </p:spPr>
        <p:txBody>
          <a:bodyPr/>
          <a:p/>
        </p:txBody>
      </p:sp>
      <p:pic>
        <p:nvPicPr>
          <p:cNvPr id="20" name="Image 3" descr="/home/claude/work/icons/robot.png"/>
          <p:cNvPicPr>
            <a:picLocks noChangeAspect="1"/>
          </p:cNvPicPr>
          <p:nvPr/>
        </p:nvPicPr>
        <p:blipFill>
          <a:blip r:embed="rId6"/>
          <a:stretch>
            <a:fillRect/>
          </a:stretch>
        </p:blipFill>
        <p:spPr>
          <a:xfrm>
            <a:off x="7418893" y="2028505"/>
            <a:ext cx="368686" cy="368686"/>
          </a:xfrm>
          <a:prstGeom prst="rect">
            <a:avLst/>
          </a:prstGeom>
        </p:spPr>
      </p:pic>
      <p:sp>
        <p:nvSpPr>
          <p:cNvPr id="21" name="Text 15"/>
          <p:cNvSpPr/>
          <p:nvPr/>
        </p:nvSpPr>
        <p:spPr>
          <a:xfrm>
            <a:off x="6419088" y="2788920"/>
            <a:ext cx="2368296" cy="594360"/>
          </a:xfrm>
          <a:prstGeom prst="rect">
            <a:avLst/>
          </a:prstGeom>
          <a:noFill/>
          <a:ln/>
        </p:spPr>
        <p:txBody>
          <a:bodyPr wrap="square" rtlCol="0" anchor="ctr"/>
          <a:lstStyle/>
          <a:p>
            <a:pPr marL="0" indent="0" algn="ctr">
              <a:buNone/>
            </a:pPr>
            <a:r>
              <a:rPr lang="en-US" sz="1400" b="1" dirty="0">
                <a:solidFill>
                  <a:srgbClr val="C00000"/>
                </a:solidFill>
                <a:latin typeface="Calibri" pitchFamily="34" charset="0"/>
                <a:ea typeface="Calibri" pitchFamily="34" charset="-122"/>
                <a:cs typeface="Calibri" pitchFamily="34" charset="-120"/>
              </a:rPr>
              <a:t>Single-Agent Limits</a:t>
            </a:r>
            <a:endParaRPr lang="en-US" sz="1400" dirty="0"/>
          </a:p>
        </p:txBody>
      </p:sp>
      <p:sp>
        <p:nvSpPr>
          <p:cNvPr id="22" name="Text 16"/>
          <p:cNvSpPr/>
          <p:nvPr/>
        </p:nvSpPr>
        <p:spPr>
          <a:xfrm>
            <a:off x="6437376" y="3383280"/>
            <a:ext cx="2331720" cy="1920240"/>
          </a:xfrm>
          <a:prstGeom prst="rect">
            <a:avLst/>
          </a:prstGeom>
          <a:noFill/>
          <a:ln/>
        </p:spPr>
        <p:txBody>
          <a:bodyPr wrap="square" rtlCol="0" anchor="ctr"/>
          <a:lstStyle/>
          <a:p>
            <a:pPr marL="0" indent="0" algn="ctr">
              <a:lnSpc>
                <a:spcPct val="112000"/>
              </a:lnSpc>
              <a:buNone/>
            </a:pPr>
            <a:r>
              <a:rPr lang="en-US" sz="1150" dirty="0">
                <a:solidFill>
                  <a:srgbClr val="2B2B2B"/>
                </a:solidFill>
                <a:latin typeface="Calibri" pitchFamily="34" charset="0"/>
                <a:ea typeface="Calibri" pitchFamily="34" charset="-122"/>
                <a:cs typeface="Calibri" pitchFamily="34" charset="-120"/>
              </a:rPr>
              <a:t>Single-agent LLM systems can miss evidence, hallucinate facts, or provide weak citation support.</a:t>
            </a:r>
            <a:endParaRPr lang="en-US" sz="1150" dirty="0"/>
          </a:p>
        </p:txBody>
      </p:sp>
      <p:sp>
        <p:nvSpPr>
          <p:cNvPr id="23" name="Shape 17"/>
          <p:cNvSpPr/>
          <p:nvPr/>
        </p:nvSpPr>
        <p:spPr>
          <a:xfrm>
            <a:off x="9153144" y="1508760"/>
            <a:ext cx="2697480" cy="3931920"/>
          </a:xfrm>
          <a:prstGeom prst="roundRect">
            <a:avLst>
              <a:gd name="adj" fmla="val 3390"/>
            </a:avLst>
          </a:prstGeom>
          <a:solidFill>
            <a:srgbClr val="FFFFFF"/>
          </a:solidFill>
          <a:ln w="12700">
            <a:solidFill>
              <a:srgbClr val="F7E1DE"/>
            </a:solidFill>
            <a:prstDash val="solid"/>
          </a:ln>
          <a:effectLst>
            <a:outerShdw blurRad="101600" dist="25400" dir="5400000" algn="bl" rotWithShape="0">
              <a:srgbClr val="444444">
                <a:alpha val="12000"/>
              </a:srgbClr>
            </a:outerShdw>
          </a:effectLst>
        </p:spPr>
        <p:txBody>
          <a:bodyPr/>
          <a:p/>
        </p:txBody>
      </p:sp>
      <p:sp>
        <p:nvSpPr>
          <p:cNvPr id="24" name="Shape 18"/>
          <p:cNvSpPr/>
          <p:nvPr/>
        </p:nvSpPr>
        <p:spPr>
          <a:xfrm>
            <a:off x="10117836" y="1828800"/>
            <a:ext cx="768096" cy="768096"/>
          </a:xfrm>
          <a:prstGeom prst="ellipse">
            <a:avLst/>
          </a:prstGeom>
          <a:solidFill>
            <a:srgbClr val="8C0000"/>
          </a:solidFill>
          <a:ln/>
          <a:effectLst>
            <a:outerShdw blurRad="76200" dist="25400" dir="5400000" algn="bl" rotWithShape="0">
              <a:srgbClr val="9B1B1B">
                <a:alpha val="25000"/>
              </a:srgbClr>
            </a:outerShdw>
          </a:effectLst>
        </p:spPr>
        <p:txBody>
          <a:bodyPr/>
          <a:p/>
        </p:txBody>
      </p:sp>
      <p:pic>
        <p:nvPicPr>
          <p:cNvPr id="25" name="Image 4" descr="/home/claude/work/icons/shield.png"/>
          <p:cNvPicPr>
            <a:picLocks noChangeAspect="1"/>
          </p:cNvPicPr>
          <p:nvPr/>
        </p:nvPicPr>
        <p:blipFill>
          <a:blip r:embed="rId7"/>
          <a:stretch>
            <a:fillRect/>
          </a:stretch>
        </p:blipFill>
        <p:spPr>
          <a:xfrm>
            <a:off x="10317541" y="2028505"/>
            <a:ext cx="368686" cy="368686"/>
          </a:xfrm>
          <a:prstGeom prst="rect">
            <a:avLst/>
          </a:prstGeom>
        </p:spPr>
      </p:pic>
      <p:sp>
        <p:nvSpPr>
          <p:cNvPr id="26" name="Text 19"/>
          <p:cNvSpPr/>
          <p:nvPr/>
        </p:nvSpPr>
        <p:spPr>
          <a:xfrm>
            <a:off x="9317736" y="2788920"/>
            <a:ext cx="2368296" cy="594360"/>
          </a:xfrm>
          <a:prstGeom prst="rect">
            <a:avLst/>
          </a:prstGeom>
          <a:noFill/>
          <a:ln/>
        </p:spPr>
        <p:txBody>
          <a:bodyPr wrap="square" rtlCol="0" anchor="ctr"/>
          <a:lstStyle/>
          <a:p>
            <a:pPr marL="0" indent="0" algn="ctr">
              <a:buNone/>
            </a:pPr>
            <a:r>
              <a:rPr lang="en-US" sz="1400" b="1" dirty="0">
                <a:solidFill>
                  <a:srgbClr val="C00000"/>
                </a:solidFill>
                <a:latin typeface="Calibri" pitchFamily="34" charset="0"/>
                <a:ea typeface="Calibri" pitchFamily="34" charset="-122"/>
                <a:cs typeface="Calibri" pitchFamily="34" charset="-120"/>
              </a:rPr>
              <a:t>No Verification Layer</a:t>
            </a:r>
            <a:endParaRPr lang="en-US" sz="1400" dirty="0"/>
          </a:p>
        </p:txBody>
      </p:sp>
      <p:sp>
        <p:nvSpPr>
          <p:cNvPr id="27" name="Text 20"/>
          <p:cNvSpPr/>
          <p:nvPr/>
        </p:nvSpPr>
        <p:spPr>
          <a:xfrm>
            <a:off x="9336024" y="3383280"/>
            <a:ext cx="2331720" cy="1920240"/>
          </a:xfrm>
          <a:prstGeom prst="rect">
            <a:avLst/>
          </a:prstGeom>
          <a:noFill/>
          <a:ln/>
        </p:spPr>
        <p:txBody>
          <a:bodyPr wrap="square" rtlCol="0" anchor="ctr"/>
          <a:lstStyle/>
          <a:p>
            <a:pPr marL="0" indent="0" algn="ctr">
              <a:lnSpc>
                <a:spcPct val="112000"/>
              </a:lnSpc>
              <a:buNone/>
            </a:pPr>
            <a:r>
              <a:rPr lang="en-US" sz="1150" dirty="0">
                <a:solidFill>
                  <a:srgbClr val="2B2B2B"/>
                </a:solidFill>
                <a:latin typeface="Calibri" pitchFamily="34" charset="0"/>
                <a:ea typeface="Calibri" pitchFamily="34" charset="-122"/>
                <a:cs typeface="Calibri" pitchFamily="34" charset="-120"/>
              </a:rPr>
              <a:t>There is no automated framework that grounds answers in retrieved evidence and validates claims before delivery.</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DF6F3"/>
        </a:solidFill>
        <a:effectLst/>
      </p:bgPr>
    </p:bg>
    <p:spTree>
      <p:nvGrpSpPr>
        <p:cNvPr id="1" name=""/>
        <p:cNvGrpSpPr/>
        <p:nvPr/>
      </p:nvGrpSpPr>
      <p:grpSpPr>
        <a:xfrm>
          <a:off x="0" y="0"/>
          <a:ext cx="0" cy="0"/>
          <a:chOff x="0" y="0"/>
          <a:chExt cx="0" cy="0"/>
        </a:xfrm>
      </p:grpSpPr>
      <p:sp>
        <p:nvSpPr>
          <p:cNvPr id="2" name="Shape 0"/>
          <p:cNvSpPr/>
          <p:nvPr/>
        </p:nvSpPr>
        <p:spPr>
          <a:xfrm>
            <a:off x="0" y="6812280"/>
            <a:ext cx="12188952" cy="45720"/>
          </a:xfrm>
          <a:prstGeom prst="rect">
            <a:avLst/>
          </a:prstGeom>
          <a:solidFill>
            <a:srgbClr val="BA2532"/>
          </a:solidFill>
          <a:ln/>
        </p:spPr>
        <p:txBody>
          <a:bodyPr/>
          <a:p/>
        </p:txBody>
      </p:sp>
      <p:pic>
        <p:nvPicPr>
          <p:cNvPr id="3" name="Image 0" descr="/home/claude/work/unpacked/ppt/media/image1.png"/>
          <p:cNvPicPr>
            <a:picLocks noChangeAspect="1"/>
          </p:cNvPicPr>
          <p:nvPr/>
        </p:nvPicPr>
        <p:blipFill>
          <a:blip r:embed="rId3"/>
          <a:stretch>
            <a:fillRect/>
          </a:stretch>
        </p:blipFill>
        <p:spPr>
          <a:xfrm>
            <a:off x="320040" y="256032"/>
            <a:ext cx="1417320" cy="621792"/>
          </a:xfrm>
          <a:prstGeom prst="rect">
            <a:avLst/>
          </a:prstGeom>
        </p:spPr>
      </p:pic>
      <p:sp>
        <p:nvSpPr>
          <p:cNvPr id="4" name="Shape 1"/>
          <p:cNvSpPr/>
          <p:nvPr/>
        </p:nvSpPr>
        <p:spPr>
          <a:xfrm>
            <a:off x="2880360" y="320040"/>
            <a:ext cx="9006840" cy="566928"/>
          </a:xfrm>
          <a:prstGeom prst="rect">
            <a:avLst/>
          </a:prstGeom>
          <a:solidFill>
            <a:srgbClr val="C00000"/>
          </a:solidFill>
          <a:ln/>
        </p:spPr>
        <p:txBody>
          <a:bodyPr/>
          <a:p/>
        </p:txBody>
      </p:sp>
      <p:sp>
        <p:nvSpPr>
          <p:cNvPr id="5" name="Text 2"/>
          <p:cNvSpPr/>
          <p:nvPr/>
        </p:nvSpPr>
        <p:spPr>
          <a:xfrm>
            <a:off x="2880360" y="320040"/>
            <a:ext cx="9006840" cy="566928"/>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Objectives &amp; Proposed Framework</a:t>
            </a:r>
            <a:endParaRPr lang="en-US" sz="2000" dirty="0"/>
          </a:p>
        </p:txBody>
      </p:sp>
      <p:sp>
        <p:nvSpPr>
          <p:cNvPr id="6" name="Text 3"/>
          <p:cNvSpPr/>
          <p:nvPr/>
        </p:nvSpPr>
        <p:spPr>
          <a:xfrm>
            <a:off x="320040" y="6473952"/>
            <a:ext cx="9601200" cy="274320"/>
          </a:xfrm>
          <a:prstGeom prst="rect">
            <a:avLst/>
          </a:prstGeom>
          <a:noFill/>
          <a:ln/>
        </p:spPr>
        <p:txBody>
          <a:bodyPr wrap="square" rtlCol="0" anchor="ctr"/>
          <a:lstStyle/>
          <a:p>
            <a:pPr marL="0" indent="0">
              <a:buNone/>
            </a:pPr>
            <a:r>
              <a:rPr lang="en-US" sz="900" dirty="0">
                <a:solidFill>
                  <a:srgbClr val="6B6B6B"/>
                </a:solidFill>
                <a:latin typeface="Calibri" pitchFamily="34" charset="0"/>
                <a:ea typeface="Calibri" pitchFamily="34" charset="-122"/>
                <a:cs typeface="Calibri" pitchFamily="34" charset="-120"/>
              </a:rPr>
              <a:t>AI Multi-Agent Research Assistant  |  Applied Machine Learning for Text Analysis</a:t>
            </a:r>
            <a:endParaRPr lang="en-US" sz="900" dirty="0"/>
          </a:p>
        </p:txBody>
      </p:sp>
      <p:sp>
        <p:nvSpPr>
          <p:cNvPr id="7" name="Text 4"/>
          <p:cNvSpPr/>
          <p:nvPr/>
        </p:nvSpPr>
        <p:spPr>
          <a:xfrm>
            <a:off x="11365992" y="6473952"/>
            <a:ext cx="54864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4</a:t>
            </a:r>
            <a:endParaRPr lang="en-US" sz="900" dirty="0"/>
          </a:p>
        </p:txBody>
      </p:sp>
      <p:sp>
        <p:nvSpPr>
          <p:cNvPr id="8" name="Shape 5"/>
          <p:cNvSpPr/>
          <p:nvPr/>
        </p:nvSpPr>
        <p:spPr>
          <a:xfrm>
            <a:off x="457200" y="1508760"/>
            <a:ext cx="5440680" cy="1481328"/>
          </a:xfrm>
          <a:prstGeom prst="roundRect">
            <a:avLst>
              <a:gd name="adj" fmla="val 6173"/>
            </a:avLst>
          </a:prstGeom>
          <a:solidFill>
            <a:srgbClr val="FFFFFF"/>
          </a:solidFill>
          <a:ln w="12700">
            <a:solidFill>
              <a:srgbClr val="F7E1DE"/>
            </a:solidFill>
            <a:prstDash val="solid"/>
          </a:ln>
          <a:effectLst>
            <a:outerShdw blurRad="76200" dist="25400" dir="5400000" algn="bl" rotWithShape="0">
              <a:srgbClr val="444444">
                <a:alpha val="10000"/>
              </a:srgbClr>
            </a:outerShdw>
          </a:effectLst>
        </p:spPr>
        <p:txBody>
          <a:bodyPr/>
          <a:p/>
        </p:txBody>
      </p:sp>
      <p:sp>
        <p:nvSpPr>
          <p:cNvPr id="9" name="Shape 6"/>
          <p:cNvSpPr/>
          <p:nvPr/>
        </p:nvSpPr>
        <p:spPr>
          <a:xfrm>
            <a:off x="658368" y="1920240"/>
            <a:ext cx="658368" cy="658368"/>
          </a:xfrm>
          <a:prstGeom prst="ellipse">
            <a:avLst/>
          </a:prstGeom>
          <a:solidFill>
            <a:srgbClr val="C00000"/>
          </a:solidFill>
          <a:ln/>
          <a:effectLst>
            <a:outerShdw blurRad="76200" dist="25400" dir="5400000" algn="bl" rotWithShape="0">
              <a:srgbClr val="9B1B1B">
                <a:alpha val="25000"/>
              </a:srgbClr>
            </a:outerShdw>
          </a:effectLst>
        </p:spPr>
        <p:txBody>
          <a:bodyPr/>
          <a:p/>
        </p:txBody>
      </p:sp>
      <p:pic>
        <p:nvPicPr>
          <p:cNvPr id="10" name="Image 1" descr="/home/claude/work/icons/target.png"/>
          <p:cNvPicPr>
            <a:picLocks noChangeAspect="1"/>
          </p:cNvPicPr>
          <p:nvPr/>
        </p:nvPicPr>
        <p:blipFill>
          <a:blip r:embed="rId4"/>
          <a:stretch>
            <a:fillRect/>
          </a:stretch>
        </p:blipFill>
        <p:spPr>
          <a:xfrm>
            <a:off x="829544" y="2091416"/>
            <a:ext cx="316017" cy="316017"/>
          </a:xfrm>
          <a:prstGeom prst="rect">
            <a:avLst/>
          </a:prstGeom>
        </p:spPr>
      </p:pic>
      <p:sp>
        <p:nvSpPr>
          <p:cNvPr id="11" name="Text 7"/>
          <p:cNvSpPr/>
          <p:nvPr/>
        </p:nvSpPr>
        <p:spPr>
          <a:xfrm>
            <a:off x="1508760" y="1600200"/>
            <a:ext cx="4206240" cy="1298448"/>
          </a:xfrm>
          <a:prstGeom prst="rect">
            <a:avLst/>
          </a:prstGeom>
          <a:noFill/>
          <a:ln/>
        </p:spPr>
        <p:txBody>
          <a:bodyPr wrap="square" rtlCol="0" anchor="ctr"/>
          <a:lstStyle/>
          <a:p>
            <a:pPr marL="0" indent="0">
              <a:lnSpc>
                <a:spcPct val="110000"/>
              </a:lnSpc>
              <a:buNone/>
            </a:pPr>
            <a:r>
              <a:rPr lang="en-US" sz="1250" dirty="0">
                <a:solidFill>
                  <a:srgbClr val="2B2B2B"/>
                </a:solidFill>
                <a:latin typeface="Calibri" pitchFamily="34" charset="0"/>
                <a:ea typeface="Calibri" pitchFamily="34" charset="-122"/>
                <a:cs typeface="Calibri" pitchFamily="34" charset="-120"/>
              </a:rPr>
              <a:t>Decompose complex questions into focused, structured research sub-tasks.</a:t>
            </a:r>
            <a:endParaRPr lang="en-US" sz="1250" dirty="0"/>
          </a:p>
        </p:txBody>
      </p:sp>
      <p:sp>
        <p:nvSpPr>
          <p:cNvPr id="12" name="Text 8"/>
          <p:cNvSpPr/>
          <p:nvPr/>
        </p:nvSpPr>
        <p:spPr>
          <a:xfrm>
            <a:off x="512064" y="1563624"/>
            <a:ext cx="365760" cy="365760"/>
          </a:xfrm>
          <a:prstGeom prst="rect">
            <a:avLst/>
          </a:prstGeom>
          <a:noFill/>
          <a:ln/>
        </p:spPr>
        <p:txBody>
          <a:bodyPr wrap="square" rtlCol="0" anchor="ctr"/>
          <a:lstStyle/>
          <a:p>
            <a:pPr marL="0" indent="0">
              <a:buNone/>
            </a:pPr>
            <a:r>
              <a:rPr lang="en-US" sz="1100" b="1" dirty="0">
                <a:solidFill>
                  <a:srgbClr val="6B6B6B"/>
                </a:solidFill>
                <a:latin typeface="Calibri" pitchFamily="34" charset="0"/>
                <a:ea typeface="Calibri" pitchFamily="34" charset="-122"/>
                <a:cs typeface="Calibri" pitchFamily="34" charset="-120"/>
              </a:rPr>
              <a:t>1</a:t>
            </a:r>
            <a:endParaRPr lang="en-US" sz="1100" dirty="0"/>
          </a:p>
        </p:txBody>
      </p:sp>
      <p:sp>
        <p:nvSpPr>
          <p:cNvPr id="13" name="Shape 9"/>
          <p:cNvSpPr/>
          <p:nvPr/>
        </p:nvSpPr>
        <p:spPr>
          <a:xfrm>
            <a:off x="6263640" y="1508760"/>
            <a:ext cx="5440680" cy="1481328"/>
          </a:xfrm>
          <a:prstGeom prst="roundRect">
            <a:avLst>
              <a:gd name="adj" fmla="val 6173"/>
            </a:avLst>
          </a:prstGeom>
          <a:solidFill>
            <a:srgbClr val="FFFFFF"/>
          </a:solidFill>
          <a:ln w="12700">
            <a:solidFill>
              <a:srgbClr val="F7E1DE"/>
            </a:solidFill>
            <a:prstDash val="solid"/>
          </a:ln>
          <a:effectLst>
            <a:outerShdw blurRad="76200" dist="25400" dir="5400000" algn="bl" rotWithShape="0">
              <a:srgbClr val="444444">
                <a:alpha val="10000"/>
              </a:srgbClr>
            </a:outerShdw>
          </a:effectLst>
        </p:spPr>
        <p:txBody>
          <a:bodyPr/>
          <a:p/>
        </p:txBody>
      </p:sp>
      <p:sp>
        <p:nvSpPr>
          <p:cNvPr id="14" name="Shape 10"/>
          <p:cNvSpPr/>
          <p:nvPr/>
        </p:nvSpPr>
        <p:spPr>
          <a:xfrm>
            <a:off x="6464808" y="1920240"/>
            <a:ext cx="658368" cy="658368"/>
          </a:xfrm>
          <a:prstGeom prst="ellipse">
            <a:avLst/>
          </a:prstGeom>
          <a:solidFill>
            <a:srgbClr val="C00000"/>
          </a:solidFill>
          <a:ln/>
          <a:effectLst>
            <a:outerShdw blurRad="76200" dist="25400" dir="5400000" algn="bl" rotWithShape="0">
              <a:srgbClr val="9B1B1B">
                <a:alpha val="25000"/>
              </a:srgbClr>
            </a:outerShdw>
          </a:effectLst>
        </p:spPr>
        <p:txBody>
          <a:bodyPr/>
          <a:p/>
        </p:txBody>
      </p:sp>
      <p:pic>
        <p:nvPicPr>
          <p:cNvPr id="15" name="Image 2" descr="/home/claude/work/icons/search.png"/>
          <p:cNvPicPr>
            <a:picLocks noChangeAspect="1"/>
          </p:cNvPicPr>
          <p:nvPr/>
        </p:nvPicPr>
        <p:blipFill>
          <a:blip r:embed="rId5"/>
          <a:stretch>
            <a:fillRect/>
          </a:stretch>
        </p:blipFill>
        <p:spPr>
          <a:xfrm>
            <a:off x="6635984" y="2091416"/>
            <a:ext cx="316017" cy="316017"/>
          </a:xfrm>
          <a:prstGeom prst="rect">
            <a:avLst/>
          </a:prstGeom>
        </p:spPr>
      </p:pic>
      <p:sp>
        <p:nvSpPr>
          <p:cNvPr id="16" name="Text 11"/>
          <p:cNvSpPr/>
          <p:nvPr/>
        </p:nvSpPr>
        <p:spPr>
          <a:xfrm>
            <a:off x="7315200" y="1600200"/>
            <a:ext cx="4206240" cy="1298448"/>
          </a:xfrm>
          <a:prstGeom prst="rect">
            <a:avLst/>
          </a:prstGeom>
          <a:noFill/>
          <a:ln/>
        </p:spPr>
        <p:txBody>
          <a:bodyPr wrap="square" rtlCol="0" anchor="ctr"/>
          <a:lstStyle/>
          <a:p>
            <a:pPr marL="0" indent="0">
              <a:lnSpc>
                <a:spcPct val="110000"/>
              </a:lnSpc>
              <a:buNone/>
            </a:pPr>
            <a:r>
              <a:rPr lang="en-US" sz="1250" dirty="0">
                <a:solidFill>
                  <a:srgbClr val="2B2B2B"/>
                </a:solidFill>
                <a:latin typeface="Calibri" pitchFamily="34" charset="0"/>
                <a:ea typeface="Calibri" pitchFamily="34" charset="-122"/>
                <a:cs typeface="Calibri" pitchFamily="34" charset="-120"/>
              </a:rPr>
              <a:t>Generate entity-preserving search queries and collect multiple candidate sources.</a:t>
            </a:r>
            <a:endParaRPr lang="en-US" sz="1250" dirty="0"/>
          </a:p>
        </p:txBody>
      </p:sp>
      <p:sp>
        <p:nvSpPr>
          <p:cNvPr id="17" name="Text 12"/>
          <p:cNvSpPr/>
          <p:nvPr/>
        </p:nvSpPr>
        <p:spPr>
          <a:xfrm>
            <a:off x="6318504" y="1563624"/>
            <a:ext cx="365760" cy="365760"/>
          </a:xfrm>
          <a:prstGeom prst="rect">
            <a:avLst/>
          </a:prstGeom>
          <a:noFill/>
          <a:ln/>
        </p:spPr>
        <p:txBody>
          <a:bodyPr wrap="square" rtlCol="0" anchor="ctr"/>
          <a:lstStyle/>
          <a:p>
            <a:pPr marL="0" indent="0">
              <a:buNone/>
            </a:pPr>
            <a:r>
              <a:rPr lang="en-US" sz="1100" b="1" dirty="0">
                <a:solidFill>
                  <a:srgbClr val="6B6B6B"/>
                </a:solidFill>
                <a:latin typeface="Calibri" pitchFamily="34" charset="0"/>
                <a:ea typeface="Calibri" pitchFamily="34" charset="-122"/>
                <a:cs typeface="Calibri" pitchFamily="34" charset="-120"/>
              </a:rPr>
              <a:t>2</a:t>
            </a:r>
            <a:endParaRPr lang="en-US" sz="1100" dirty="0"/>
          </a:p>
        </p:txBody>
      </p:sp>
      <p:sp>
        <p:nvSpPr>
          <p:cNvPr id="18" name="Shape 13"/>
          <p:cNvSpPr/>
          <p:nvPr/>
        </p:nvSpPr>
        <p:spPr>
          <a:xfrm>
            <a:off x="457200" y="3154680"/>
            <a:ext cx="5440680" cy="1481328"/>
          </a:xfrm>
          <a:prstGeom prst="roundRect">
            <a:avLst>
              <a:gd name="adj" fmla="val 6173"/>
            </a:avLst>
          </a:prstGeom>
          <a:solidFill>
            <a:srgbClr val="FFFFFF"/>
          </a:solidFill>
          <a:ln w="12700">
            <a:solidFill>
              <a:srgbClr val="F7E1DE"/>
            </a:solidFill>
            <a:prstDash val="solid"/>
          </a:ln>
          <a:effectLst>
            <a:outerShdw blurRad="76200" dist="25400" dir="5400000" algn="bl" rotWithShape="0">
              <a:srgbClr val="444444">
                <a:alpha val="10000"/>
              </a:srgbClr>
            </a:outerShdw>
          </a:effectLst>
        </p:spPr>
        <p:txBody>
          <a:bodyPr/>
          <a:p/>
        </p:txBody>
      </p:sp>
      <p:sp>
        <p:nvSpPr>
          <p:cNvPr id="19" name="Shape 14"/>
          <p:cNvSpPr/>
          <p:nvPr/>
        </p:nvSpPr>
        <p:spPr>
          <a:xfrm>
            <a:off x="658368" y="3566160"/>
            <a:ext cx="658368" cy="658368"/>
          </a:xfrm>
          <a:prstGeom prst="ellipse">
            <a:avLst/>
          </a:prstGeom>
          <a:solidFill>
            <a:srgbClr val="C00000"/>
          </a:solidFill>
          <a:ln/>
          <a:effectLst>
            <a:outerShdw blurRad="76200" dist="25400" dir="5400000" algn="bl" rotWithShape="0">
              <a:srgbClr val="9B1B1B">
                <a:alpha val="25000"/>
              </a:srgbClr>
            </a:outerShdw>
          </a:effectLst>
        </p:spPr>
        <p:txBody>
          <a:bodyPr/>
          <a:p/>
        </p:txBody>
      </p:sp>
      <p:pic>
        <p:nvPicPr>
          <p:cNvPr id="20" name="Image 3" descr="/home/claude/work/icons/database.png"/>
          <p:cNvPicPr>
            <a:picLocks noChangeAspect="1"/>
          </p:cNvPicPr>
          <p:nvPr/>
        </p:nvPicPr>
        <p:blipFill>
          <a:blip r:embed="rId6"/>
          <a:stretch>
            <a:fillRect/>
          </a:stretch>
        </p:blipFill>
        <p:spPr>
          <a:xfrm>
            <a:off x="829544" y="3737336"/>
            <a:ext cx="316017" cy="316017"/>
          </a:xfrm>
          <a:prstGeom prst="rect">
            <a:avLst/>
          </a:prstGeom>
        </p:spPr>
      </p:pic>
      <p:sp>
        <p:nvSpPr>
          <p:cNvPr id="21" name="Text 15"/>
          <p:cNvSpPr/>
          <p:nvPr/>
        </p:nvSpPr>
        <p:spPr>
          <a:xfrm>
            <a:off x="1508760" y="3246120"/>
            <a:ext cx="4206240" cy="1298448"/>
          </a:xfrm>
          <a:prstGeom prst="rect">
            <a:avLst/>
          </a:prstGeom>
          <a:noFill/>
          <a:ln/>
        </p:spPr>
        <p:txBody>
          <a:bodyPr wrap="square" rtlCol="0" anchor="ctr"/>
          <a:lstStyle/>
          <a:p>
            <a:pPr marL="0" indent="0">
              <a:lnSpc>
                <a:spcPct val="110000"/>
              </a:lnSpc>
              <a:buNone/>
            </a:pPr>
            <a:r>
              <a:rPr lang="en-US" sz="1250" dirty="0">
                <a:solidFill>
                  <a:srgbClr val="2B2B2B"/>
                </a:solidFill>
                <a:latin typeface="Calibri" pitchFamily="34" charset="0"/>
                <a:ea typeface="Calibri" pitchFamily="34" charset="-122"/>
                <a:cs typeface="Calibri" pitchFamily="34" charset="-120"/>
              </a:rPr>
              <a:t>Combine keyword retrieval with semantic FAISS vector search for hybrid RAG.</a:t>
            </a:r>
            <a:endParaRPr lang="en-US" sz="1250" dirty="0"/>
          </a:p>
        </p:txBody>
      </p:sp>
      <p:sp>
        <p:nvSpPr>
          <p:cNvPr id="22" name="Text 16"/>
          <p:cNvSpPr/>
          <p:nvPr/>
        </p:nvSpPr>
        <p:spPr>
          <a:xfrm>
            <a:off x="512064" y="3209544"/>
            <a:ext cx="365760" cy="365760"/>
          </a:xfrm>
          <a:prstGeom prst="rect">
            <a:avLst/>
          </a:prstGeom>
          <a:noFill/>
          <a:ln/>
        </p:spPr>
        <p:txBody>
          <a:bodyPr wrap="square" rtlCol="0" anchor="ctr"/>
          <a:lstStyle/>
          <a:p>
            <a:pPr marL="0" indent="0">
              <a:buNone/>
            </a:pPr>
            <a:r>
              <a:rPr lang="en-US" sz="1100" b="1" dirty="0">
                <a:solidFill>
                  <a:srgbClr val="6B6B6B"/>
                </a:solidFill>
                <a:latin typeface="Calibri" pitchFamily="34" charset="0"/>
                <a:ea typeface="Calibri" pitchFamily="34" charset="-122"/>
                <a:cs typeface="Calibri" pitchFamily="34" charset="-120"/>
              </a:rPr>
              <a:t>3</a:t>
            </a:r>
            <a:endParaRPr lang="en-US" sz="1100" dirty="0"/>
          </a:p>
        </p:txBody>
      </p:sp>
      <p:sp>
        <p:nvSpPr>
          <p:cNvPr id="23" name="Shape 17"/>
          <p:cNvSpPr/>
          <p:nvPr/>
        </p:nvSpPr>
        <p:spPr>
          <a:xfrm>
            <a:off x="6263640" y="3154680"/>
            <a:ext cx="5440680" cy="1481328"/>
          </a:xfrm>
          <a:prstGeom prst="roundRect">
            <a:avLst>
              <a:gd name="adj" fmla="val 6173"/>
            </a:avLst>
          </a:prstGeom>
          <a:solidFill>
            <a:srgbClr val="FFFFFF"/>
          </a:solidFill>
          <a:ln w="12700">
            <a:solidFill>
              <a:srgbClr val="F7E1DE"/>
            </a:solidFill>
            <a:prstDash val="solid"/>
          </a:ln>
          <a:effectLst>
            <a:outerShdw blurRad="76200" dist="25400" dir="5400000" algn="bl" rotWithShape="0">
              <a:srgbClr val="444444">
                <a:alpha val="10000"/>
              </a:srgbClr>
            </a:outerShdw>
          </a:effectLst>
        </p:spPr>
        <p:txBody>
          <a:bodyPr/>
          <a:p/>
        </p:txBody>
      </p:sp>
      <p:sp>
        <p:nvSpPr>
          <p:cNvPr id="24" name="Shape 18"/>
          <p:cNvSpPr/>
          <p:nvPr/>
        </p:nvSpPr>
        <p:spPr>
          <a:xfrm>
            <a:off x="6464808" y="3566160"/>
            <a:ext cx="658368" cy="658368"/>
          </a:xfrm>
          <a:prstGeom prst="ellipse">
            <a:avLst/>
          </a:prstGeom>
          <a:solidFill>
            <a:srgbClr val="C00000"/>
          </a:solidFill>
          <a:ln/>
          <a:effectLst>
            <a:outerShdw blurRad="76200" dist="25400" dir="5400000" algn="bl" rotWithShape="0">
              <a:srgbClr val="9B1B1B">
                <a:alpha val="25000"/>
              </a:srgbClr>
            </a:outerShdw>
          </a:effectLst>
        </p:spPr>
        <p:txBody>
          <a:bodyPr/>
          <a:p/>
        </p:txBody>
      </p:sp>
      <p:pic>
        <p:nvPicPr>
          <p:cNvPr id="25" name="Image 4" descr="/home/claude/work/icons/shield.png"/>
          <p:cNvPicPr>
            <a:picLocks noChangeAspect="1"/>
          </p:cNvPicPr>
          <p:nvPr/>
        </p:nvPicPr>
        <p:blipFill>
          <a:blip r:embed="rId7"/>
          <a:stretch>
            <a:fillRect/>
          </a:stretch>
        </p:blipFill>
        <p:spPr>
          <a:xfrm>
            <a:off x="6635984" y="3737336"/>
            <a:ext cx="316017" cy="316017"/>
          </a:xfrm>
          <a:prstGeom prst="rect">
            <a:avLst/>
          </a:prstGeom>
        </p:spPr>
      </p:pic>
      <p:sp>
        <p:nvSpPr>
          <p:cNvPr id="26" name="Text 19"/>
          <p:cNvSpPr/>
          <p:nvPr/>
        </p:nvSpPr>
        <p:spPr>
          <a:xfrm>
            <a:off x="7315200" y="3246120"/>
            <a:ext cx="4206240" cy="1298448"/>
          </a:xfrm>
          <a:prstGeom prst="rect">
            <a:avLst/>
          </a:prstGeom>
          <a:noFill/>
          <a:ln/>
        </p:spPr>
        <p:txBody>
          <a:bodyPr wrap="square" rtlCol="0" anchor="ctr"/>
          <a:lstStyle/>
          <a:p>
            <a:pPr marL="0" indent="0">
              <a:lnSpc>
                <a:spcPct val="110000"/>
              </a:lnSpc>
              <a:buNone/>
            </a:pPr>
            <a:r>
              <a:rPr lang="en-US" sz="1250" dirty="0">
                <a:solidFill>
                  <a:srgbClr val="2B2B2B"/>
                </a:solidFill>
                <a:latin typeface="Calibri" pitchFamily="34" charset="0"/>
                <a:ea typeface="Calibri" pitchFamily="34" charset="-122"/>
                <a:cs typeface="Calibri" pitchFamily="34" charset="-120"/>
              </a:rPr>
              <a:t>Filter sources by quality and relevance to minimize hallucination risk.</a:t>
            </a:r>
            <a:endParaRPr lang="en-US" sz="1250" dirty="0"/>
          </a:p>
        </p:txBody>
      </p:sp>
      <p:sp>
        <p:nvSpPr>
          <p:cNvPr id="27" name="Text 20"/>
          <p:cNvSpPr/>
          <p:nvPr/>
        </p:nvSpPr>
        <p:spPr>
          <a:xfrm>
            <a:off x="6318504" y="3209544"/>
            <a:ext cx="365760" cy="365760"/>
          </a:xfrm>
          <a:prstGeom prst="rect">
            <a:avLst/>
          </a:prstGeom>
          <a:noFill/>
          <a:ln/>
        </p:spPr>
        <p:txBody>
          <a:bodyPr wrap="square" rtlCol="0" anchor="ctr"/>
          <a:lstStyle/>
          <a:p>
            <a:pPr marL="0" indent="0">
              <a:buNone/>
            </a:pPr>
            <a:r>
              <a:rPr lang="en-US" sz="1100" b="1" dirty="0">
                <a:solidFill>
                  <a:srgbClr val="6B6B6B"/>
                </a:solidFill>
                <a:latin typeface="Calibri" pitchFamily="34" charset="0"/>
                <a:ea typeface="Calibri" pitchFamily="34" charset="-122"/>
                <a:cs typeface="Calibri" pitchFamily="34" charset="-120"/>
              </a:rPr>
              <a:t>4</a:t>
            </a:r>
            <a:endParaRPr lang="en-US" sz="1100" dirty="0"/>
          </a:p>
        </p:txBody>
      </p:sp>
      <p:sp>
        <p:nvSpPr>
          <p:cNvPr id="28" name="Shape 21"/>
          <p:cNvSpPr/>
          <p:nvPr/>
        </p:nvSpPr>
        <p:spPr>
          <a:xfrm>
            <a:off x="457200" y="4800600"/>
            <a:ext cx="5440680" cy="1481328"/>
          </a:xfrm>
          <a:prstGeom prst="roundRect">
            <a:avLst>
              <a:gd name="adj" fmla="val 6173"/>
            </a:avLst>
          </a:prstGeom>
          <a:solidFill>
            <a:srgbClr val="FFFFFF"/>
          </a:solidFill>
          <a:ln w="12700">
            <a:solidFill>
              <a:srgbClr val="F7E1DE"/>
            </a:solidFill>
            <a:prstDash val="solid"/>
          </a:ln>
          <a:effectLst>
            <a:outerShdw blurRad="76200" dist="25400" dir="5400000" algn="bl" rotWithShape="0">
              <a:srgbClr val="444444">
                <a:alpha val="10000"/>
              </a:srgbClr>
            </a:outerShdw>
          </a:effectLst>
        </p:spPr>
        <p:txBody>
          <a:bodyPr/>
          <a:p/>
        </p:txBody>
      </p:sp>
      <p:sp>
        <p:nvSpPr>
          <p:cNvPr id="29" name="Shape 22"/>
          <p:cNvSpPr/>
          <p:nvPr/>
        </p:nvSpPr>
        <p:spPr>
          <a:xfrm>
            <a:off x="658368" y="5212080"/>
            <a:ext cx="658368" cy="658368"/>
          </a:xfrm>
          <a:prstGeom prst="ellipse">
            <a:avLst/>
          </a:prstGeom>
          <a:solidFill>
            <a:srgbClr val="C00000"/>
          </a:solidFill>
          <a:ln/>
          <a:effectLst>
            <a:outerShdw blurRad="76200" dist="25400" dir="5400000" algn="bl" rotWithShape="0">
              <a:srgbClr val="9B1B1B">
                <a:alpha val="25000"/>
              </a:srgbClr>
            </a:outerShdw>
          </a:effectLst>
        </p:spPr>
        <p:txBody>
          <a:bodyPr/>
          <a:p/>
        </p:txBody>
      </p:sp>
      <p:pic>
        <p:nvPicPr>
          <p:cNvPr id="30" name="Image 5" descr="/home/claude/work/icons/check.png"/>
          <p:cNvPicPr>
            <a:picLocks noChangeAspect="1"/>
          </p:cNvPicPr>
          <p:nvPr/>
        </p:nvPicPr>
        <p:blipFill>
          <a:blip r:embed="rId8"/>
          <a:stretch>
            <a:fillRect/>
          </a:stretch>
        </p:blipFill>
        <p:spPr>
          <a:xfrm>
            <a:off x="829544" y="5383256"/>
            <a:ext cx="316017" cy="316017"/>
          </a:xfrm>
          <a:prstGeom prst="rect">
            <a:avLst/>
          </a:prstGeom>
        </p:spPr>
      </p:pic>
      <p:sp>
        <p:nvSpPr>
          <p:cNvPr id="31" name="Text 23"/>
          <p:cNvSpPr/>
          <p:nvPr/>
        </p:nvSpPr>
        <p:spPr>
          <a:xfrm>
            <a:off x="1508760" y="4892040"/>
            <a:ext cx="4206240" cy="1298448"/>
          </a:xfrm>
          <a:prstGeom prst="rect">
            <a:avLst/>
          </a:prstGeom>
          <a:noFill/>
          <a:ln/>
        </p:spPr>
        <p:txBody>
          <a:bodyPr wrap="square" rtlCol="0" anchor="ctr"/>
          <a:lstStyle/>
          <a:p>
            <a:pPr marL="0" indent="0">
              <a:lnSpc>
                <a:spcPct val="110000"/>
              </a:lnSpc>
              <a:buNone/>
            </a:pPr>
            <a:r>
              <a:rPr lang="en-US" sz="1250" dirty="0">
                <a:solidFill>
                  <a:srgbClr val="2B2B2B"/>
                </a:solidFill>
                <a:latin typeface="Calibri" pitchFamily="34" charset="0"/>
                <a:ea typeface="Calibri" pitchFamily="34" charset="-122"/>
                <a:cs typeface="Calibri" pitchFamily="34" charset="-120"/>
              </a:rPr>
              <a:t>Validate claims before final generation using cross-agent verification.</a:t>
            </a:r>
            <a:endParaRPr lang="en-US" sz="1250" dirty="0"/>
          </a:p>
        </p:txBody>
      </p:sp>
      <p:sp>
        <p:nvSpPr>
          <p:cNvPr id="32" name="Text 24"/>
          <p:cNvSpPr/>
          <p:nvPr/>
        </p:nvSpPr>
        <p:spPr>
          <a:xfrm>
            <a:off x="512064" y="4855464"/>
            <a:ext cx="365760" cy="365760"/>
          </a:xfrm>
          <a:prstGeom prst="rect">
            <a:avLst/>
          </a:prstGeom>
          <a:noFill/>
          <a:ln/>
        </p:spPr>
        <p:txBody>
          <a:bodyPr wrap="square" rtlCol="0" anchor="ctr"/>
          <a:lstStyle/>
          <a:p>
            <a:pPr marL="0" indent="0">
              <a:buNone/>
            </a:pPr>
            <a:r>
              <a:rPr lang="en-US" sz="1100" b="1" dirty="0">
                <a:solidFill>
                  <a:srgbClr val="6B6B6B"/>
                </a:solidFill>
                <a:latin typeface="Calibri" pitchFamily="34" charset="0"/>
                <a:ea typeface="Calibri" pitchFamily="34" charset="-122"/>
                <a:cs typeface="Calibri" pitchFamily="34" charset="-120"/>
              </a:rPr>
              <a:t>5</a:t>
            </a:r>
            <a:endParaRPr lang="en-US" sz="1100" dirty="0"/>
          </a:p>
        </p:txBody>
      </p:sp>
      <p:sp>
        <p:nvSpPr>
          <p:cNvPr id="33" name="Shape 25"/>
          <p:cNvSpPr/>
          <p:nvPr/>
        </p:nvSpPr>
        <p:spPr>
          <a:xfrm>
            <a:off x="6263640" y="4800600"/>
            <a:ext cx="5440680" cy="1481328"/>
          </a:xfrm>
          <a:prstGeom prst="roundRect">
            <a:avLst>
              <a:gd name="adj" fmla="val 6173"/>
            </a:avLst>
          </a:prstGeom>
          <a:solidFill>
            <a:srgbClr val="FFFFFF"/>
          </a:solidFill>
          <a:ln w="12700">
            <a:solidFill>
              <a:srgbClr val="F7E1DE"/>
            </a:solidFill>
            <a:prstDash val="solid"/>
          </a:ln>
          <a:effectLst>
            <a:outerShdw blurRad="76200" dist="25400" dir="5400000" algn="bl" rotWithShape="0">
              <a:srgbClr val="444444">
                <a:alpha val="10000"/>
              </a:srgbClr>
            </a:outerShdw>
          </a:effectLst>
        </p:spPr>
        <p:txBody>
          <a:bodyPr/>
          <a:p/>
        </p:txBody>
      </p:sp>
      <p:sp>
        <p:nvSpPr>
          <p:cNvPr id="34" name="Shape 26"/>
          <p:cNvSpPr/>
          <p:nvPr/>
        </p:nvSpPr>
        <p:spPr>
          <a:xfrm>
            <a:off x="6464808" y="5212080"/>
            <a:ext cx="658368" cy="658368"/>
          </a:xfrm>
          <a:prstGeom prst="ellipse">
            <a:avLst/>
          </a:prstGeom>
          <a:solidFill>
            <a:srgbClr val="C00000"/>
          </a:solidFill>
          <a:ln/>
          <a:effectLst>
            <a:outerShdw blurRad="76200" dist="25400" dir="5400000" algn="bl" rotWithShape="0">
              <a:srgbClr val="9B1B1B">
                <a:alpha val="25000"/>
              </a:srgbClr>
            </a:outerShdw>
          </a:effectLst>
        </p:spPr>
        <p:txBody>
          <a:bodyPr/>
          <a:p/>
        </p:txBody>
      </p:sp>
      <p:pic>
        <p:nvPicPr>
          <p:cNvPr id="35" name="Image 6" descr="/home/claude/work/icons/report.png"/>
          <p:cNvPicPr>
            <a:picLocks noChangeAspect="1"/>
          </p:cNvPicPr>
          <p:nvPr/>
        </p:nvPicPr>
        <p:blipFill>
          <a:blip r:embed="rId9"/>
          <a:stretch>
            <a:fillRect/>
          </a:stretch>
        </p:blipFill>
        <p:spPr>
          <a:xfrm>
            <a:off x="6635984" y="5383256"/>
            <a:ext cx="316017" cy="316017"/>
          </a:xfrm>
          <a:prstGeom prst="rect">
            <a:avLst/>
          </a:prstGeom>
        </p:spPr>
      </p:pic>
      <p:sp>
        <p:nvSpPr>
          <p:cNvPr id="36" name="Text 27"/>
          <p:cNvSpPr/>
          <p:nvPr/>
        </p:nvSpPr>
        <p:spPr>
          <a:xfrm>
            <a:off x="7315200" y="4892040"/>
            <a:ext cx="4206240" cy="1298448"/>
          </a:xfrm>
          <a:prstGeom prst="rect">
            <a:avLst/>
          </a:prstGeom>
          <a:noFill/>
          <a:ln/>
        </p:spPr>
        <p:txBody>
          <a:bodyPr wrap="square" rtlCol="0" anchor="ctr"/>
          <a:lstStyle/>
          <a:p>
            <a:pPr marL="0" indent="0">
              <a:lnSpc>
                <a:spcPct val="110000"/>
              </a:lnSpc>
              <a:buNone/>
            </a:pPr>
            <a:r>
              <a:rPr lang="en-US" sz="1250" dirty="0">
                <a:solidFill>
                  <a:srgbClr val="2B2B2B"/>
                </a:solidFill>
                <a:latin typeface="Calibri" pitchFamily="34" charset="0"/>
                <a:ea typeface="Calibri" pitchFamily="34" charset="-122"/>
                <a:cs typeface="Calibri" pitchFamily="34" charset="-120"/>
              </a:rPr>
              <a:t>Generate a structured, citation-backed answer with confidence scoring.</a:t>
            </a:r>
            <a:endParaRPr lang="en-US" sz="1250" dirty="0"/>
          </a:p>
        </p:txBody>
      </p:sp>
      <p:sp>
        <p:nvSpPr>
          <p:cNvPr id="37" name="Text 28"/>
          <p:cNvSpPr/>
          <p:nvPr/>
        </p:nvSpPr>
        <p:spPr>
          <a:xfrm>
            <a:off x="6318504" y="4855464"/>
            <a:ext cx="365760" cy="365760"/>
          </a:xfrm>
          <a:prstGeom prst="rect">
            <a:avLst/>
          </a:prstGeom>
          <a:noFill/>
          <a:ln/>
        </p:spPr>
        <p:txBody>
          <a:bodyPr wrap="square" rtlCol="0" anchor="ctr"/>
          <a:lstStyle/>
          <a:p>
            <a:pPr marL="0" indent="0">
              <a:buNone/>
            </a:pPr>
            <a:r>
              <a:rPr lang="en-US" sz="1100" b="1" dirty="0">
                <a:solidFill>
                  <a:srgbClr val="6B6B6B"/>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DF6F3"/>
        </a:solidFill>
        <a:effectLst/>
      </p:bgPr>
    </p:bg>
    <p:spTree>
      <p:nvGrpSpPr>
        <p:cNvPr id="1" name="">
          <a:extLst>
            <a:ext uri="{FF2B5EF4-FFF2-40B4-BE49-F238E27FC236}">
              <a16:creationId xmlns:a16="http://schemas.microsoft.com/office/drawing/2014/main" id="{5C6DF965-5264-1124-FCCF-B5418226060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B40D9FB-A5D9-81E5-FBEF-7C287BB732D1}"/>
              </a:ext>
            </a:extLst>
          </p:cNvPr>
          <p:cNvSpPr/>
          <p:nvPr/>
        </p:nvSpPr>
        <p:spPr>
          <a:xfrm>
            <a:off x="0" y="6812280"/>
            <a:ext cx="12188952" cy="45720"/>
          </a:xfrm>
          <a:prstGeom prst="rect">
            <a:avLst/>
          </a:prstGeom>
          <a:solidFill>
            <a:srgbClr val="BA2532"/>
          </a:solidFill>
          <a:ln/>
        </p:spPr>
        <p:txBody>
          <a:bodyPr/>
          <a:p/>
        </p:txBody>
      </p:sp>
      <p:pic>
        <p:nvPicPr>
          <p:cNvPr id="3" name="Image 0" descr="/home/claude/work/unpacked/ppt/media/image1.png">
            <a:extLst>
              <a:ext uri="{FF2B5EF4-FFF2-40B4-BE49-F238E27FC236}">
                <a16:creationId xmlns:a16="http://schemas.microsoft.com/office/drawing/2014/main" id="{69A7D2B1-4225-E117-7217-B1B3D6865D1D}"/>
              </a:ext>
            </a:extLst>
          </p:cNvPr>
          <p:cNvPicPr>
            <a:picLocks noChangeAspect="1"/>
          </p:cNvPicPr>
          <p:nvPr/>
        </p:nvPicPr>
        <p:blipFill>
          <a:blip r:embed="rId3"/>
          <a:stretch>
            <a:fillRect/>
          </a:stretch>
        </p:blipFill>
        <p:spPr>
          <a:xfrm>
            <a:off x="320040" y="256032"/>
            <a:ext cx="1417320" cy="621792"/>
          </a:xfrm>
          <a:prstGeom prst="rect">
            <a:avLst/>
          </a:prstGeom>
        </p:spPr>
      </p:pic>
      <p:sp>
        <p:nvSpPr>
          <p:cNvPr id="4" name="Shape 1">
            <a:extLst>
              <a:ext uri="{FF2B5EF4-FFF2-40B4-BE49-F238E27FC236}">
                <a16:creationId xmlns:a16="http://schemas.microsoft.com/office/drawing/2014/main" id="{DF3FCDF1-C766-458D-AD5E-A446A4F6304E}"/>
              </a:ext>
            </a:extLst>
          </p:cNvPr>
          <p:cNvSpPr/>
          <p:nvPr/>
        </p:nvSpPr>
        <p:spPr>
          <a:xfrm>
            <a:off x="2510028" y="310896"/>
            <a:ext cx="9006840" cy="566928"/>
          </a:xfrm>
          <a:prstGeom prst="rect">
            <a:avLst/>
          </a:prstGeom>
          <a:solidFill>
            <a:srgbClr val="C00000"/>
          </a:solidFill>
          <a:ln/>
        </p:spPr>
        <p:txBody>
          <a:bodyPr/>
          <a:p/>
        </p:txBody>
      </p:sp>
      <p:sp>
        <p:nvSpPr>
          <p:cNvPr id="5" name="Text 2">
            <a:extLst>
              <a:ext uri="{FF2B5EF4-FFF2-40B4-BE49-F238E27FC236}">
                <a16:creationId xmlns:a16="http://schemas.microsoft.com/office/drawing/2014/main" id="{14B86252-E271-E63B-15D4-1F27C905D022}"/>
              </a:ext>
            </a:extLst>
          </p:cNvPr>
          <p:cNvSpPr/>
          <p:nvPr/>
        </p:nvSpPr>
        <p:spPr>
          <a:xfrm>
            <a:off x="2880360" y="320040"/>
            <a:ext cx="9006840" cy="566928"/>
          </a:xfrm>
          <a:prstGeom prst="rect">
            <a:avLst/>
          </a:prstGeom>
          <a:noFill/>
          <a:ln/>
        </p:spPr>
        <p:txBody>
          <a:bodyPr wrap="square" rtlCol="0" anchor="ctr"/>
          <a:lstStyle/>
          <a:p>
            <a:pPr algn="ctr"/>
            <a:r>
              <a:rPr lang="en-IN" sz="2000" b="1" dirty="0">
                <a:solidFill>
                  <a:schemeClr val="bg2"/>
                </a:solidFill>
              </a:rPr>
              <a:t>Methodology</a:t>
            </a:r>
            <a:endParaRPr lang="en-US" sz="2000" b="1" dirty="0">
              <a:solidFill>
                <a:schemeClr val="bg2"/>
              </a:solidFill>
            </a:endParaRPr>
          </a:p>
        </p:txBody>
      </p:sp>
      <p:sp>
        <p:nvSpPr>
          <p:cNvPr id="6" name="Text 3">
            <a:extLst>
              <a:ext uri="{FF2B5EF4-FFF2-40B4-BE49-F238E27FC236}">
                <a16:creationId xmlns:a16="http://schemas.microsoft.com/office/drawing/2014/main" id="{63989813-6523-DB58-9807-2DFF582A224C}"/>
              </a:ext>
            </a:extLst>
          </p:cNvPr>
          <p:cNvSpPr/>
          <p:nvPr/>
        </p:nvSpPr>
        <p:spPr>
          <a:xfrm>
            <a:off x="320040" y="6473952"/>
            <a:ext cx="9601200" cy="274320"/>
          </a:xfrm>
          <a:prstGeom prst="rect">
            <a:avLst/>
          </a:prstGeom>
          <a:noFill/>
          <a:ln/>
        </p:spPr>
        <p:txBody>
          <a:bodyPr wrap="square" rtlCol="0" anchor="ctr"/>
          <a:lstStyle/>
          <a:p>
            <a:pPr marL="0" indent="0">
              <a:buNone/>
            </a:pPr>
            <a:r>
              <a:rPr lang="en-US" sz="900" dirty="0">
                <a:solidFill>
                  <a:srgbClr val="6B6B6B"/>
                </a:solidFill>
                <a:latin typeface="Calibri" pitchFamily="34" charset="0"/>
                <a:ea typeface="Calibri" pitchFamily="34" charset="-122"/>
                <a:cs typeface="Calibri" pitchFamily="34" charset="-120"/>
              </a:rPr>
              <a:t>AI Multi-Agent Research Assistant  |  Applied Machine Learning for Text Analysis</a:t>
            </a:r>
            <a:endParaRPr lang="en-US" sz="900" dirty="0"/>
          </a:p>
        </p:txBody>
      </p:sp>
      <p:sp>
        <p:nvSpPr>
          <p:cNvPr id="7" name="Text 4">
            <a:extLst>
              <a:ext uri="{FF2B5EF4-FFF2-40B4-BE49-F238E27FC236}">
                <a16:creationId xmlns:a16="http://schemas.microsoft.com/office/drawing/2014/main" id="{53F9A888-0627-A36E-CF9C-636D932B84FF}"/>
              </a:ext>
            </a:extLst>
          </p:cNvPr>
          <p:cNvSpPr/>
          <p:nvPr/>
        </p:nvSpPr>
        <p:spPr>
          <a:xfrm>
            <a:off x="11365992" y="6473952"/>
            <a:ext cx="54864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6</a:t>
            </a:r>
            <a:endParaRPr lang="en-US" sz="900" dirty="0"/>
          </a:p>
        </p:txBody>
      </p:sp>
      <p:pic>
        <p:nvPicPr>
          <p:cNvPr id="9" name="Image 1" descr="/home/claude/work/icons/search.png">
            <a:extLst>
              <a:ext uri="{FF2B5EF4-FFF2-40B4-BE49-F238E27FC236}">
                <a16:creationId xmlns:a16="http://schemas.microsoft.com/office/drawing/2014/main" id="{D733206D-E91B-FE99-51A1-20750395BF54}"/>
              </a:ext>
            </a:extLst>
          </p:cNvPr>
          <p:cNvPicPr>
            <a:picLocks noChangeAspect="1"/>
          </p:cNvPicPr>
          <p:nvPr/>
        </p:nvPicPr>
        <p:blipFill>
          <a:blip r:embed="rId4"/>
          <a:stretch>
            <a:fillRect/>
          </a:stretch>
        </p:blipFill>
        <p:spPr>
          <a:xfrm>
            <a:off x="5907024" y="1444752"/>
            <a:ext cx="347472" cy="347472"/>
          </a:xfrm>
          <a:prstGeom prst="rect">
            <a:avLst/>
          </a:prstGeom>
        </p:spPr>
      </p:pic>
      <p:sp>
        <p:nvSpPr>
          <p:cNvPr id="10" name="Text 6">
            <a:extLst>
              <a:ext uri="{FF2B5EF4-FFF2-40B4-BE49-F238E27FC236}">
                <a16:creationId xmlns:a16="http://schemas.microsoft.com/office/drawing/2014/main" id="{E41A35C6-60DD-E11D-B554-DE3A551000F9}"/>
              </a:ext>
            </a:extLst>
          </p:cNvPr>
          <p:cNvSpPr/>
          <p:nvPr/>
        </p:nvSpPr>
        <p:spPr>
          <a:xfrm>
            <a:off x="5148072" y="1792224"/>
            <a:ext cx="1865376" cy="164592"/>
          </a:xfrm>
          <a:prstGeom prst="rect">
            <a:avLst/>
          </a:prstGeom>
          <a:noFill/>
          <a:ln/>
        </p:spPr>
        <p:txBody>
          <a:bodyPr wrap="square" rtlCol="0" anchor="t"/>
          <a:lstStyle/>
          <a:p>
            <a:pPr marL="0" indent="0" algn="ctr">
              <a:buNone/>
            </a:pPr>
            <a:r>
              <a:rPr lang="en-US" sz="1150" b="1" dirty="0">
                <a:solidFill>
                  <a:srgbClr val="FFFFFF"/>
                </a:solidFill>
                <a:latin typeface="Calibri" pitchFamily="34" charset="0"/>
                <a:ea typeface="Calibri" pitchFamily="34" charset="-122"/>
                <a:cs typeface="Calibri" pitchFamily="34" charset="-120"/>
              </a:rPr>
              <a:t>Research Query</a:t>
            </a:r>
            <a:endParaRPr lang="en-US" sz="1150" dirty="0"/>
          </a:p>
        </p:txBody>
      </p:sp>
      <p:pic>
        <p:nvPicPr>
          <p:cNvPr id="25" name="Image 4" descr="/home/claude/work/icons/layers.png">
            <a:extLst>
              <a:ext uri="{FF2B5EF4-FFF2-40B4-BE49-F238E27FC236}">
                <a16:creationId xmlns:a16="http://schemas.microsoft.com/office/drawing/2014/main" id="{863E4A8B-7B08-9115-E117-742484970E0A}"/>
              </a:ext>
            </a:extLst>
          </p:cNvPr>
          <p:cNvPicPr>
            <a:picLocks noChangeAspect="1"/>
          </p:cNvPicPr>
          <p:nvPr/>
        </p:nvPicPr>
        <p:blipFill>
          <a:blip r:embed="rId5"/>
          <a:stretch>
            <a:fillRect/>
          </a:stretch>
        </p:blipFill>
        <p:spPr>
          <a:xfrm>
            <a:off x="4416552" y="3813048"/>
            <a:ext cx="310896" cy="310896"/>
          </a:xfrm>
          <a:prstGeom prst="rect">
            <a:avLst/>
          </a:prstGeom>
        </p:spPr>
      </p:pic>
      <p:sp>
        <p:nvSpPr>
          <p:cNvPr id="26" name="Text 19">
            <a:extLst>
              <a:ext uri="{FF2B5EF4-FFF2-40B4-BE49-F238E27FC236}">
                <a16:creationId xmlns:a16="http://schemas.microsoft.com/office/drawing/2014/main" id="{D3B93C91-34F5-95A7-25BF-10A2C47862A7}"/>
              </a:ext>
            </a:extLst>
          </p:cNvPr>
          <p:cNvSpPr/>
          <p:nvPr/>
        </p:nvSpPr>
        <p:spPr>
          <a:xfrm>
            <a:off x="4846320" y="3685032"/>
            <a:ext cx="2926080" cy="56692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Merge, Rank &amp; Deduplicate Sources</a:t>
            </a:r>
            <a:endParaRPr lang="en-US" sz="1200" dirty="0"/>
          </a:p>
        </p:txBody>
      </p:sp>
      <p:pic>
        <p:nvPicPr>
          <p:cNvPr id="29" name="Image 5" descr="/home/claude/work/icons/shield.png">
            <a:extLst>
              <a:ext uri="{FF2B5EF4-FFF2-40B4-BE49-F238E27FC236}">
                <a16:creationId xmlns:a16="http://schemas.microsoft.com/office/drawing/2014/main" id="{8438B065-9423-B400-69B7-598B42168A3F}"/>
              </a:ext>
            </a:extLst>
          </p:cNvPr>
          <p:cNvPicPr>
            <a:picLocks noChangeAspect="1"/>
          </p:cNvPicPr>
          <p:nvPr/>
        </p:nvPicPr>
        <p:blipFill>
          <a:blip r:embed="rId6"/>
          <a:stretch>
            <a:fillRect/>
          </a:stretch>
        </p:blipFill>
        <p:spPr>
          <a:xfrm>
            <a:off x="4416552" y="4727448"/>
            <a:ext cx="310896" cy="310896"/>
          </a:xfrm>
          <a:prstGeom prst="rect">
            <a:avLst/>
          </a:prstGeom>
        </p:spPr>
      </p:pic>
      <p:pic>
        <p:nvPicPr>
          <p:cNvPr id="33" name="Image 6" descr="/home/claude/work/icons/check.png">
            <a:extLst>
              <a:ext uri="{FF2B5EF4-FFF2-40B4-BE49-F238E27FC236}">
                <a16:creationId xmlns:a16="http://schemas.microsoft.com/office/drawing/2014/main" id="{0675388F-54A1-6026-43DA-85799C556145}"/>
              </a:ext>
            </a:extLst>
          </p:cNvPr>
          <p:cNvPicPr>
            <a:picLocks noChangeAspect="1"/>
          </p:cNvPicPr>
          <p:nvPr/>
        </p:nvPicPr>
        <p:blipFill>
          <a:blip r:embed="rId7"/>
          <a:stretch>
            <a:fillRect/>
          </a:stretch>
        </p:blipFill>
        <p:spPr>
          <a:xfrm>
            <a:off x="3730752" y="5623560"/>
            <a:ext cx="310896" cy="310896"/>
          </a:xfrm>
          <a:prstGeom prst="rect">
            <a:avLst/>
          </a:prstGeom>
        </p:spPr>
      </p:pic>
      <p:sp>
        <p:nvSpPr>
          <p:cNvPr id="34" name="Text 25">
            <a:extLst>
              <a:ext uri="{FF2B5EF4-FFF2-40B4-BE49-F238E27FC236}">
                <a16:creationId xmlns:a16="http://schemas.microsoft.com/office/drawing/2014/main" id="{FEF941A3-D378-A221-F832-6BE9215B81EA}"/>
              </a:ext>
            </a:extLst>
          </p:cNvPr>
          <p:cNvSpPr/>
          <p:nvPr/>
        </p:nvSpPr>
        <p:spPr>
          <a:xfrm>
            <a:off x="4160520" y="5513832"/>
            <a:ext cx="4297680" cy="530352"/>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Evidence-Grounded, Citation-Backed Answer</a:t>
            </a:r>
            <a:endParaRPr lang="en-US" sz="1250" dirty="0"/>
          </a:p>
        </p:txBody>
      </p:sp>
      <p:sp>
        <p:nvSpPr>
          <p:cNvPr id="35" name="TextBox 34">
            <a:extLst>
              <a:ext uri="{FF2B5EF4-FFF2-40B4-BE49-F238E27FC236}">
                <a16:creationId xmlns:a16="http://schemas.microsoft.com/office/drawing/2014/main" id="{176F2591-393A-236F-F843-6D63A196F320}"/>
              </a:ext>
            </a:extLst>
          </p:cNvPr>
          <p:cNvSpPr txBox="1"/>
          <p:nvPr/>
        </p:nvSpPr>
        <p:spPr>
          <a:xfrm>
            <a:off x="439947" y="1716657"/>
            <a:ext cx="11076921" cy="3970318"/>
          </a:xfrm>
          <a:prstGeom prst="rect">
            <a:avLst/>
          </a:prstGeom>
          <a:noFill/>
        </p:spPr>
        <p:txBody>
          <a:bodyPr wrap="square" rtlCol="0">
            <a:spAutoFit/>
          </a:bodyPr>
          <a:lstStyle/>
          <a:p>
            <a:r>
              <a:rPr lang="en-IN" dirty="0"/>
              <a:t>The proposed methodology follows a multi-stage research pipeline. First, the Planner Agent decomposes the user's research question into smaller research tasks. Then the Research Agent generates search queries and retrieves information from web sources using </a:t>
            </a:r>
            <a:r>
              <a:rPr lang="en-IN" dirty="0" err="1"/>
              <a:t>Tavily</a:t>
            </a:r>
            <a:r>
              <a:rPr lang="en-IN" dirty="0"/>
              <a:t>. The collected sources are filtered for relevance and quality. Next, Hybrid RAG combines vector-based retrieval using FAISS with keyword-based retrieval to find relevant evidence. The Validation Agent checks whether the claims are supported by the collected sources. Finally, the Synthesis Agent generates the final answer from the validated evidence, and the Report Agent generates a structured PDF report.</a:t>
            </a:r>
          </a:p>
          <a:p>
            <a:endParaRPr lang="en-IN" dirty="0"/>
          </a:p>
          <a:p>
            <a:pPr lvl="0"/>
            <a:r>
              <a:rPr lang="en-IN" b="1" dirty="0"/>
              <a:t>Task Decomposition</a:t>
            </a:r>
            <a:r>
              <a:rPr lang="en-IN" dirty="0"/>
              <a:t> — Planner Agent breaks the question into research tasks. </a:t>
            </a:r>
          </a:p>
          <a:p>
            <a:pPr lvl="0"/>
            <a:r>
              <a:rPr lang="en-IN" b="1" dirty="0"/>
              <a:t>Information Retrieval</a:t>
            </a:r>
            <a:r>
              <a:rPr lang="en-IN" dirty="0"/>
              <a:t> — Research Agent retrieves web sources through </a:t>
            </a:r>
            <a:r>
              <a:rPr lang="en-IN" dirty="0" err="1"/>
              <a:t>Tavily</a:t>
            </a:r>
            <a:r>
              <a:rPr lang="en-IN" dirty="0"/>
              <a:t>. </a:t>
            </a:r>
          </a:p>
          <a:p>
            <a:pPr lvl="0"/>
            <a:r>
              <a:rPr lang="en-IN" b="1" dirty="0"/>
              <a:t>Source Filtering</a:t>
            </a:r>
            <a:r>
              <a:rPr lang="en-IN" dirty="0"/>
              <a:t> — unsuitable or lower-quality sources are filtered. </a:t>
            </a:r>
          </a:p>
          <a:p>
            <a:pPr lvl="0"/>
            <a:r>
              <a:rPr lang="en-IN" b="1" dirty="0"/>
              <a:t>Hybrid Retrieval</a:t>
            </a:r>
            <a:r>
              <a:rPr lang="en-IN" dirty="0"/>
              <a:t> — FAISS semantic search + keyword search identify relevant evidence. </a:t>
            </a:r>
          </a:p>
          <a:p>
            <a:pPr lvl="0"/>
            <a:r>
              <a:rPr lang="en-IN" b="1" dirty="0"/>
              <a:t>Evidence Validation</a:t>
            </a:r>
            <a:r>
              <a:rPr lang="en-IN" dirty="0"/>
              <a:t> — Validation Agent checks whether claims are supported. </a:t>
            </a:r>
          </a:p>
          <a:p>
            <a:pPr lvl="0"/>
            <a:r>
              <a:rPr lang="en-IN" b="1" dirty="0"/>
              <a:t>Evidence-Grounded Generation</a:t>
            </a:r>
            <a:r>
              <a:rPr lang="en-IN" dirty="0"/>
              <a:t> — Synthesis Agent generates the final answer and Report Agent creates the PDF.</a:t>
            </a:r>
          </a:p>
          <a:p>
            <a:endParaRPr lang="en-IN" dirty="0"/>
          </a:p>
        </p:txBody>
      </p:sp>
    </p:spTree>
    <p:extLst>
      <p:ext uri="{BB962C8B-B14F-4D97-AF65-F5344CB8AC3E}">
        <p14:creationId xmlns:p14="http://schemas.microsoft.com/office/powerpoint/2010/main" val="39487453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DF6F3"/>
        </a:solidFill>
        <a:effectLst/>
      </p:bgPr>
    </p:bg>
    <p:spTree>
      <p:nvGrpSpPr>
        <p:cNvPr id="1" name=""/>
        <p:cNvGrpSpPr/>
        <p:nvPr/>
      </p:nvGrpSpPr>
      <p:grpSpPr>
        <a:xfrm>
          <a:off x="0" y="0"/>
          <a:ext cx="0" cy="0"/>
          <a:chOff x="0" y="0"/>
          <a:chExt cx="0" cy="0"/>
        </a:xfrm>
      </p:grpSpPr>
      <p:sp>
        <p:nvSpPr>
          <p:cNvPr id="2" name="Shape 0"/>
          <p:cNvSpPr/>
          <p:nvPr/>
        </p:nvSpPr>
        <p:spPr>
          <a:xfrm>
            <a:off x="0" y="6812280"/>
            <a:ext cx="12188952" cy="45720"/>
          </a:xfrm>
          <a:prstGeom prst="rect">
            <a:avLst/>
          </a:prstGeom>
          <a:solidFill>
            <a:srgbClr val="BA2532"/>
          </a:solidFill>
          <a:ln/>
        </p:spPr>
        <p:txBody>
          <a:bodyPr/>
          <a:p/>
        </p:txBody>
      </p:sp>
      <p:pic>
        <p:nvPicPr>
          <p:cNvPr id="3" name="Image 0" descr="/home/claude/work/unpacked/ppt/media/image1.png"/>
          <p:cNvPicPr>
            <a:picLocks noChangeAspect="1"/>
          </p:cNvPicPr>
          <p:nvPr/>
        </p:nvPicPr>
        <p:blipFill>
          <a:blip r:embed="rId3"/>
          <a:stretch>
            <a:fillRect/>
          </a:stretch>
        </p:blipFill>
        <p:spPr>
          <a:xfrm>
            <a:off x="320040" y="256032"/>
            <a:ext cx="1417320" cy="621792"/>
          </a:xfrm>
          <a:prstGeom prst="rect">
            <a:avLst/>
          </a:prstGeom>
        </p:spPr>
      </p:pic>
      <p:sp>
        <p:nvSpPr>
          <p:cNvPr id="5" name="Text 2"/>
          <p:cNvSpPr/>
          <p:nvPr/>
        </p:nvSpPr>
        <p:spPr>
          <a:xfrm>
            <a:off x="2880360" y="320040"/>
            <a:ext cx="9006840" cy="566928"/>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System Architecture — Hierarchical Multi-Agent Design</a:t>
            </a:r>
            <a:endParaRPr lang="en-US" sz="2000" dirty="0"/>
          </a:p>
        </p:txBody>
      </p:sp>
      <p:sp>
        <p:nvSpPr>
          <p:cNvPr id="6" name="Text 3"/>
          <p:cNvSpPr/>
          <p:nvPr/>
        </p:nvSpPr>
        <p:spPr>
          <a:xfrm>
            <a:off x="320040" y="6473952"/>
            <a:ext cx="9601200" cy="274320"/>
          </a:xfrm>
          <a:prstGeom prst="rect">
            <a:avLst/>
          </a:prstGeom>
          <a:noFill/>
          <a:ln/>
        </p:spPr>
        <p:txBody>
          <a:bodyPr wrap="square" rtlCol="0" anchor="ctr"/>
          <a:lstStyle/>
          <a:p>
            <a:pPr marL="0" indent="0">
              <a:buNone/>
            </a:pPr>
            <a:r>
              <a:rPr lang="en-US" sz="900" dirty="0">
                <a:solidFill>
                  <a:srgbClr val="6B6B6B"/>
                </a:solidFill>
                <a:latin typeface="Calibri" pitchFamily="34" charset="0"/>
                <a:ea typeface="Calibri" pitchFamily="34" charset="-122"/>
                <a:cs typeface="Calibri" pitchFamily="34" charset="-120"/>
              </a:rPr>
              <a:t>AI Multi-Agent Research Assistant  |  Applied Machine Learning for Text Analysis</a:t>
            </a:r>
            <a:endParaRPr lang="en-US" sz="900" dirty="0"/>
          </a:p>
        </p:txBody>
      </p:sp>
      <p:sp>
        <p:nvSpPr>
          <p:cNvPr id="7" name="Text 4"/>
          <p:cNvSpPr/>
          <p:nvPr/>
        </p:nvSpPr>
        <p:spPr>
          <a:xfrm>
            <a:off x="11365992" y="6473952"/>
            <a:ext cx="54864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5</a:t>
            </a:r>
            <a:endParaRPr lang="en-US" sz="900" dirty="0"/>
          </a:p>
        </p:txBody>
      </p:sp>
      <p:pic>
        <p:nvPicPr>
          <p:cNvPr id="9" name="Image 1" descr="/home/claude/work/icons/users.png"/>
          <p:cNvPicPr>
            <a:picLocks noChangeAspect="1"/>
          </p:cNvPicPr>
          <p:nvPr/>
        </p:nvPicPr>
        <p:blipFill>
          <a:blip r:embed="rId4"/>
          <a:stretch>
            <a:fillRect/>
          </a:stretch>
        </p:blipFill>
        <p:spPr>
          <a:xfrm>
            <a:off x="5047488" y="1495044"/>
            <a:ext cx="347472" cy="347472"/>
          </a:xfrm>
          <a:prstGeom prst="rect">
            <a:avLst/>
          </a:prstGeom>
        </p:spPr>
      </p:pic>
      <p:sp>
        <p:nvSpPr>
          <p:cNvPr id="10" name="Text 6"/>
          <p:cNvSpPr/>
          <p:nvPr/>
        </p:nvSpPr>
        <p:spPr>
          <a:xfrm>
            <a:off x="5440680" y="1280160"/>
            <a:ext cx="1691640" cy="777240"/>
          </a:xfrm>
          <a:prstGeom prst="rect">
            <a:avLst/>
          </a:prstGeom>
          <a:noFill/>
          <a:ln/>
        </p:spPr>
        <p:txBody>
          <a:bodyPr wrap="square" rtlCol="0" anchor="ctr"/>
          <a:lstStyle/>
          <a:p>
            <a:pPr marL="0" indent="0" algn="l">
              <a:buNone/>
            </a:pPr>
            <a:r>
              <a:rPr lang="en-US" sz="1150" b="1" dirty="0">
                <a:solidFill>
                  <a:srgbClr val="FFFFFF"/>
                </a:solidFill>
                <a:latin typeface="Calibri" pitchFamily="34" charset="0"/>
                <a:ea typeface="Calibri" pitchFamily="34" charset="-122"/>
                <a:cs typeface="Calibri" pitchFamily="34" charset="-120"/>
              </a:rPr>
              <a:t>User Research Query</a:t>
            </a:r>
            <a:endParaRPr lang="en-US" sz="1150" dirty="0"/>
          </a:p>
        </p:txBody>
      </p:sp>
      <p:pic>
        <p:nvPicPr>
          <p:cNvPr id="13" name="Image 2" descr="/home/claude/work/icons/sitemap.png"/>
          <p:cNvPicPr>
            <a:picLocks noChangeAspect="1"/>
          </p:cNvPicPr>
          <p:nvPr/>
        </p:nvPicPr>
        <p:blipFill>
          <a:blip r:embed="rId5"/>
          <a:stretch>
            <a:fillRect/>
          </a:stretch>
        </p:blipFill>
        <p:spPr>
          <a:xfrm>
            <a:off x="4818888" y="2500884"/>
            <a:ext cx="347472" cy="347472"/>
          </a:xfrm>
          <a:prstGeom prst="rect">
            <a:avLst/>
          </a:prstGeom>
        </p:spPr>
      </p:pic>
      <p:sp>
        <p:nvSpPr>
          <p:cNvPr id="14" name="Text 9"/>
          <p:cNvSpPr/>
          <p:nvPr/>
        </p:nvSpPr>
        <p:spPr>
          <a:xfrm>
            <a:off x="5212080" y="2286000"/>
            <a:ext cx="2148840" cy="777240"/>
          </a:xfrm>
          <a:prstGeom prst="rect">
            <a:avLst/>
          </a:prstGeom>
          <a:noFill/>
          <a:ln/>
        </p:spPr>
        <p:txBody>
          <a:bodyPr wrap="square" rtlCol="0" anchor="ctr"/>
          <a:lstStyle/>
          <a:p>
            <a:pPr marL="0" indent="0" algn="l">
              <a:buNone/>
            </a:pPr>
            <a:r>
              <a:rPr lang="en-US" sz="1150" b="1" dirty="0">
                <a:solidFill>
                  <a:srgbClr val="FFFFFF"/>
                </a:solidFill>
                <a:latin typeface="Calibri" pitchFamily="34" charset="0"/>
                <a:ea typeface="Calibri" pitchFamily="34" charset="-122"/>
                <a:cs typeface="Calibri" pitchFamily="34" charset="-120"/>
              </a:rPr>
              <a:t>Planner / Orchestrator Agent</a:t>
            </a:r>
            <a:endParaRPr lang="en-US" sz="1150" dirty="0"/>
          </a:p>
          <a:p>
            <a:pPr marL="0" indent="0" algn="l">
              <a:buNone/>
            </a:pPr>
            <a:r>
              <a:rPr lang="en-US" sz="1150" b="1" dirty="0">
                <a:solidFill>
                  <a:srgbClr val="FFFFFF"/>
                </a:solidFill>
                <a:latin typeface="Calibri" pitchFamily="34" charset="0"/>
                <a:ea typeface="Calibri" pitchFamily="34" charset="-122"/>
                <a:cs typeface="Calibri" pitchFamily="34" charset="-120"/>
              </a:rPr>
              <a:t>(LLM-based decomposition)</a:t>
            </a:r>
            <a:endParaRPr lang="en-US" sz="1150" dirty="0"/>
          </a:p>
        </p:txBody>
      </p:sp>
      <p:sp>
        <p:nvSpPr>
          <p:cNvPr id="21" name="Text 15"/>
          <p:cNvSpPr/>
          <p:nvPr/>
        </p:nvSpPr>
        <p:spPr>
          <a:xfrm>
            <a:off x="1051560" y="3300984"/>
            <a:ext cx="2057400" cy="777240"/>
          </a:xfrm>
          <a:prstGeom prst="rect">
            <a:avLst/>
          </a:prstGeom>
          <a:noFill/>
          <a:ln/>
        </p:spPr>
        <p:txBody>
          <a:bodyPr wrap="square" rtlCol="0" anchor="ctr"/>
          <a:lstStyle/>
          <a:p>
            <a:pPr marL="0" indent="0" algn="l">
              <a:buNone/>
            </a:pPr>
            <a:endParaRPr lang="en-US" sz="1150" dirty="0"/>
          </a:p>
        </p:txBody>
      </p:sp>
      <p:sp>
        <p:nvSpPr>
          <p:cNvPr id="24" name="Text 17"/>
          <p:cNvSpPr/>
          <p:nvPr/>
        </p:nvSpPr>
        <p:spPr>
          <a:xfrm>
            <a:off x="5257800" y="3300984"/>
            <a:ext cx="2057400" cy="777240"/>
          </a:xfrm>
          <a:prstGeom prst="rect">
            <a:avLst/>
          </a:prstGeom>
          <a:noFill/>
          <a:ln/>
        </p:spPr>
        <p:txBody>
          <a:bodyPr wrap="square" rtlCol="0" anchor="ctr"/>
          <a:lstStyle/>
          <a:p>
            <a:pPr marL="0" indent="0" algn="l">
              <a:buNone/>
            </a:pPr>
            <a:endParaRPr lang="en-US" sz="1150" dirty="0"/>
          </a:p>
        </p:txBody>
      </p:sp>
      <p:sp>
        <p:nvSpPr>
          <p:cNvPr id="27" name="Text 19"/>
          <p:cNvSpPr/>
          <p:nvPr/>
        </p:nvSpPr>
        <p:spPr>
          <a:xfrm>
            <a:off x="9464040" y="3300984"/>
            <a:ext cx="2057400" cy="777240"/>
          </a:xfrm>
          <a:prstGeom prst="rect">
            <a:avLst/>
          </a:prstGeom>
          <a:noFill/>
          <a:ln/>
        </p:spPr>
        <p:txBody>
          <a:bodyPr wrap="square" rtlCol="0" anchor="ctr"/>
          <a:lstStyle/>
          <a:p>
            <a:pPr marL="0" indent="0" algn="l">
              <a:buNone/>
            </a:pPr>
            <a:endParaRPr lang="en-US" sz="1150" dirty="0"/>
          </a:p>
        </p:txBody>
      </p:sp>
      <p:pic>
        <p:nvPicPr>
          <p:cNvPr id="37" name="Image 6" descr="/home/claude/work/icons/brain.png"/>
          <p:cNvPicPr>
            <a:picLocks noChangeAspect="1"/>
          </p:cNvPicPr>
          <p:nvPr/>
        </p:nvPicPr>
        <p:blipFill>
          <a:blip r:embed="rId6"/>
          <a:stretch>
            <a:fillRect/>
          </a:stretch>
        </p:blipFill>
        <p:spPr>
          <a:xfrm>
            <a:off x="4590288" y="4951476"/>
            <a:ext cx="347472" cy="347472"/>
          </a:xfrm>
          <a:prstGeom prst="rect">
            <a:avLst/>
          </a:prstGeom>
        </p:spPr>
      </p:pic>
      <p:sp>
        <p:nvSpPr>
          <p:cNvPr id="38" name="Text 29"/>
          <p:cNvSpPr/>
          <p:nvPr/>
        </p:nvSpPr>
        <p:spPr>
          <a:xfrm>
            <a:off x="4983480" y="4736592"/>
            <a:ext cx="2606040" cy="777240"/>
          </a:xfrm>
          <a:prstGeom prst="rect">
            <a:avLst/>
          </a:prstGeom>
          <a:noFill/>
          <a:ln/>
        </p:spPr>
        <p:txBody>
          <a:bodyPr wrap="square" rtlCol="0" anchor="ctr"/>
          <a:lstStyle/>
          <a:p>
            <a:pPr marL="0" indent="0" algn="l">
              <a:buNone/>
            </a:pPr>
            <a:endParaRPr lang="en-US" sz="1150" dirty="0"/>
          </a:p>
        </p:txBody>
      </p:sp>
      <p:pic>
        <p:nvPicPr>
          <p:cNvPr id="41" name="Image 7" descr="/home/claude/work/icons/report.png"/>
          <p:cNvPicPr>
            <a:picLocks noChangeAspect="1"/>
          </p:cNvPicPr>
          <p:nvPr/>
        </p:nvPicPr>
        <p:blipFill>
          <a:blip r:embed="rId7"/>
          <a:stretch>
            <a:fillRect/>
          </a:stretch>
        </p:blipFill>
        <p:spPr>
          <a:xfrm>
            <a:off x="3904488" y="6003036"/>
            <a:ext cx="347472" cy="347472"/>
          </a:xfrm>
          <a:prstGeom prst="rect">
            <a:avLst/>
          </a:prstGeom>
        </p:spPr>
      </p:pic>
      <p:sp>
        <p:nvSpPr>
          <p:cNvPr id="42" name="Text 32"/>
          <p:cNvSpPr/>
          <p:nvPr/>
        </p:nvSpPr>
        <p:spPr>
          <a:xfrm>
            <a:off x="4297680" y="5788152"/>
            <a:ext cx="3429000" cy="777240"/>
          </a:xfrm>
          <a:prstGeom prst="rect">
            <a:avLst/>
          </a:prstGeom>
          <a:noFill/>
          <a:ln/>
        </p:spPr>
        <p:txBody>
          <a:bodyPr wrap="square" rtlCol="0" anchor="ctr"/>
          <a:lstStyle/>
          <a:p>
            <a:pPr marL="0" indent="0" algn="l">
              <a:buNone/>
            </a:pPr>
            <a:r>
              <a:rPr lang="en-US" sz="1150" b="1" dirty="0">
                <a:solidFill>
                  <a:srgbClr val="FFFFFF"/>
                </a:solidFill>
                <a:latin typeface="Calibri" pitchFamily="34" charset="0"/>
                <a:ea typeface="Calibri" pitchFamily="34" charset="-122"/>
                <a:cs typeface="Calibri" pitchFamily="34" charset="-120"/>
              </a:rPr>
              <a:t>Structured Report + Citations + Confidence Score</a:t>
            </a:r>
            <a:endParaRPr lang="en-US" sz="1150" dirty="0"/>
          </a:p>
        </p:txBody>
      </p:sp>
      <p:pic>
        <p:nvPicPr>
          <p:cNvPr id="44" name="Picture 43">
            <a:extLst>
              <a:ext uri="{FF2B5EF4-FFF2-40B4-BE49-F238E27FC236}">
                <a16:creationId xmlns:a16="http://schemas.microsoft.com/office/drawing/2014/main" id="{BA333D23-6B48-771B-E856-265DE6DA0990}"/>
              </a:ext>
            </a:extLst>
          </p:cNvPr>
          <p:cNvPicPr>
            <a:picLocks noChangeAspect="1"/>
          </p:cNvPicPr>
          <p:nvPr/>
        </p:nvPicPr>
        <p:blipFill>
          <a:blip r:embed="rId8"/>
          <a:stretch>
            <a:fillRect/>
          </a:stretch>
        </p:blipFill>
        <p:spPr>
          <a:xfrm>
            <a:off x="950976" y="921213"/>
            <a:ext cx="10287000" cy="542929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DF6F3"/>
        </a:solidFill>
        <a:effectLst/>
      </p:bgPr>
    </p:bg>
    <p:spTree>
      <p:nvGrpSpPr>
        <p:cNvPr id="1" name=""/>
        <p:cNvGrpSpPr/>
        <p:nvPr/>
      </p:nvGrpSpPr>
      <p:grpSpPr>
        <a:xfrm>
          <a:off x="0" y="0"/>
          <a:ext cx="0" cy="0"/>
          <a:chOff x="0" y="0"/>
          <a:chExt cx="0" cy="0"/>
        </a:xfrm>
      </p:grpSpPr>
      <p:sp>
        <p:nvSpPr>
          <p:cNvPr id="2" name="Shape 0"/>
          <p:cNvSpPr/>
          <p:nvPr/>
        </p:nvSpPr>
        <p:spPr>
          <a:xfrm>
            <a:off x="0" y="6812280"/>
            <a:ext cx="12188952" cy="45720"/>
          </a:xfrm>
          <a:prstGeom prst="rect">
            <a:avLst/>
          </a:prstGeom>
          <a:solidFill>
            <a:srgbClr val="BA2532"/>
          </a:solidFill>
          <a:ln/>
        </p:spPr>
        <p:txBody>
          <a:bodyPr/>
          <a:p/>
        </p:txBody>
      </p:sp>
      <p:pic>
        <p:nvPicPr>
          <p:cNvPr id="3" name="Image 0" descr="/home/claude/work/unpacked/ppt/media/image1.png"/>
          <p:cNvPicPr>
            <a:picLocks noChangeAspect="1"/>
          </p:cNvPicPr>
          <p:nvPr/>
        </p:nvPicPr>
        <p:blipFill>
          <a:blip r:embed="rId3"/>
          <a:stretch>
            <a:fillRect/>
          </a:stretch>
        </p:blipFill>
        <p:spPr>
          <a:xfrm>
            <a:off x="320040" y="256032"/>
            <a:ext cx="1417320" cy="621792"/>
          </a:xfrm>
          <a:prstGeom prst="rect">
            <a:avLst/>
          </a:prstGeom>
        </p:spPr>
      </p:pic>
      <p:sp>
        <p:nvSpPr>
          <p:cNvPr id="4" name="Shape 1"/>
          <p:cNvSpPr/>
          <p:nvPr/>
        </p:nvSpPr>
        <p:spPr>
          <a:xfrm>
            <a:off x="2880360" y="320040"/>
            <a:ext cx="9006840" cy="566928"/>
          </a:xfrm>
          <a:prstGeom prst="rect">
            <a:avLst/>
          </a:prstGeom>
          <a:solidFill>
            <a:srgbClr val="C00000"/>
          </a:solidFill>
          <a:ln/>
        </p:spPr>
        <p:txBody>
          <a:bodyPr/>
          <a:p/>
        </p:txBody>
      </p:sp>
      <p:sp>
        <p:nvSpPr>
          <p:cNvPr id="5" name="Text 2"/>
          <p:cNvSpPr/>
          <p:nvPr/>
        </p:nvSpPr>
        <p:spPr>
          <a:xfrm>
            <a:off x="2880360" y="320040"/>
            <a:ext cx="9006840" cy="566928"/>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Modern Tools and Technologies</a:t>
            </a:r>
            <a:endParaRPr lang="en-US" sz="2000" dirty="0"/>
          </a:p>
        </p:txBody>
      </p:sp>
      <p:sp>
        <p:nvSpPr>
          <p:cNvPr id="6" name="Text 3"/>
          <p:cNvSpPr/>
          <p:nvPr/>
        </p:nvSpPr>
        <p:spPr>
          <a:xfrm>
            <a:off x="320040" y="6473952"/>
            <a:ext cx="9601200" cy="274320"/>
          </a:xfrm>
          <a:prstGeom prst="rect">
            <a:avLst/>
          </a:prstGeom>
          <a:noFill/>
          <a:ln/>
        </p:spPr>
        <p:txBody>
          <a:bodyPr wrap="square" rtlCol="0" anchor="ctr"/>
          <a:lstStyle/>
          <a:p>
            <a:pPr marL="0" indent="0">
              <a:buNone/>
            </a:pPr>
            <a:r>
              <a:rPr lang="en-US" sz="900" dirty="0">
                <a:solidFill>
                  <a:srgbClr val="6B6B6B"/>
                </a:solidFill>
                <a:latin typeface="Calibri" pitchFamily="34" charset="0"/>
                <a:ea typeface="Calibri" pitchFamily="34" charset="-122"/>
                <a:cs typeface="Calibri" pitchFamily="34" charset="-120"/>
              </a:rPr>
              <a:t>AI Multi-Agent Research Assistant  |  Applied Machine Learning for Text Analysis</a:t>
            </a:r>
            <a:endParaRPr lang="en-US" sz="900" dirty="0"/>
          </a:p>
        </p:txBody>
      </p:sp>
      <p:sp>
        <p:nvSpPr>
          <p:cNvPr id="7" name="Text 4"/>
          <p:cNvSpPr/>
          <p:nvPr/>
        </p:nvSpPr>
        <p:spPr>
          <a:xfrm>
            <a:off x="11365992" y="6473952"/>
            <a:ext cx="54864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7</a:t>
            </a:r>
            <a:endParaRPr lang="en-US" sz="900" dirty="0"/>
          </a:p>
        </p:txBody>
      </p:sp>
      <p:sp>
        <p:nvSpPr>
          <p:cNvPr id="8" name="Shape 5"/>
          <p:cNvSpPr/>
          <p:nvPr/>
        </p:nvSpPr>
        <p:spPr>
          <a:xfrm>
            <a:off x="635508" y="1600200"/>
            <a:ext cx="2606040" cy="2148840"/>
          </a:xfrm>
          <a:prstGeom prst="roundRect">
            <a:avLst>
              <a:gd name="adj" fmla="val 4255"/>
            </a:avLst>
          </a:prstGeom>
          <a:solidFill>
            <a:srgbClr val="FFFFFF"/>
          </a:solidFill>
          <a:ln w="12700">
            <a:solidFill>
              <a:srgbClr val="F7E1DE"/>
            </a:solidFill>
            <a:prstDash val="solid"/>
          </a:ln>
          <a:effectLst>
            <a:outerShdw blurRad="101600" dist="25400" dir="5400000" algn="bl" rotWithShape="0">
              <a:srgbClr val="444444">
                <a:alpha val="12000"/>
              </a:srgbClr>
            </a:outerShdw>
          </a:effectLst>
        </p:spPr>
        <p:txBody>
          <a:bodyPr/>
          <a:p/>
        </p:txBody>
      </p:sp>
      <p:sp>
        <p:nvSpPr>
          <p:cNvPr id="9" name="Shape 6"/>
          <p:cNvSpPr/>
          <p:nvPr/>
        </p:nvSpPr>
        <p:spPr>
          <a:xfrm>
            <a:off x="1536192" y="1856232"/>
            <a:ext cx="804672" cy="804672"/>
          </a:xfrm>
          <a:prstGeom prst="ellipse">
            <a:avLst/>
          </a:prstGeom>
          <a:solidFill>
            <a:srgbClr val="C00000"/>
          </a:solidFill>
          <a:ln/>
          <a:effectLst>
            <a:outerShdw blurRad="76200" dist="25400" dir="5400000" algn="bl" rotWithShape="0">
              <a:srgbClr val="9B1B1B">
                <a:alpha val="25000"/>
              </a:srgbClr>
            </a:outerShdw>
          </a:effectLst>
        </p:spPr>
        <p:txBody>
          <a:bodyPr/>
          <a:p/>
        </p:txBody>
      </p:sp>
      <p:pic>
        <p:nvPicPr>
          <p:cNvPr id="10" name="Image 1" descr="/home/claude/work/icons/python_w.png"/>
          <p:cNvPicPr>
            <a:picLocks noChangeAspect="1"/>
          </p:cNvPicPr>
          <p:nvPr/>
        </p:nvPicPr>
        <p:blipFill>
          <a:blip r:embed="rId4"/>
          <a:stretch>
            <a:fillRect/>
          </a:stretch>
        </p:blipFill>
        <p:spPr>
          <a:xfrm>
            <a:off x="1745407" y="2065447"/>
            <a:ext cx="386243" cy="386243"/>
          </a:xfrm>
          <a:prstGeom prst="rect">
            <a:avLst/>
          </a:prstGeom>
        </p:spPr>
      </p:pic>
      <p:sp>
        <p:nvSpPr>
          <p:cNvPr id="11" name="Text 7"/>
          <p:cNvSpPr/>
          <p:nvPr/>
        </p:nvSpPr>
        <p:spPr>
          <a:xfrm>
            <a:off x="772668" y="2770632"/>
            <a:ext cx="2331720" cy="320040"/>
          </a:xfrm>
          <a:prstGeom prst="rect">
            <a:avLst/>
          </a:prstGeom>
          <a:noFill/>
          <a:ln/>
        </p:spPr>
        <p:txBody>
          <a:bodyPr wrap="square" rtlCol="0" anchor="ctr"/>
          <a:lstStyle/>
          <a:p>
            <a:pPr marL="0" indent="0" algn="ctr">
              <a:buNone/>
            </a:pPr>
            <a:r>
              <a:rPr lang="en-US" sz="1350" b="1" dirty="0">
                <a:solidFill>
                  <a:srgbClr val="2B2B2B"/>
                </a:solidFill>
                <a:latin typeface="Calibri" pitchFamily="34" charset="0"/>
                <a:ea typeface="Calibri" pitchFamily="34" charset="-122"/>
                <a:cs typeface="Calibri" pitchFamily="34" charset="-120"/>
              </a:rPr>
              <a:t>Python</a:t>
            </a:r>
            <a:endParaRPr lang="en-US" sz="1350" dirty="0"/>
          </a:p>
        </p:txBody>
      </p:sp>
      <p:sp>
        <p:nvSpPr>
          <p:cNvPr id="12" name="Text 8"/>
          <p:cNvSpPr/>
          <p:nvPr/>
        </p:nvSpPr>
        <p:spPr>
          <a:xfrm>
            <a:off x="800100" y="3099816"/>
            <a:ext cx="2276856" cy="594360"/>
          </a:xfrm>
          <a:prstGeom prst="rect">
            <a:avLst/>
          </a:prstGeom>
          <a:noFill/>
          <a:ln/>
        </p:spPr>
        <p:txBody>
          <a:bodyPr wrap="square" rtlCol="0" anchor="ctr"/>
          <a:lstStyle/>
          <a:p>
            <a:pPr marL="0" indent="0" algn="ctr">
              <a:lnSpc>
                <a:spcPct val="105000"/>
              </a:lnSpc>
              <a:buNone/>
            </a:pPr>
            <a:r>
              <a:rPr lang="en-US" sz="1000" dirty="0">
                <a:solidFill>
                  <a:srgbClr val="6B6B6B"/>
                </a:solidFill>
                <a:latin typeface="Calibri" pitchFamily="34" charset="0"/>
                <a:ea typeface="Calibri" pitchFamily="34" charset="-122"/>
                <a:cs typeface="Calibri" pitchFamily="34" charset="-120"/>
              </a:rPr>
              <a:t>Core orchestration &amp; agent logic</a:t>
            </a:r>
            <a:endParaRPr lang="en-US" sz="1000" dirty="0"/>
          </a:p>
        </p:txBody>
      </p:sp>
      <p:sp>
        <p:nvSpPr>
          <p:cNvPr id="13" name="Shape 9"/>
          <p:cNvSpPr/>
          <p:nvPr/>
        </p:nvSpPr>
        <p:spPr>
          <a:xfrm>
            <a:off x="3406140" y="1600200"/>
            <a:ext cx="2606040" cy="2148840"/>
          </a:xfrm>
          <a:prstGeom prst="roundRect">
            <a:avLst>
              <a:gd name="adj" fmla="val 4255"/>
            </a:avLst>
          </a:prstGeom>
          <a:solidFill>
            <a:srgbClr val="FFFFFF"/>
          </a:solidFill>
          <a:ln w="12700">
            <a:solidFill>
              <a:srgbClr val="F7E1DE"/>
            </a:solidFill>
            <a:prstDash val="solid"/>
          </a:ln>
          <a:effectLst>
            <a:outerShdw blurRad="101600" dist="25400" dir="5400000" algn="bl" rotWithShape="0">
              <a:srgbClr val="444444">
                <a:alpha val="12000"/>
              </a:srgbClr>
            </a:outerShdw>
          </a:effectLst>
        </p:spPr>
        <p:txBody>
          <a:bodyPr/>
          <a:p/>
        </p:txBody>
      </p:sp>
      <p:sp>
        <p:nvSpPr>
          <p:cNvPr id="14" name="Shape 10"/>
          <p:cNvSpPr/>
          <p:nvPr/>
        </p:nvSpPr>
        <p:spPr>
          <a:xfrm>
            <a:off x="4306824" y="1856232"/>
            <a:ext cx="804672" cy="804672"/>
          </a:xfrm>
          <a:prstGeom prst="ellipse">
            <a:avLst/>
          </a:prstGeom>
          <a:solidFill>
            <a:srgbClr val="C00000"/>
          </a:solidFill>
          <a:ln/>
          <a:effectLst>
            <a:outerShdw blurRad="76200" dist="25400" dir="5400000" algn="bl" rotWithShape="0">
              <a:srgbClr val="9B1B1B">
                <a:alpha val="25000"/>
              </a:srgbClr>
            </a:outerShdw>
          </a:effectLst>
        </p:spPr>
        <p:txBody>
          <a:bodyPr/>
          <a:p/>
        </p:txBody>
      </p:sp>
      <p:pic>
        <p:nvPicPr>
          <p:cNvPr id="15" name="Image 2" descr="/home/claude/work/icons/fastapi_w.png"/>
          <p:cNvPicPr>
            <a:picLocks noChangeAspect="1"/>
          </p:cNvPicPr>
          <p:nvPr/>
        </p:nvPicPr>
        <p:blipFill>
          <a:blip r:embed="rId5"/>
          <a:stretch>
            <a:fillRect/>
          </a:stretch>
        </p:blipFill>
        <p:spPr>
          <a:xfrm>
            <a:off x="4516039" y="2065447"/>
            <a:ext cx="386243" cy="386243"/>
          </a:xfrm>
          <a:prstGeom prst="rect">
            <a:avLst/>
          </a:prstGeom>
        </p:spPr>
      </p:pic>
      <p:sp>
        <p:nvSpPr>
          <p:cNvPr id="16" name="Text 11"/>
          <p:cNvSpPr/>
          <p:nvPr/>
        </p:nvSpPr>
        <p:spPr>
          <a:xfrm>
            <a:off x="3543300" y="2770632"/>
            <a:ext cx="2331720" cy="320040"/>
          </a:xfrm>
          <a:prstGeom prst="rect">
            <a:avLst/>
          </a:prstGeom>
          <a:noFill/>
          <a:ln/>
        </p:spPr>
        <p:txBody>
          <a:bodyPr wrap="square" rtlCol="0" anchor="ctr"/>
          <a:lstStyle/>
          <a:p>
            <a:pPr marL="0" indent="0" algn="ctr">
              <a:buNone/>
            </a:pPr>
            <a:r>
              <a:rPr lang="en-US" sz="1350" b="1" dirty="0">
                <a:solidFill>
                  <a:srgbClr val="2B2B2B"/>
                </a:solidFill>
                <a:latin typeface="Calibri" pitchFamily="34" charset="0"/>
                <a:ea typeface="Calibri" pitchFamily="34" charset="-122"/>
                <a:cs typeface="Calibri" pitchFamily="34" charset="-120"/>
              </a:rPr>
              <a:t>FastAPI</a:t>
            </a:r>
            <a:endParaRPr lang="en-US" sz="1350" dirty="0"/>
          </a:p>
        </p:txBody>
      </p:sp>
      <p:sp>
        <p:nvSpPr>
          <p:cNvPr id="17" name="Text 12"/>
          <p:cNvSpPr/>
          <p:nvPr/>
        </p:nvSpPr>
        <p:spPr>
          <a:xfrm>
            <a:off x="3570732" y="3099816"/>
            <a:ext cx="2276856" cy="594360"/>
          </a:xfrm>
          <a:prstGeom prst="rect">
            <a:avLst/>
          </a:prstGeom>
          <a:noFill/>
          <a:ln/>
        </p:spPr>
        <p:txBody>
          <a:bodyPr wrap="square" rtlCol="0" anchor="ctr"/>
          <a:lstStyle/>
          <a:p>
            <a:pPr marL="0" indent="0" algn="ctr">
              <a:lnSpc>
                <a:spcPct val="105000"/>
              </a:lnSpc>
              <a:buNone/>
            </a:pPr>
            <a:r>
              <a:rPr lang="en-US" sz="1000" dirty="0">
                <a:solidFill>
                  <a:srgbClr val="6B6B6B"/>
                </a:solidFill>
                <a:latin typeface="Calibri" pitchFamily="34" charset="0"/>
                <a:ea typeface="Calibri" pitchFamily="34" charset="-122"/>
                <a:cs typeface="Calibri" pitchFamily="34" charset="-120"/>
              </a:rPr>
              <a:t>Scalable service-layer deployment</a:t>
            </a:r>
            <a:endParaRPr lang="en-US" sz="1000" dirty="0"/>
          </a:p>
        </p:txBody>
      </p:sp>
      <p:sp>
        <p:nvSpPr>
          <p:cNvPr id="18" name="Shape 13"/>
          <p:cNvSpPr/>
          <p:nvPr/>
        </p:nvSpPr>
        <p:spPr>
          <a:xfrm>
            <a:off x="6176772" y="1600200"/>
            <a:ext cx="2606040" cy="2148840"/>
          </a:xfrm>
          <a:prstGeom prst="roundRect">
            <a:avLst>
              <a:gd name="adj" fmla="val 4255"/>
            </a:avLst>
          </a:prstGeom>
          <a:solidFill>
            <a:srgbClr val="FFFFFF"/>
          </a:solidFill>
          <a:ln w="12700">
            <a:solidFill>
              <a:srgbClr val="F7E1DE"/>
            </a:solidFill>
            <a:prstDash val="solid"/>
          </a:ln>
          <a:effectLst>
            <a:outerShdw blurRad="101600" dist="25400" dir="5400000" algn="bl" rotWithShape="0">
              <a:srgbClr val="444444">
                <a:alpha val="12000"/>
              </a:srgbClr>
            </a:outerShdw>
          </a:effectLst>
        </p:spPr>
        <p:txBody>
          <a:bodyPr/>
          <a:p/>
        </p:txBody>
      </p:sp>
      <p:sp>
        <p:nvSpPr>
          <p:cNvPr id="19" name="Shape 14"/>
          <p:cNvSpPr/>
          <p:nvPr/>
        </p:nvSpPr>
        <p:spPr>
          <a:xfrm>
            <a:off x="7077456" y="1856232"/>
            <a:ext cx="804672" cy="804672"/>
          </a:xfrm>
          <a:prstGeom prst="ellipse">
            <a:avLst/>
          </a:prstGeom>
          <a:solidFill>
            <a:srgbClr val="C00000"/>
          </a:solidFill>
          <a:ln/>
          <a:effectLst>
            <a:outerShdw blurRad="76200" dist="25400" dir="5400000" algn="bl" rotWithShape="0">
              <a:srgbClr val="9B1B1B">
                <a:alpha val="25000"/>
              </a:srgbClr>
            </a:outerShdw>
          </a:effectLst>
        </p:spPr>
        <p:txBody>
          <a:bodyPr/>
          <a:p/>
        </p:txBody>
      </p:sp>
      <p:pic>
        <p:nvPicPr>
          <p:cNvPr id="20" name="Image 3" descr="/home/claude/work/icons/sitemap.png"/>
          <p:cNvPicPr>
            <a:picLocks noChangeAspect="1"/>
          </p:cNvPicPr>
          <p:nvPr/>
        </p:nvPicPr>
        <p:blipFill>
          <a:blip r:embed="rId6"/>
          <a:stretch>
            <a:fillRect/>
          </a:stretch>
        </p:blipFill>
        <p:spPr>
          <a:xfrm>
            <a:off x="7286671" y="2065447"/>
            <a:ext cx="386243" cy="386243"/>
          </a:xfrm>
          <a:prstGeom prst="rect">
            <a:avLst/>
          </a:prstGeom>
        </p:spPr>
      </p:pic>
      <p:sp>
        <p:nvSpPr>
          <p:cNvPr id="21" name="Text 15"/>
          <p:cNvSpPr/>
          <p:nvPr/>
        </p:nvSpPr>
        <p:spPr>
          <a:xfrm>
            <a:off x="6313932" y="2770632"/>
            <a:ext cx="2331720" cy="320040"/>
          </a:xfrm>
          <a:prstGeom prst="rect">
            <a:avLst/>
          </a:prstGeom>
          <a:noFill/>
          <a:ln/>
        </p:spPr>
        <p:txBody>
          <a:bodyPr wrap="square" rtlCol="0" anchor="ctr"/>
          <a:lstStyle/>
          <a:p>
            <a:pPr marL="0" indent="0" algn="ctr">
              <a:buNone/>
            </a:pPr>
            <a:r>
              <a:rPr lang="en-US" sz="1350" b="1" dirty="0" err="1">
                <a:solidFill>
                  <a:srgbClr val="2B2B2B"/>
                </a:solidFill>
                <a:latin typeface="Calibri" pitchFamily="34" charset="0"/>
                <a:ea typeface="Calibri" pitchFamily="34" charset="-122"/>
                <a:cs typeface="Calibri" pitchFamily="34" charset="-120"/>
              </a:rPr>
              <a:t>LangChain</a:t>
            </a:r>
            <a:endParaRPr lang="en-US" sz="1350" b="1" dirty="0">
              <a:solidFill>
                <a:srgbClr val="2B2B2B"/>
              </a:solidFill>
              <a:latin typeface="Calibri" pitchFamily="34" charset="0"/>
              <a:ea typeface="Calibri" pitchFamily="34" charset="-122"/>
              <a:cs typeface="Calibri" pitchFamily="34" charset="-120"/>
            </a:endParaRPr>
          </a:p>
          <a:p>
            <a:pPr marL="0" indent="0" algn="ctr">
              <a:buNone/>
            </a:pPr>
            <a:endParaRPr lang="en-US" sz="1350" dirty="0"/>
          </a:p>
        </p:txBody>
      </p:sp>
      <p:sp>
        <p:nvSpPr>
          <p:cNvPr id="22" name="Text 16"/>
          <p:cNvSpPr/>
          <p:nvPr/>
        </p:nvSpPr>
        <p:spPr>
          <a:xfrm>
            <a:off x="6341364" y="3099816"/>
            <a:ext cx="2276856" cy="594360"/>
          </a:xfrm>
          <a:prstGeom prst="rect">
            <a:avLst/>
          </a:prstGeom>
          <a:noFill/>
          <a:ln/>
        </p:spPr>
        <p:txBody>
          <a:bodyPr wrap="square" rtlCol="0" anchor="ctr"/>
          <a:lstStyle/>
          <a:p>
            <a:r>
              <a:t>LLM and agent integration</a:t>
            </a:r>
          </a:p>
        </p:txBody>
      </p:sp>
      <p:sp>
        <p:nvSpPr>
          <p:cNvPr id="23" name="Shape 17"/>
          <p:cNvSpPr/>
          <p:nvPr/>
        </p:nvSpPr>
        <p:spPr>
          <a:xfrm>
            <a:off x="8947404" y="1600200"/>
            <a:ext cx="2606040" cy="2148840"/>
          </a:xfrm>
          <a:prstGeom prst="roundRect">
            <a:avLst>
              <a:gd name="adj" fmla="val 4255"/>
            </a:avLst>
          </a:prstGeom>
          <a:solidFill>
            <a:srgbClr val="FFFFFF"/>
          </a:solidFill>
          <a:ln w="12700">
            <a:solidFill>
              <a:srgbClr val="F7E1DE"/>
            </a:solidFill>
            <a:prstDash val="solid"/>
          </a:ln>
          <a:effectLst>
            <a:outerShdw blurRad="101600" dist="25400" dir="5400000" algn="bl" rotWithShape="0">
              <a:srgbClr val="444444">
                <a:alpha val="12000"/>
              </a:srgbClr>
            </a:outerShdw>
          </a:effectLst>
        </p:spPr>
        <p:txBody>
          <a:bodyPr/>
          <a:p/>
        </p:txBody>
      </p:sp>
      <p:sp>
        <p:nvSpPr>
          <p:cNvPr id="24" name="Shape 18"/>
          <p:cNvSpPr/>
          <p:nvPr/>
        </p:nvSpPr>
        <p:spPr>
          <a:xfrm>
            <a:off x="9848088" y="1856232"/>
            <a:ext cx="804672" cy="804672"/>
          </a:xfrm>
          <a:prstGeom prst="ellipse">
            <a:avLst/>
          </a:prstGeom>
          <a:solidFill>
            <a:srgbClr val="C00000"/>
          </a:solidFill>
          <a:ln/>
          <a:effectLst>
            <a:outerShdw blurRad="76200" dist="25400" dir="5400000" algn="bl" rotWithShape="0">
              <a:srgbClr val="9B1B1B">
                <a:alpha val="25000"/>
              </a:srgbClr>
            </a:outerShdw>
          </a:effectLst>
        </p:spPr>
        <p:txBody>
          <a:bodyPr/>
          <a:p/>
        </p:txBody>
      </p:sp>
      <p:pic>
        <p:nvPicPr>
          <p:cNvPr id="25" name="Image 4" descr="/home/claude/work/icons/database.png"/>
          <p:cNvPicPr>
            <a:picLocks noChangeAspect="1"/>
          </p:cNvPicPr>
          <p:nvPr/>
        </p:nvPicPr>
        <p:blipFill>
          <a:blip r:embed="rId7"/>
          <a:stretch>
            <a:fillRect/>
          </a:stretch>
        </p:blipFill>
        <p:spPr>
          <a:xfrm>
            <a:off x="10057303" y="2065447"/>
            <a:ext cx="386243" cy="386243"/>
          </a:xfrm>
          <a:prstGeom prst="rect">
            <a:avLst/>
          </a:prstGeom>
        </p:spPr>
      </p:pic>
      <p:sp>
        <p:nvSpPr>
          <p:cNvPr id="26" name="Text 19"/>
          <p:cNvSpPr/>
          <p:nvPr/>
        </p:nvSpPr>
        <p:spPr>
          <a:xfrm>
            <a:off x="9084564" y="2770632"/>
            <a:ext cx="2331720" cy="320040"/>
          </a:xfrm>
          <a:prstGeom prst="rect">
            <a:avLst/>
          </a:prstGeom>
          <a:noFill/>
          <a:ln/>
        </p:spPr>
        <p:txBody>
          <a:bodyPr wrap="square" rtlCol="0" anchor="ctr"/>
          <a:lstStyle/>
          <a:p>
            <a:r>
              <a:t>FAISS</a:t>
            </a:r>
          </a:p>
        </p:txBody>
      </p:sp>
      <p:sp>
        <p:nvSpPr>
          <p:cNvPr id="27" name="Text 20"/>
          <p:cNvSpPr/>
          <p:nvPr/>
        </p:nvSpPr>
        <p:spPr>
          <a:xfrm>
            <a:off x="9111996" y="3099816"/>
            <a:ext cx="2276856" cy="594360"/>
          </a:xfrm>
          <a:prstGeom prst="rect">
            <a:avLst/>
          </a:prstGeom>
          <a:noFill/>
          <a:ln/>
        </p:spPr>
        <p:txBody>
          <a:bodyPr wrap="square" rtlCol="0" anchor="ctr"/>
          <a:lstStyle/>
          <a:p>
            <a:r>
              <a:t>Vector similarity retrieval component</a:t>
            </a:r>
          </a:p>
        </p:txBody>
      </p:sp>
      <p:sp>
        <p:nvSpPr>
          <p:cNvPr id="28" name="Shape 21"/>
          <p:cNvSpPr/>
          <p:nvPr/>
        </p:nvSpPr>
        <p:spPr>
          <a:xfrm>
            <a:off x="635508" y="3977640"/>
            <a:ext cx="2606040" cy="2148840"/>
          </a:xfrm>
          <a:prstGeom prst="roundRect">
            <a:avLst>
              <a:gd name="adj" fmla="val 4255"/>
            </a:avLst>
          </a:prstGeom>
          <a:solidFill>
            <a:srgbClr val="FFFFFF"/>
          </a:solidFill>
          <a:ln w="12700">
            <a:solidFill>
              <a:srgbClr val="F7E1DE"/>
            </a:solidFill>
            <a:prstDash val="solid"/>
          </a:ln>
          <a:effectLst>
            <a:outerShdw blurRad="101600" dist="25400" dir="5400000" algn="bl" rotWithShape="0">
              <a:srgbClr val="444444">
                <a:alpha val="12000"/>
              </a:srgbClr>
            </a:outerShdw>
          </a:effectLst>
        </p:spPr>
        <p:txBody>
          <a:bodyPr/>
          <a:p/>
        </p:txBody>
      </p:sp>
      <p:sp>
        <p:nvSpPr>
          <p:cNvPr id="29" name="Shape 22"/>
          <p:cNvSpPr/>
          <p:nvPr/>
        </p:nvSpPr>
        <p:spPr>
          <a:xfrm>
            <a:off x="1536192" y="4233672"/>
            <a:ext cx="804672" cy="804672"/>
          </a:xfrm>
          <a:prstGeom prst="ellipse">
            <a:avLst/>
          </a:prstGeom>
          <a:solidFill>
            <a:srgbClr val="C00000"/>
          </a:solidFill>
          <a:ln/>
          <a:effectLst>
            <a:outerShdw blurRad="76200" dist="25400" dir="5400000" algn="bl" rotWithShape="0">
              <a:srgbClr val="9B1B1B">
                <a:alpha val="25000"/>
              </a:srgbClr>
            </a:outerShdw>
          </a:effectLst>
        </p:spPr>
        <p:txBody>
          <a:bodyPr/>
          <a:p/>
        </p:txBody>
      </p:sp>
      <p:pic>
        <p:nvPicPr>
          <p:cNvPr id="30" name="Image 5" descr="/home/claude/work/icons/brain.png"/>
          <p:cNvPicPr>
            <a:picLocks noChangeAspect="1"/>
          </p:cNvPicPr>
          <p:nvPr/>
        </p:nvPicPr>
        <p:blipFill>
          <a:blip r:embed="rId8"/>
          <a:stretch>
            <a:fillRect/>
          </a:stretch>
        </p:blipFill>
        <p:spPr>
          <a:xfrm>
            <a:off x="1745407" y="4442887"/>
            <a:ext cx="386243" cy="386243"/>
          </a:xfrm>
          <a:prstGeom prst="rect">
            <a:avLst/>
          </a:prstGeom>
        </p:spPr>
      </p:pic>
      <p:sp>
        <p:nvSpPr>
          <p:cNvPr id="31" name="Text 23"/>
          <p:cNvSpPr/>
          <p:nvPr/>
        </p:nvSpPr>
        <p:spPr>
          <a:xfrm>
            <a:off x="772668" y="5148072"/>
            <a:ext cx="2331720" cy="320040"/>
          </a:xfrm>
          <a:prstGeom prst="rect">
            <a:avLst/>
          </a:prstGeom>
          <a:noFill/>
          <a:ln/>
        </p:spPr>
        <p:txBody>
          <a:bodyPr wrap="square" rtlCol="0" anchor="ctr"/>
          <a:lstStyle/>
          <a:p>
            <a:r>
              <a:t>Llama 3.1 8B + Ollama</a:t>
            </a:r>
          </a:p>
        </p:txBody>
      </p:sp>
      <p:sp>
        <p:nvSpPr>
          <p:cNvPr id="32" name="Text 24"/>
          <p:cNvSpPr/>
          <p:nvPr/>
        </p:nvSpPr>
        <p:spPr>
          <a:xfrm>
            <a:off x="800100" y="5477256"/>
            <a:ext cx="2276856" cy="594360"/>
          </a:xfrm>
          <a:prstGeom prst="rect">
            <a:avLst/>
          </a:prstGeom>
          <a:noFill/>
          <a:ln/>
        </p:spPr>
        <p:txBody>
          <a:bodyPr wrap="square" rtlCol="0" anchor="ctr"/>
          <a:lstStyle/>
          <a:p>
            <a:r>
              <a:t>Local LLM inference for planning and synthesis</a:t>
            </a:r>
          </a:p>
        </p:txBody>
      </p:sp>
      <p:sp>
        <p:nvSpPr>
          <p:cNvPr id="33" name="Shape 25"/>
          <p:cNvSpPr/>
          <p:nvPr/>
        </p:nvSpPr>
        <p:spPr>
          <a:xfrm>
            <a:off x="3406140" y="3977640"/>
            <a:ext cx="2606040" cy="2148840"/>
          </a:xfrm>
          <a:prstGeom prst="roundRect">
            <a:avLst>
              <a:gd name="adj" fmla="val 4255"/>
            </a:avLst>
          </a:prstGeom>
          <a:solidFill>
            <a:srgbClr val="FFFFFF"/>
          </a:solidFill>
          <a:ln w="12700">
            <a:solidFill>
              <a:srgbClr val="F7E1DE"/>
            </a:solidFill>
            <a:prstDash val="solid"/>
          </a:ln>
          <a:effectLst>
            <a:outerShdw blurRad="101600" dist="25400" dir="5400000" algn="bl" rotWithShape="0">
              <a:srgbClr val="444444">
                <a:alpha val="12000"/>
              </a:srgbClr>
            </a:outerShdw>
          </a:effectLst>
        </p:spPr>
        <p:txBody>
          <a:bodyPr/>
          <a:p/>
        </p:txBody>
      </p:sp>
      <p:sp>
        <p:nvSpPr>
          <p:cNvPr id="34" name="Shape 26"/>
          <p:cNvSpPr/>
          <p:nvPr/>
        </p:nvSpPr>
        <p:spPr>
          <a:xfrm>
            <a:off x="4306824" y="4233672"/>
            <a:ext cx="804672" cy="804672"/>
          </a:xfrm>
          <a:prstGeom prst="ellipse">
            <a:avLst/>
          </a:prstGeom>
          <a:solidFill>
            <a:srgbClr val="C00000"/>
          </a:solidFill>
          <a:ln/>
          <a:effectLst>
            <a:outerShdw blurRad="76200" dist="25400" dir="5400000" algn="bl" rotWithShape="0">
              <a:srgbClr val="9B1B1B">
                <a:alpha val="25000"/>
              </a:srgbClr>
            </a:outerShdw>
          </a:effectLst>
        </p:spPr>
        <p:txBody>
          <a:bodyPr/>
          <a:p/>
        </p:txBody>
      </p:sp>
      <p:pic>
        <p:nvPicPr>
          <p:cNvPr id="35" name="Image 6" descr="/home/claude/work/icons/search.png"/>
          <p:cNvPicPr>
            <a:picLocks noChangeAspect="1"/>
          </p:cNvPicPr>
          <p:nvPr/>
        </p:nvPicPr>
        <p:blipFill>
          <a:blip r:embed="rId9"/>
          <a:stretch>
            <a:fillRect/>
          </a:stretch>
        </p:blipFill>
        <p:spPr>
          <a:xfrm>
            <a:off x="4516039" y="4442887"/>
            <a:ext cx="386243" cy="386243"/>
          </a:xfrm>
          <a:prstGeom prst="rect">
            <a:avLst/>
          </a:prstGeom>
        </p:spPr>
      </p:pic>
      <p:sp>
        <p:nvSpPr>
          <p:cNvPr id="36" name="Text 27"/>
          <p:cNvSpPr/>
          <p:nvPr/>
        </p:nvSpPr>
        <p:spPr>
          <a:xfrm>
            <a:off x="3543300" y="5148072"/>
            <a:ext cx="2331720" cy="320040"/>
          </a:xfrm>
          <a:prstGeom prst="rect">
            <a:avLst/>
          </a:prstGeom>
          <a:noFill/>
          <a:ln/>
        </p:spPr>
        <p:txBody>
          <a:bodyPr wrap="square" rtlCol="0" anchor="ctr"/>
          <a:lstStyle/>
          <a:p>
            <a:r>
              <a:t>Tavily</a:t>
            </a:r>
          </a:p>
        </p:txBody>
      </p:sp>
      <p:sp>
        <p:nvSpPr>
          <p:cNvPr id="37" name="Text 28"/>
          <p:cNvSpPr/>
          <p:nvPr/>
        </p:nvSpPr>
        <p:spPr>
          <a:xfrm>
            <a:off x="3570732" y="5477256"/>
            <a:ext cx="2276856" cy="594360"/>
          </a:xfrm>
          <a:prstGeom prst="rect">
            <a:avLst/>
          </a:prstGeom>
          <a:noFill/>
          <a:ln/>
        </p:spPr>
        <p:txBody>
          <a:bodyPr wrap="square" rtlCol="0" anchor="ctr"/>
          <a:lstStyle/>
          <a:p>
            <a:r>
              <a:t>Web search and source collection</a:t>
            </a:r>
          </a:p>
        </p:txBody>
      </p:sp>
      <p:sp>
        <p:nvSpPr>
          <p:cNvPr id="38" name="Shape 29"/>
          <p:cNvSpPr/>
          <p:nvPr/>
        </p:nvSpPr>
        <p:spPr>
          <a:xfrm>
            <a:off x="6176772" y="3977640"/>
            <a:ext cx="2606040" cy="2148840"/>
          </a:xfrm>
          <a:prstGeom prst="roundRect">
            <a:avLst>
              <a:gd name="adj" fmla="val 4255"/>
            </a:avLst>
          </a:prstGeom>
          <a:solidFill>
            <a:srgbClr val="FFFFFF"/>
          </a:solidFill>
          <a:ln w="12700">
            <a:solidFill>
              <a:srgbClr val="F7E1DE"/>
            </a:solidFill>
            <a:prstDash val="solid"/>
          </a:ln>
          <a:effectLst>
            <a:outerShdw blurRad="101600" dist="25400" dir="5400000" algn="bl" rotWithShape="0">
              <a:srgbClr val="444444">
                <a:alpha val="12000"/>
              </a:srgbClr>
            </a:outerShdw>
          </a:effectLst>
        </p:spPr>
        <p:txBody>
          <a:bodyPr/>
          <a:p/>
        </p:txBody>
      </p:sp>
      <p:sp>
        <p:nvSpPr>
          <p:cNvPr id="39" name="Shape 30"/>
          <p:cNvSpPr/>
          <p:nvPr/>
        </p:nvSpPr>
        <p:spPr>
          <a:xfrm>
            <a:off x="7077456" y="4233672"/>
            <a:ext cx="804672" cy="804672"/>
          </a:xfrm>
          <a:prstGeom prst="ellipse">
            <a:avLst/>
          </a:prstGeom>
          <a:solidFill>
            <a:srgbClr val="C00000"/>
          </a:solidFill>
          <a:ln/>
          <a:effectLst>
            <a:outerShdw blurRad="76200" dist="25400" dir="5400000" algn="bl" rotWithShape="0">
              <a:srgbClr val="9B1B1B">
                <a:alpha val="25000"/>
              </a:srgbClr>
            </a:outerShdw>
          </a:effectLst>
        </p:spPr>
        <p:txBody>
          <a:bodyPr/>
          <a:p/>
        </p:txBody>
      </p:sp>
      <p:pic>
        <p:nvPicPr>
          <p:cNvPr id="40" name="Image 7" descr="/home/claude/work/icons/report.png"/>
          <p:cNvPicPr>
            <a:picLocks noChangeAspect="1"/>
          </p:cNvPicPr>
          <p:nvPr/>
        </p:nvPicPr>
        <p:blipFill>
          <a:blip r:embed="rId10"/>
          <a:stretch>
            <a:fillRect/>
          </a:stretch>
        </p:blipFill>
        <p:spPr>
          <a:xfrm>
            <a:off x="7286671" y="4442887"/>
            <a:ext cx="386243" cy="386243"/>
          </a:xfrm>
          <a:prstGeom prst="rect">
            <a:avLst/>
          </a:prstGeom>
        </p:spPr>
      </p:pic>
      <p:sp>
        <p:nvSpPr>
          <p:cNvPr id="41" name="Text 31"/>
          <p:cNvSpPr/>
          <p:nvPr/>
        </p:nvSpPr>
        <p:spPr>
          <a:xfrm>
            <a:off x="6313932" y="5148072"/>
            <a:ext cx="2331720" cy="320040"/>
          </a:xfrm>
          <a:prstGeom prst="rect">
            <a:avLst/>
          </a:prstGeom>
          <a:noFill/>
          <a:ln/>
        </p:spPr>
        <p:txBody>
          <a:bodyPr wrap="square" rtlCol="0" anchor="ctr"/>
          <a:lstStyle/>
          <a:p>
            <a:pPr marL="0" indent="0" algn="ctr">
              <a:buNone/>
            </a:pPr>
            <a:r>
              <a:rPr lang="en-US" sz="1350" b="1" dirty="0">
                <a:solidFill>
                  <a:srgbClr val="2B2B2B"/>
                </a:solidFill>
                <a:latin typeface="Calibri" pitchFamily="34" charset="0"/>
                <a:ea typeface="Calibri" pitchFamily="34" charset="-122"/>
                <a:cs typeface="Calibri" pitchFamily="34" charset="-120"/>
              </a:rPr>
              <a:t>ReportLab</a:t>
            </a:r>
            <a:endParaRPr lang="en-US" sz="1350" dirty="0"/>
          </a:p>
        </p:txBody>
      </p:sp>
      <p:sp>
        <p:nvSpPr>
          <p:cNvPr id="42" name="Text 32"/>
          <p:cNvSpPr/>
          <p:nvPr/>
        </p:nvSpPr>
        <p:spPr>
          <a:xfrm>
            <a:off x="6341364" y="5477256"/>
            <a:ext cx="2276856" cy="594360"/>
          </a:xfrm>
          <a:prstGeom prst="rect">
            <a:avLst/>
          </a:prstGeom>
          <a:noFill/>
          <a:ln/>
        </p:spPr>
        <p:txBody>
          <a:bodyPr wrap="square" rtlCol="0" anchor="ctr"/>
          <a:lstStyle/>
          <a:p>
            <a:pPr marL="0" indent="0" algn="ctr">
              <a:lnSpc>
                <a:spcPct val="105000"/>
              </a:lnSpc>
              <a:buNone/>
            </a:pPr>
            <a:r>
              <a:rPr lang="en-US" sz="1000" dirty="0">
                <a:solidFill>
                  <a:srgbClr val="6B6B6B"/>
                </a:solidFill>
                <a:latin typeface="Calibri" pitchFamily="34" charset="0"/>
                <a:ea typeface="Calibri" pitchFamily="34" charset="-122"/>
                <a:cs typeface="Calibri" pitchFamily="34" charset="-120"/>
              </a:rPr>
              <a:t>Automated PDF report generation</a:t>
            </a:r>
            <a:endParaRPr lang="en-US" sz="1000" dirty="0"/>
          </a:p>
        </p:txBody>
      </p:sp>
      <p:sp>
        <p:nvSpPr>
          <p:cNvPr id="43" name="Shape 33"/>
          <p:cNvSpPr/>
          <p:nvPr/>
        </p:nvSpPr>
        <p:spPr>
          <a:xfrm>
            <a:off x="8947404" y="3977640"/>
            <a:ext cx="2606040" cy="2148840"/>
          </a:xfrm>
          <a:prstGeom prst="roundRect">
            <a:avLst>
              <a:gd name="adj" fmla="val 4255"/>
            </a:avLst>
          </a:prstGeom>
          <a:solidFill>
            <a:srgbClr val="FFFFFF"/>
          </a:solidFill>
          <a:ln w="12700">
            <a:solidFill>
              <a:srgbClr val="F7E1DE"/>
            </a:solidFill>
            <a:prstDash val="solid"/>
          </a:ln>
          <a:effectLst>
            <a:outerShdw blurRad="101600" dist="25400" dir="5400000" algn="bl" rotWithShape="0">
              <a:srgbClr val="444444">
                <a:alpha val="12000"/>
              </a:srgbClr>
            </a:outerShdw>
          </a:effectLst>
        </p:spPr>
        <p:txBody>
          <a:bodyPr/>
          <a:p/>
        </p:txBody>
      </p:sp>
      <p:sp>
        <p:nvSpPr>
          <p:cNvPr id="44" name="Shape 34"/>
          <p:cNvSpPr/>
          <p:nvPr/>
        </p:nvSpPr>
        <p:spPr>
          <a:xfrm>
            <a:off x="9848088" y="4233672"/>
            <a:ext cx="804672" cy="804672"/>
          </a:xfrm>
          <a:prstGeom prst="ellipse">
            <a:avLst/>
          </a:prstGeom>
          <a:solidFill>
            <a:srgbClr val="C00000"/>
          </a:solidFill>
          <a:ln/>
          <a:effectLst>
            <a:outerShdw blurRad="76200" dist="25400" dir="5400000" algn="bl" rotWithShape="0">
              <a:srgbClr val="9B1B1B">
                <a:alpha val="25000"/>
              </a:srgbClr>
            </a:outerShdw>
          </a:effectLst>
        </p:spPr>
        <p:txBody>
          <a:bodyPr/>
          <a:p/>
        </p:txBody>
      </p:sp>
      <p:pic>
        <p:nvPicPr>
          <p:cNvPr id="45" name="Image 8" descr="/home/claude/work/icons/docker_w.png"/>
          <p:cNvPicPr>
            <a:picLocks noChangeAspect="1"/>
          </p:cNvPicPr>
          <p:nvPr/>
        </p:nvPicPr>
        <p:blipFill>
          <a:blip r:embed="rId11"/>
          <a:stretch>
            <a:fillRect/>
          </a:stretch>
        </p:blipFill>
        <p:spPr>
          <a:xfrm>
            <a:off x="10057303" y="4442887"/>
            <a:ext cx="386243" cy="386243"/>
          </a:xfrm>
          <a:prstGeom prst="rect">
            <a:avLst/>
          </a:prstGeom>
        </p:spPr>
      </p:pic>
      <p:sp>
        <p:nvSpPr>
          <p:cNvPr id="46" name="Text 35"/>
          <p:cNvSpPr/>
          <p:nvPr/>
        </p:nvSpPr>
        <p:spPr>
          <a:xfrm>
            <a:off x="9084564" y="5148072"/>
            <a:ext cx="2331720" cy="320040"/>
          </a:xfrm>
          <a:prstGeom prst="rect">
            <a:avLst/>
          </a:prstGeom>
          <a:noFill/>
          <a:ln/>
        </p:spPr>
        <p:txBody>
          <a:bodyPr wrap="square" rtlCol="0" anchor="ctr"/>
          <a:lstStyle/>
          <a:p>
            <a:r>
              <a:t>Docker (planned)</a:t>
            </a:r>
          </a:p>
        </p:txBody>
      </p:sp>
      <p:sp>
        <p:nvSpPr>
          <p:cNvPr id="47" name="Text 36"/>
          <p:cNvSpPr/>
          <p:nvPr/>
        </p:nvSpPr>
        <p:spPr>
          <a:xfrm>
            <a:off x="9111996" y="5477256"/>
            <a:ext cx="2276856" cy="594360"/>
          </a:xfrm>
          <a:prstGeom prst="rect">
            <a:avLst/>
          </a:prstGeom>
          <a:noFill/>
          <a:ln/>
        </p:spPr>
        <p:txBody>
          <a:bodyPr wrap="square" rtlCol="0" anchor="ctr"/>
          <a:lstStyle/>
          <a:p>
            <a:r>
              <a:t>Future packaging and deployment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DF6F3"/>
        </a:solidFill>
        <a:effectLst/>
      </p:bgPr>
    </p:bg>
    <p:spTree>
      <p:nvGrpSpPr>
        <p:cNvPr id="1" name=""/>
        <p:cNvGrpSpPr/>
        <p:nvPr/>
      </p:nvGrpSpPr>
      <p:grpSpPr>
        <a:xfrm>
          <a:off x="0" y="0"/>
          <a:ext cx="0" cy="0"/>
          <a:chOff x="0" y="0"/>
          <a:chExt cx="0" cy="0"/>
        </a:xfrm>
      </p:grpSpPr>
      <p:sp>
        <p:nvSpPr>
          <p:cNvPr id="2" name="Shape 0"/>
          <p:cNvSpPr/>
          <p:nvPr/>
        </p:nvSpPr>
        <p:spPr>
          <a:xfrm>
            <a:off x="0" y="6812280"/>
            <a:ext cx="12188952" cy="45720"/>
          </a:xfrm>
          <a:prstGeom prst="rect">
            <a:avLst/>
          </a:prstGeom>
          <a:solidFill>
            <a:srgbClr val="BA2532"/>
          </a:solidFill>
          <a:ln/>
        </p:spPr>
        <p:txBody>
          <a:bodyPr/>
          <a:p/>
        </p:txBody>
      </p:sp>
      <p:pic>
        <p:nvPicPr>
          <p:cNvPr id="3" name="Image 0" descr="/home/claude/work/unpacked/ppt/media/image1.png"/>
          <p:cNvPicPr>
            <a:picLocks noChangeAspect="1"/>
          </p:cNvPicPr>
          <p:nvPr/>
        </p:nvPicPr>
        <p:blipFill>
          <a:blip r:embed="rId3"/>
          <a:stretch>
            <a:fillRect/>
          </a:stretch>
        </p:blipFill>
        <p:spPr>
          <a:xfrm>
            <a:off x="320040" y="256032"/>
            <a:ext cx="1417320" cy="621792"/>
          </a:xfrm>
          <a:prstGeom prst="rect">
            <a:avLst/>
          </a:prstGeom>
        </p:spPr>
      </p:pic>
      <p:sp>
        <p:nvSpPr>
          <p:cNvPr id="4" name="Shape 1"/>
          <p:cNvSpPr/>
          <p:nvPr/>
        </p:nvSpPr>
        <p:spPr>
          <a:xfrm>
            <a:off x="2880360" y="320040"/>
            <a:ext cx="9006840" cy="566928"/>
          </a:xfrm>
          <a:prstGeom prst="rect">
            <a:avLst/>
          </a:prstGeom>
          <a:solidFill>
            <a:srgbClr val="C00000"/>
          </a:solidFill>
          <a:ln/>
        </p:spPr>
        <p:txBody>
          <a:bodyPr/>
          <a:p/>
        </p:txBody>
      </p:sp>
      <p:sp>
        <p:nvSpPr>
          <p:cNvPr id="5" name="Text 2"/>
          <p:cNvSpPr/>
          <p:nvPr/>
        </p:nvSpPr>
        <p:spPr>
          <a:xfrm>
            <a:off x="2880360" y="320040"/>
            <a:ext cx="9006840" cy="566928"/>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Hybrid RAG Pipeline — Retrieval &amp; Evidence Fusion</a:t>
            </a:r>
            <a:endParaRPr lang="en-US" sz="2000" dirty="0"/>
          </a:p>
        </p:txBody>
      </p:sp>
      <p:sp>
        <p:nvSpPr>
          <p:cNvPr id="6" name="Text 3"/>
          <p:cNvSpPr/>
          <p:nvPr/>
        </p:nvSpPr>
        <p:spPr>
          <a:xfrm>
            <a:off x="320040" y="6473952"/>
            <a:ext cx="9601200" cy="274320"/>
          </a:xfrm>
          <a:prstGeom prst="rect">
            <a:avLst/>
          </a:prstGeom>
          <a:noFill/>
          <a:ln/>
        </p:spPr>
        <p:txBody>
          <a:bodyPr wrap="square" rtlCol="0" anchor="ctr"/>
          <a:lstStyle/>
          <a:p>
            <a:pPr marL="0" indent="0">
              <a:buNone/>
            </a:pPr>
            <a:r>
              <a:rPr lang="en-US" sz="900" dirty="0">
                <a:solidFill>
                  <a:srgbClr val="6B6B6B"/>
                </a:solidFill>
                <a:latin typeface="Calibri" pitchFamily="34" charset="0"/>
                <a:ea typeface="Calibri" pitchFamily="34" charset="-122"/>
                <a:cs typeface="Calibri" pitchFamily="34" charset="-120"/>
              </a:rPr>
              <a:t>AI Multi-Agent Research Assistant  |  Applied Machine Learning for Text Analysis</a:t>
            </a:r>
            <a:endParaRPr lang="en-US" sz="900" dirty="0"/>
          </a:p>
        </p:txBody>
      </p:sp>
      <p:sp>
        <p:nvSpPr>
          <p:cNvPr id="7" name="Text 4"/>
          <p:cNvSpPr/>
          <p:nvPr/>
        </p:nvSpPr>
        <p:spPr>
          <a:xfrm>
            <a:off x="11365992" y="6473952"/>
            <a:ext cx="54864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6</a:t>
            </a:r>
            <a:endParaRPr lang="en-US" sz="900" dirty="0"/>
          </a:p>
        </p:txBody>
      </p:sp>
      <p:sp>
        <p:nvSpPr>
          <p:cNvPr id="8" name="Shape 5"/>
          <p:cNvSpPr/>
          <p:nvPr/>
        </p:nvSpPr>
        <p:spPr>
          <a:xfrm>
            <a:off x="5074920" y="1371600"/>
            <a:ext cx="2011680" cy="640080"/>
          </a:xfrm>
          <a:prstGeom prst="roundRect">
            <a:avLst>
              <a:gd name="adj" fmla="val 12857"/>
            </a:avLst>
          </a:prstGeom>
          <a:solidFill>
            <a:srgbClr val="C00000"/>
          </a:solidFill>
          <a:ln/>
          <a:effectLst>
            <a:outerShdw blurRad="76200" dist="25400" dir="5400000" algn="bl" rotWithShape="0">
              <a:srgbClr val="444444">
                <a:alpha val="15000"/>
              </a:srgbClr>
            </a:outerShdw>
          </a:effectLst>
        </p:spPr>
        <p:txBody>
          <a:bodyPr/>
          <a:p/>
        </p:txBody>
      </p:sp>
      <p:pic>
        <p:nvPicPr>
          <p:cNvPr id="9" name="Image 1" descr="/home/claude/work/icons/search.png"/>
          <p:cNvPicPr>
            <a:picLocks noChangeAspect="1"/>
          </p:cNvPicPr>
          <p:nvPr/>
        </p:nvPicPr>
        <p:blipFill>
          <a:blip r:embed="rId4"/>
          <a:stretch>
            <a:fillRect/>
          </a:stretch>
        </p:blipFill>
        <p:spPr>
          <a:xfrm>
            <a:off x="5907024" y="1444752"/>
            <a:ext cx="347472" cy="347472"/>
          </a:xfrm>
          <a:prstGeom prst="rect">
            <a:avLst/>
          </a:prstGeom>
        </p:spPr>
      </p:pic>
      <p:sp>
        <p:nvSpPr>
          <p:cNvPr id="10" name="Text 6"/>
          <p:cNvSpPr/>
          <p:nvPr/>
        </p:nvSpPr>
        <p:spPr>
          <a:xfrm>
            <a:off x="5148072" y="1792224"/>
            <a:ext cx="1865376" cy="164592"/>
          </a:xfrm>
          <a:prstGeom prst="rect">
            <a:avLst/>
          </a:prstGeom>
          <a:noFill/>
          <a:ln/>
        </p:spPr>
        <p:txBody>
          <a:bodyPr wrap="square" rtlCol="0" anchor="t"/>
          <a:lstStyle/>
          <a:p>
            <a:pPr marL="0" indent="0" algn="ctr">
              <a:buNone/>
            </a:pPr>
            <a:r>
              <a:rPr lang="en-US" sz="1150" b="1" dirty="0">
                <a:solidFill>
                  <a:srgbClr val="FFFFFF"/>
                </a:solidFill>
                <a:latin typeface="Calibri" pitchFamily="34" charset="0"/>
                <a:ea typeface="Calibri" pitchFamily="34" charset="-122"/>
                <a:cs typeface="Calibri" pitchFamily="34" charset="-120"/>
              </a:rPr>
              <a:t>Research Query</a:t>
            </a:r>
            <a:endParaRPr lang="en-US" sz="1150" dirty="0"/>
          </a:p>
        </p:txBody>
      </p:sp>
      <p:sp>
        <p:nvSpPr>
          <p:cNvPr id="11" name="Shape 7"/>
          <p:cNvSpPr/>
          <p:nvPr/>
        </p:nvSpPr>
        <p:spPr>
          <a:xfrm>
            <a:off x="5806440" y="2011680"/>
            <a:ext cx="548640" cy="201168"/>
          </a:xfrm>
          <a:prstGeom prst="downArrow">
            <a:avLst/>
          </a:prstGeom>
          <a:solidFill>
            <a:srgbClr val="BA2532"/>
          </a:solidFill>
          <a:ln/>
        </p:spPr>
        <p:txBody>
          <a:bodyPr/>
          <a:p/>
        </p:txBody>
      </p:sp>
      <p:sp>
        <p:nvSpPr>
          <p:cNvPr id="12" name="Shape 8"/>
          <p:cNvSpPr/>
          <p:nvPr/>
        </p:nvSpPr>
        <p:spPr>
          <a:xfrm>
            <a:off x="1554480" y="2267712"/>
            <a:ext cx="3291840" cy="868680"/>
          </a:xfrm>
          <a:prstGeom prst="roundRect">
            <a:avLst>
              <a:gd name="adj" fmla="val 9474"/>
            </a:avLst>
          </a:prstGeom>
          <a:solidFill>
            <a:srgbClr val="FFFFFF"/>
          </a:solidFill>
          <a:ln/>
          <a:effectLst>
            <a:outerShdw blurRad="76200" dist="25400" dir="5400000" algn="bl" rotWithShape="0">
              <a:srgbClr val="444444">
                <a:alpha val="15000"/>
              </a:srgbClr>
            </a:outerShdw>
          </a:effectLst>
        </p:spPr>
        <p:txBody>
          <a:bodyPr/>
          <a:p/>
        </p:txBody>
      </p:sp>
      <p:pic>
        <p:nvPicPr>
          <p:cNvPr id="13" name="Image 2" descr="/home/claude/work/icons/database_r.png"/>
          <p:cNvPicPr>
            <a:picLocks noChangeAspect="1"/>
          </p:cNvPicPr>
          <p:nvPr/>
        </p:nvPicPr>
        <p:blipFill>
          <a:blip r:embed="rId5"/>
          <a:stretch>
            <a:fillRect/>
          </a:stretch>
        </p:blipFill>
        <p:spPr>
          <a:xfrm>
            <a:off x="3026664" y="2340864"/>
            <a:ext cx="347472" cy="347472"/>
          </a:xfrm>
          <a:prstGeom prst="rect">
            <a:avLst/>
          </a:prstGeom>
        </p:spPr>
      </p:pic>
      <p:sp>
        <p:nvSpPr>
          <p:cNvPr id="14" name="Text 9"/>
          <p:cNvSpPr/>
          <p:nvPr/>
        </p:nvSpPr>
        <p:spPr>
          <a:xfrm>
            <a:off x="1627632" y="2688336"/>
            <a:ext cx="3145536" cy="393192"/>
          </a:xfrm>
          <a:prstGeom prst="rect">
            <a:avLst/>
          </a:prstGeom>
          <a:noFill/>
          <a:ln/>
        </p:spPr>
        <p:txBody>
          <a:bodyPr wrap="square" rtlCol="0" anchor="t"/>
          <a:lstStyle/>
          <a:p>
            <a:pPr marL="0" indent="0" algn="ctr">
              <a:buNone/>
            </a:pPr>
            <a:r>
              <a:rPr lang="en-US" sz="1200" b="1" dirty="0">
                <a:solidFill>
                  <a:srgbClr val="C00000"/>
                </a:solidFill>
                <a:latin typeface="Calibri" pitchFamily="34" charset="0"/>
                <a:ea typeface="Calibri" pitchFamily="34" charset="-122"/>
                <a:cs typeface="Calibri" pitchFamily="34" charset="-120"/>
              </a:rPr>
              <a:t>Semantic Vector Search</a:t>
            </a:r>
            <a:endParaRPr lang="en-US" sz="1200" dirty="0"/>
          </a:p>
          <a:p>
            <a:pPr marL="0" indent="0" algn="ctr">
              <a:buNone/>
            </a:pPr>
            <a:r>
              <a:rPr lang="en-US" sz="1200" b="1" dirty="0">
                <a:solidFill>
                  <a:srgbClr val="C00000"/>
                </a:solidFill>
                <a:latin typeface="Calibri" pitchFamily="34" charset="0"/>
                <a:ea typeface="Calibri" pitchFamily="34" charset="-122"/>
                <a:cs typeface="Calibri" pitchFamily="34" charset="-120"/>
              </a:rPr>
              <a:t>FAISS embeddings</a:t>
            </a:r>
            <a:endParaRPr lang="en-US" sz="1200" dirty="0"/>
          </a:p>
        </p:txBody>
      </p:sp>
      <p:sp>
        <p:nvSpPr>
          <p:cNvPr id="15" name="Shape 10"/>
          <p:cNvSpPr/>
          <p:nvPr/>
        </p:nvSpPr>
        <p:spPr>
          <a:xfrm>
            <a:off x="7269480" y="2267712"/>
            <a:ext cx="3291840" cy="868680"/>
          </a:xfrm>
          <a:prstGeom prst="roundRect">
            <a:avLst>
              <a:gd name="adj" fmla="val 9474"/>
            </a:avLst>
          </a:prstGeom>
          <a:solidFill>
            <a:srgbClr val="FFFFFF"/>
          </a:solidFill>
          <a:ln/>
          <a:effectLst>
            <a:outerShdw blurRad="76200" dist="25400" dir="5400000" algn="bl" rotWithShape="0">
              <a:srgbClr val="444444">
                <a:alpha val="15000"/>
              </a:srgbClr>
            </a:outerShdw>
          </a:effectLst>
        </p:spPr>
        <p:txBody>
          <a:bodyPr/>
          <a:p/>
        </p:txBody>
      </p:sp>
      <p:pic>
        <p:nvPicPr>
          <p:cNvPr id="16" name="Image 3" descr="/home/claude/work/icons/cloud_r.png"/>
          <p:cNvPicPr>
            <a:picLocks noChangeAspect="1"/>
          </p:cNvPicPr>
          <p:nvPr/>
        </p:nvPicPr>
        <p:blipFill>
          <a:blip r:embed="rId6"/>
          <a:stretch>
            <a:fillRect/>
          </a:stretch>
        </p:blipFill>
        <p:spPr>
          <a:xfrm>
            <a:off x="8741664" y="2340864"/>
            <a:ext cx="347472" cy="347472"/>
          </a:xfrm>
          <a:prstGeom prst="rect">
            <a:avLst/>
          </a:prstGeom>
        </p:spPr>
      </p:pic>
      <p:sp>
        <p:nvSpPr>
          <p:cNvPr id="17" name="Text 11"/>
          <p:cNvSpPr/>
          <p:nvPr/>
        </p:nvSpPr>
        <p:spPr>
          <a:xfrm>
            <a:off x="7342632" y="2688336"/>
            <a:ext cx="3145536" cy="393192"/>
          </a:xfrm>
          <a:prstGeom prst="rect">
            <a:avLst/>
          </a:prstGeom>
          <a:noFill/>
          <a:ln/>
        </p:spPr>
        <p:txBody>
          <a:bodyPr wrap="square" rtlCol="0" anchor="t"/>
          <a:lstStyle/>
          <a:p>
            <a:r>
              <a:t>Keyword &amp; Web Search</a:t>
            </a:r>
          </a:p>
          <a:p>
            <a:r>
              <a:t>Tavily retrieval</a:t>
            </a:r>
          </a:p>
        </p:txBody>
      </p:sp>
      <p:sp>
        <p:nvSpPr>
          <p:cNvPr id="18" name="Shape 12"/>
          <p:cNvSpPr/>
          <p:nvPr/>
        </p:nvSpPr>
        <p:spPr>
          <a:xfrm>
            <a:off x="1554480" y="2267712"/>
            <a:ext cx="3291840" cy="868680"/>
          </a:xfrm>
          <a:prstGeom prst="roundRect">
            <a:avLst>
              <a:gd name="adj" fmla="val 9474"/>
            </a:avLst>
          </a:prstGeom>
          <a:ln w="19050">
            <a:solidFill>
              <a:srgbClr val="C00000"/>
            </a:solidFill>
            <a:prstDash val="solid"/>
          </a:ln>
        </p:spPr>
        <p:txBody>
          <a:bodyPr/>
          <a:p/>
        </p:txBody>
      </p:sp>
      <p:sp>
        <p:nvSpPr>
          <p:cNvPr id="19" name="Shape 13"/>
          <p:cNvSpPr/>
          <p:nvPr/>
        </p:nvSpPr>
        <p:spPr>
          <a:xfrm>
            <a:off x="7269480" y="2267712"/>
            <a:ext cx="3291840" cy="868680"/>
          </a:xfrm>
          <a:prstGeom prst="roundRect">
            <a:avLst>
              <a:gd name="adj" fmla="val 9474"/>
            </a:avLst>
          </a:prstGeom>
          <a:ln w="19050">
            <a:solidFill>
              <a:srgbClr val="C00000"/>
            </a:solidFill>
            <a:prstDash val="solid"/>
          </a:ln>
        </p:spPr>
        <p:txBody>
          <a:bodyPr/>
          <a:p/>
        </p:txBody>
      </p:sp>
      <p:sp>
        <p:nvSpPr>
          <p:cNvPr id="20" name="Shape 14"/>
          <p:cNvSpPr/>
          <p:nvPr/>
        </p:nvSpPr>
        <p:spPr>
          <a:xfrm>
            <a:off x="3200400" y="3136392"/>
            <a:ext cx="0" cy="182880"/>
          </a:xfrm>
          <a:prstGeom prst="line">
            <a:avLst/>
          </a:prstGeom>
          <a:noFill/>
          <a:ln w="19050">
            <a:solidFill>
              <a:srgbClr val="BA2532"/>
            </a:solidFill>
            <a:prstDash val="solid"/>
          </a:ln>
        </p:spPr>
        <p:txBody>
          <a:bodyPr/>
          <a:p/>
        </p:txBody>
      </p:sp>
      <p:sp>
        <p:nvSpPr>
          <p:cNvPr id="21" name="Shape 15"/>
          <p:cNvSpPr/>
          <p:nvPr/>
        </p:nvSpPr>
        <p:spPr>
          <a:xfrm>
            <a:off x="8915400" y="3136392"/>
            <a:ext cx="0" cy="182880"/>
          </a:xfrm>
          <a:prstGeom prst="line">
            <a:avLst/>
          </a:prstGeom>
          <a:noFill/>
          <a:ln w="19050">
            <a:solidFill>
              <a:srgbClr val="BA2532"/>
            </a:solidFill>
            <a:prstDash val="solid"/>
          </a:ln>
        </p:spPr>
        <p:txBody>
          <a:bodyPr/>
          <a:p/>
        </p:txBody>
      </p:sp>
      <p:sp>
        <p:nvSpPr>
          <p:cNvPr id="22" name="Shape 16"/>
          <p:cNvSpPr/>
          <p:nvPr/>
        </p:nvSpPr>
        <p:spPr>
          <a:xfrm>
            <a:off x="3200400" y="3319272"/>
            <a:ext cx="5715000" cy="0"/>
          </a:xfrm>
          <a:prstGeom prst="line">
            <a:avLst/>
          </a:prstGeom>
          <a:noFill/>
          <a:ln w="19050">
            <a:solidFill>
              <a:srgbClr val="BA2532"/>
            </a:solidFill>
            <a:prstDash val="solid"/>
          </a:ln>
        </p:spPr>
        <p:txBody>
          <a:bodyPr/>
          <a:p/>
        </p:txBody>
      </p:sp>
      <p:sp>
        <p:nvSpPr>
          <p:cNvPr id="23" name="Shape 17"/>
          <p:cNvSpPr/>
          <p:nvPr/>
        </p:nvSpPr>
        <p:spPr>
          <a:xfrm>
            <a:off x="5806440" y="3319272"/>
            <a:ext cx="548640" cy="201168"/>
          </a:xfrm>
          <a:prstGeom prst="downArrow">
            <a:avLst/>
          </a:prstGeom>
          <a:solidFill>
            <a:srgbClr val="BA2532"/>
          </a:solidFill>
          <a:ln/>
        </p:spPr>
        <p:txBody>
          <a:bodyPr/>
          <a:p/>
        </p:txBody>
      </p:sp>
      <p:sp>
        <p:nvSpPr>
          <p:cNvPr id="24" name="Shape 18"/>
          <p:cNvSpPr/>
          <p:nvPr/>
        </p:nvSpPr>
        <p:spPr>
          <a:xfrm>
            <a:off x="4251960" y="3685032"/>
            <a:ext cx="3657600" cy="566928"/>
          </a:xfrm>
          <a:prstGeom prst="roundRect">
            <a:avLst>
              <a:gd name="adj" fmla="val 14516"/>
            </a:avLst>
          </a:prstGeom>
          <a:solidFill>
            <a:srgbClr val="8C0000"/>
          </a:solidFill>
          <a:ln/>
          <a:effectLst>
            <a:outerShdw blurRad="76200" dist="25400" dir="5400000" algn="bl" rotWithShape="0">
              <a:srgbClr val="444444">
                <a:alpha val="15000"/>
              </a:srgbClr>
            </a:outerShdw>
          </a:effectLst>
        </p:spPr>
        <p:txBody>
          <a:bodyPr/>
          <a:p/>
        </p:txBody>
      </p:sp>
      <p:pic>
        <p:nvPicPr>
          <p:cNvPr id="25" name="Image 4" descr="/home/claude/work/icons/layers.png"/>
          <p:cNvPicPr>
            <a:picLocks noChangeAspect="1"/>
          </p:cNvPicPr>
          <p:nvPr/>
        </p:nvPicPr>
        <p:blipFill>
          <a:blip r:embed="rId7"/>
          <a:stretch>
            <a:fillRect/>
          </a:stretch>
        </p:blipFill>
        <p:spPr>
          <a:xfrm>
            <a:off x="4416552" y="3813048"/>
            <a:ext cx="310896" cy="310896"/>
          </a:xfrm>
          <a:prstGeom prst="rect">
            <a:avLst/>
          </a:prstGeom>
        </p:spPr>
      </p:pic>
      <p:sp>
        <p:nvSpPr>
          <p:cNvPr id="26" name="Text 19"/>
          <p:cNvSpPr/>
          <p:nvPr/>
        </p:nvSpPr>
        <p:spPr>
          <a:xfrm>
            <a:off x="4846320" y="3685032"/>
            <a:ext cx="2926080" cy="56692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Merge, Rank &amp; Deduplicate Sources</a:t>
            </a:r>
            <a:endParaRPr lang="en-US" sz="1200" dirty="0"/>
          </a:p>
        </p:txBody>
      </p:sp>
      <p:sp>
        <p:nvSpPr>
          <p:cNvPr id="27" name="Shape 20"/>
          <p:cNvSpPr/>
          <p:nvPr/>
        </p:nvSpPr>
        <p:spPr>
          <a:xfrm>
            <a:off x="5806440" y="4251960"/>
            <a:ext cx="548640" cy="182880"/>
          </a:xfrm>
          <a:prstGeom prst="downArrow">
            <a:avLst/>
          </a:prstGeom>
          <a:solidFill>
            <a:srgbClr val="BA2532"/>
          </a:solidFill>
          <a:ln/>
        </p:spPr>
        <p:txBody>
          <a:bodyPr/>
          <a:p/>
        </p:txBody>
      </p:sp>
      <p:sp>
        <p:nvSpPr>
          <p:cNvPr id="28" name="Shape 21"/>
          <p:cNvSpPr/>
          <p:nvPr/>
        </p:nvSpPr>
        <p:spPr>
          <a:xfrm>
            <a:off x="4251960" y="4599432"/>
            <a:ext cx="3657600" cy="566928"/>
          </a:xfrm>
          <a:prstGeom prst="roundRect">
            <a:avLst>
              <a:gd name="adj" fmla="val 14516"/>
            </a:avLst>
          </a:prstGeom>
          <a:solidFill>
            <a:srgbClr val="C00000"/>
          </a:solidFill>
          <a:ln/>
          <a:effectLst>
            <a:outerShdw blurRad="76200" dist="25400" dir="5400000" algn="bl" rotWithShape="0">
              <a:srgbClr val="444444">
                <a:alpha val="15000"/>
              </a:srgbClr>
            </a:outerShdw>
          </a:effectLst>
        </p:spPr>
        <p:txBody>
          <a:bodyPr/>
          <a:p/>
        </p:txBody>
      </p:sp>
      <p:pic>
        <p:nvPicPr>
          <p:cNvPr id="29" name="Image 5" descr="/home/claude/work/icons/shield.png"/>
          <p:cNvPicPr>
            <a:picLocks noChangeAspect="1"/>
          </p:cNvPicPr>
          <p:nvPr/>
        </p:nvPicPr>
        <p:blipFill>
          <a:blip r:embed="rId8"/>
          <a:stretch>
            <a:fillRect/>
          </a:stretch>
        </p:blipFill>
        <p:spPr>
          <a:xfrm>
            <a:off x="4416552" y="4727448"/>
            <a:ext cx="310896" cy="310896"/>
          </a:xfrm>
          <a:prstGeom prst="rect">
            <a:avLst/>
          </a:prstGeom>
        </p:spPr>
      </p:pic>
      <p:sp>
        <p:nvSpPr>
          <p:cNvPr id="30" name="Text 22"/>
          <p:cNvSpPr/>
          <p:nvPr/>
        </p:nvSpPr>
        <p:spPr>
          <a:xfrm>
            <a:off x="4846320" y="4599432"/>
            <a:ext cx="2926080" cy="566928"/>
          </a:xfrm>
          <a:prstGeom prst="rect">
            <a:avLst/>
          </a:prstGeom>
          <a:noFill/>
          <a:ln/>
        </p:spPr>
        <p:txBody>
          <a:bodyPr wrap="square" rtlCol="0" anchor="ctr"/>
          <a:lstStyle/>
          <a:p>
            <a:r>
              <a:t>Evidence / Claim Validation</a:t>
            </a:r>
          </a:p>
        </p:txBody>
      </p:sp>
      <p:sp>
        <p:nvSpPr>
          <p:cNvPr id="31" name="Shape 23"/>
          <p:cNvSpPr/>
          <p:nvPr/>
        </p:nvSpPr>
        <p:spPr>
          <a:xfrm>
            <a:off x="5806440" y="5166360"/>
            <a:ext cx="548640" cy="182880"/>
          </a:xfrm>
          <a:prstGeom prst="downArrow">
            <a:avLst/>
          </a:prstGeom>
          <a:solidFill>
            <a:srgbClr val="BA2532"/>
          </a:solidFill>
          <a:ln/>
        </p:spPr>
        <p:txBody>
          <a:bodyPr/>
          <a:p/>
        </p:txBody>
      </p:sp>
      <p:sp>
        <p:nvSpPr>
          <p:cNvPr id="32" name="Shape 24"/>
          <p:cNvSpPr/>
          <p:nvPr/>
        </p:nvSpPr>
        <p:spPr>
          <a:xfrm>
            <a:off x="3566160" y="5513832"/>
            <a:ext cx="5029200" cy="530352"/>
          </a:xfrm>
          <a:prstGeom prst="roundRect">
            <a:avLst>
              <a:gd name="adj" fmla="val 15517"/>
            </a:avLst>
          </a:prstGeom>
          <a:solidFill>
            <a:srgbClr val="8C0000"/>
          </a:solidFill>
          <a:ln/>
          <a:effectLst>
            <a:outerShdw blurRad="76200" dist="25400" dir="5400000" algn="bl" rotWithShape="0">
              <a:srgbClr val="444444">
                <a:alpha val="15000"/>
              </a:srgbClr>
            </a:outerShdw>
          </a:effectLst>
        </p:spPr>
        <p:txBody>
          <a:bodyPr/>
          <a:p/>
        </p:txBody>
      </p:sp>
      <p:pic>
        <p:nvPicPr>
          <p:cNvPr id="33" name="Image 6" descr="/home/claude/work/icons/check.png"/>
          <p:cNvPicPr>
            <a:picLocks noChangeAspect="1"/>
          </p:cNvPicPr>
          <p:nvPr/>
        </p:nvPicPr>
        <p:blipFill>
          <a:blip r:embed="rId9"/>
          <a:stretch>
            <a:fillRect/>
          </a:stretch>
        </p:blipFill>
        <p:spPr>
          <a:xfrm>
            <a:off x="3730752" y="5623560"/>
            <a:ext cx="310896" cy="310896"/>
          </a:xfrm>
          <a:prstGeom prst="rect">
            <a:avLst/>
          </a:prstGeom>
        </p:spPr>
      </p:pic>
      <p:sp>
        <p:nvSpPr>
          <p:cNvPr id="34" name="Text 25"/>
          <p:cNvSpPr/>
          <p:nvPr/>
        </p:nvSpPr>
        <p:spPr>
          <a:xfrm>
            <a:off x="4160520" y="5513832"/>
            <a:ext cx="4297680" cy="530352"/>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Evidence-Grounded, Citation-Backed Answer</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DF6F3"/>
        </a:solidFill>
        <a:effectLst/>
      </p:bgPr>
    </p:bg>
    <p:spTree>
      <p:nvGrpSpPr>
        <p:cNvPr id="1" name=""/>
        <p:cNvGrpSpPr/>
        <p:nvPr/>
      </p:nvGrpSpPr>
      <p:grpSpPr>
        <a:xfrm>
          <a:off x="0" y="0"/>
          <a:ext cx="0" cy="0"/>
          <a:chOff x="0" y="0"/>
          <a:chExt cx="0" cy="0"/>
        </a:xfrm>
      </p:grpSpPr>
      <p:sp>
        <p:nvSpPr>
          <p:cNvPr id="2" name="Shape 0"/>
          <p:cNvSpPr/>
          <p:nvPr/>
        </p:nvSpPr>
        <p:spPr>
          <a:xfrm>
            <a:off x="0" y="6812280"/>
            <a:ext cx="12188952" cy="45720"/>
          </a:xfrm>
          <a:prstGeom prst="rect">
            <a:avLst/>
          </a:prstGeom>
          <a:solidFill>
            <a:srgbClr val="BA2532"/>
          </a:solidFill>
          <a:ln/>
        </p:spPr>
        <p:txBody>
          <a:bodyPr/>
          <a:p/>
        </p:txBody>
      </p:sp>
      <p:pic>
        <p:nvPicPr>
          <p:cNvPr id="3" name="Image 0" descr="/home/claude/work/unpacked/ppt/media/image1.png"/>
          <p:cNvPicPr>
            <a:picLocks noChangeAspect="1"/>
          </p:cNvPicPr>
          <p:nvPr/>
        </p:nvPicPr>
        <p:blipFill>
          <a:blip r:embed="rId3"/>
          <a:stretch>
            <a:fillRect/>
          </a:stretch>
        </p:blipFill>
        <p:spPr>
          <a:xfrm>
            <a:off x="320040" y="256032"/>
            <a:ext cx="1417320" cy="621792"/>
          </a:xfrm>
          <a:prstGeom prst="rect">
            <a:avLst/>
          </a:prstGeom>
        </p:spPr>
      </p:pic>
      <p:sp>
        <p:nvSpPr>
          <p:cNvPr id="4" name="Shape 1"/>
          <p:cNvSpPr/>
          <p:nvPr/>
        </p:nvSpPr>
        <p:spPr>
          <a:xfrm>
            <a:off x="2880360" y="320040"/>
            <a:ext cx="9006840" cy="566928"/>
          </a:xfrm>
          <a:prstGeom prst="rect">
            <a:avLst/>
          </a:prstGeom>
          <a:solidFill>
            <a:srgbClr val="C00000"/>
          </a:solidFill>
          <a:ln/>
        </p:spPr>
        <p:txBody>
          <a:bodyPr/>
          <a:p/>
        </p:txBody>
      </p:sp>
      <p:sp>
        <p:nvSpPr>
          <p:cNvPr id="5" name="Text 2"/>
          <p:cNvSpPr/>
          <p:nvPr/>
        </p:nvSpPr>
        <p:spPr>
          <a:xfrm>
            <a:off x="2880360" y="320040"/>
            <a:ext cx="9006840" cy="566928"/>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Innovation &amp; Key Features</a:t>
            </a:r>
            <a:endParaRPr lang="en-US" sz="2000" dirty="0"/>
          </a:p>
        </p:txBody>
      </p:sp>
      <p:sp>
        <p:nvSpPr>
          <p:cNvPr id="6" name="Text 3"/>
          <p:cNvSpPr/>
          <p:nvPr/>
        </p:nvSpPr>
        <p:spPr>
          <a:xfrm>
            <a:off x="320040" y="6473952"/>
            <a:ext cx="9601200" cy="274320"/>
          </a:xfrm>
          <a:prstGeom prst="rect">
            <a:avLst/>
          </a:prstGeom>
          <a:noFill/>
          <a:ln/>
        </p:spPr>
        <p:txBody>
          <a:bodyPr wrap="square" rtlCol="0" anchor="ctr"/>
          <a:lstStyle/>
          <a:p>
            <a:pPr marL="0" indent="0">
              <a:buNone/>
            </a:pPr>
            <a:r>
              <a:rPr lang="en-US" sz="900" dirty="0">
                <a:solidFill>
                  <a:srgbClr val="6B6B6B"/>
                </a:solidFill>
                <a:latin typeface="Calibri" pitchFamily="34" charset="0"/>
                <a:ea typeface="Calibri" pitchFamily="34" charset="-122"/>
                <a:cs typeface="Calibri" pitchFamily="34" charset="-120"/>
              </a:rPr>
              <a:t>AI Multi-Agent Research Assistant  |  Applied Machine Learning for Text Analysis</a:t>
            </a:r>
            <a:endParaRPr lang="en-US" sz="900" dirty="0"/>
          </a:p>
        </p:txBody>
      </p:sp>
      <p:sp>
        <p:nvSpPr>
          <p:cNvPr id="7" name="Text 4"/>
          <p:cNvSpPr/>
          <p:nvPr/>
        </p:nvSpPr>
        <p:spPr>
          <a:xfrm>
            <a:off x="11365992" y="6473952"/>
            <a:ext cx="54864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8</a:t>
            </a:r>
            <a:endParaRPr lang="en-US" sz="900" dirty="0"/>
          </a:p>
        </p:txBody>
      </p:sp>
      <p:sp>
        <p:nvSpPr>
          <p:cNvPr id="8" name="Shape 5"/>
          <p:cNvSpPr/>
          <p:nvPr/>
        </p:nvSpPr>
        <p:spPr>
          <a:xfrm>
            <a:off x="457200" y="1508760"/>
            <a:ext cx="5440680" cy="2057400"/>
          </a:xfrm>
          <a:prstGeom prst="roundRect">
            <a:avLst>
              <a:gd name="adj" fmla="val 4444"/>
            </a:avLst>
          </a:prstGeom>
          <a:solidFill>
            <a:srgbClr val="FFFFFF"/>
          </a:solidFill>
          <a:ln w="12700">
            <a:solidFill>
              <a:srgbClr val="F7E1DE"/>
            </a:solidFill>
            <a:prstDash val="solid"/>
          </a:ln>
          <a:effectLst>
            <a:outerShdw blurRad="101600" dist="25400" dir="5400000" algn="bl" rotWithShape="0">
              <a:srgbClr val="444444">
                <a:alpha val="12000"/>
              </a:srgbClr>
            </a:outerShdw>
          </a:effectLst>
        </p:spPr>
        <p:txBody>
          <a:bodyPr/>
          <a:p/>
        </p:txBody>
      </p:sp>
      <p:sp>
        <p:nvSpPr>
          <p:cNvPr id="9" name="Shape 6"/>
          <p:cNvSpPr/>
          <p:nvPr/>
        </p:nvSpPr>
        <p:spPr>
          <a:xfrm>
            <a:off x="713232" y="1764792"/>
            <a:ext cx="685800" cy="685800"/>
          </a:xfrm>
          <a:prstGeom prst="ellipse">
            <a:avLst/>
          </a:prstGeom>
          <a:solidFill>
            <a:srgbClr val="C00000"/>
          </a:solidFill>
          <a:ln/>
          <a:effectLst>
            <a:outerShdw blurRad="76200" dist="25400" dir="5400000" algn="bl" rotWithShape="0">
              <a:srgbClr val="9B1B1B">
                <a:alpha val="25000"/>
              </a:srgbClr>
            </a:outerShdw>
          </a:effectLst>
        </p:spPr>
        <p:txBody>
          <a:bodyPr/>
          <a:p/>
        </p:txBody>
      </p:sp>
      <p:pic>
        <p:nvPicPr>
          <p:cNvPr id="10" name="Image 1" descr="/home/claude/work/icons/sitemap.png"/>
          <p:cNvPicPr>
            <a:picLocks noChangeAspect="1"/>
          </p:cNvPicPr>
          <p:nvPr/>
        </p:nvPicPr>
        <p:blipFill>
          <a:blip r:embed="rId4"/>
          <a:stretch>
            <a:fillRect/>
          </a:stretch>
        </p:blipFill>
        <p:spPr>
          <a:xfrm>
            <a:off x="891540" y="1943100"/>
            <a:ext cx="329184" cy="329184"/>
          </a:xfrm>
          <a:prstGeom prst="rect">
            <a:avLst/>
          </a:prstGeom>
        </p:spPr>
      </p:pic>
      <p:sp>
        <p:nvSpPr>
          <p:cNvPr id="11" name="Text 7"/>
          <p:cNvSpPr/>
          <p:nvPr/>
        </p:nvSpPr>
        <p:spPr>
          <a:xfrm>
            <a:off x="1600200" y="1737360"/>
            <a:ext cx="4069080" cy="502920"/>
          </a:xfrm>
          <a:prstGeom prst="rect">
            <a:avLst/>
          </a:prstGeom>
          <a:noFill/>
          <a:ln/>
        </p:spPr>
        <p:txBody>
          <a:bodyPr wrap="square" rtlCol="0" anchor="ctr"/>
          <a:lstStyle/>
          <a:p>
            <a:pPr marL="0" indent="0">
              <a:buNone/>
            </a:pPr>
            <a:r>
              <a:rPr lang="en-US" sz="1400" b="1" dirty="0">
                <a:solidFill>
                  <a:srgbClr val="C00000"/>
                </a:solidFill>
                <a:latin typeface="Calibri" pitchFamily="34" charset="0"/>
                <a:ea typeface="Calibri" pitchFamily="34" charset="-122"/>
                <a:cs typeface="Calibri" pitchFamily="34" charset="-120"/>
              </a:rPr>
              <a:t>Hierarchical Multi-Agent Design</a:t>
            </a:r>
            <a:endParaRPr lang="en-US" sz="1400" dirty="0"/>
          </a:p>
        </p:txBody>
      </p:sp>
      <p:sp>
        <p:nvSpPr>
          <p:cNvPr id="12" name="Text 8"/>
          <p:cNvSpPr/>
          <p:nvPr/>
        </p:nvSpPr>
        <p:spPr>
          <a:xfrm>
            <a:off x="731520" y="2377440"/>
            <a:ext cx="4892040" cy="1005840"/>
          </a:xfrm>
          <a:prstGeom prst="rect">
            <a:avLst/>
          </a:prstGeom>
          <a:noFill/>
          <a:ln/>
        </p:spPr>
        <p:txBody>
          <a:bodyPr wrap="square" rtlCol="0" anchor="ctr"/>
          <a:lstStyle/>
          <a:p>
            <a:pPr marL="0" indent="0">
              <a:lnSpc>
                <a:spcPct val="115000"/>
              </a:lnSpc>
              <a:buNone/>
            </a:pPr>
            <a:r>
              <a:rPr lang="en-US" sz="1150" dirty="0">
                <a:solidFill>
                  <a:srgbClr val="2B2B2B"/>
                </a:solidFill>
                <a:latin typeface="Calibri" pitchFamily="34" charset="0"/>
                <a:ea typeface="Calibri" pitchFamily="34" charset="-122"/>
                <a:cs typeface="Calibri" pitchFamily="34" charset="-120"/>
              </a:rPr>
              <a:t>A planner agent decomposes queries and coordinates specialized sub-agents, rather than relying on a single monolithic prompt.</a:t>
            </a:r>
            <a:endParaRPr lang="en-US" sz="1150" dirty="0"/>
          </a:p>
        </p:txBody>
      </p:sp>
      <p:sp>
        <p:nvSpPr>
          <p:cNvPr id="13" name="Shape 9"/>
          <p:cNvSpPr/>
          <p:nvPr/>
        </p:nvSpPr>
        <p:spPr>
          <a:xfrm>
            <a:off x="6263640" y="1508760"/>
            <a:ext cx="5440680" cy="2057400"/>
          </a:xfrm>
          <a:prstGeom prst="roundRect">
            <a:avLst>
              <a:gd name="adj" fmla="val 4444"/>
            </a:avLst>
          </a:prstGeom>
          <a:solidFill>
            <a:srgbClr val="FFFFFF"/>
          </a:solidFill>
          <a:ln w="12700">
            <a:solidFill>
              <a:srgbClr val="F7E1DE"/>
            </a:solidFill>
            <a:prstDash val="solid"/>
          </a:ln>
          <a:effectLst>
            <a:outerShdw blurRad="101600" dist="25400" dir="5400000" algn="bl" rotWithShape="0">
              <a:srgbClr val="444444">
                <a:alpha val="12000"/>
              </a:srgbClr>
            </a:outerShdw>
          </a:effectLst>
        </p:spPr>
        <p:txBody>
          <a:bodyPr/>
          <a:p/>
        </p:txBody>
      </p:sp>
      <p:sp>
        <p:nvSpPr>
          <p:cNvPr id="14" name="Shape 10"/>
          <p:cNvSpPr/>
          <p:nvPr/>
        </p:nvSpPr>
        <p:spPr>
          <a:xfrm>
            <a:off x="6519672" y="1764792"/>
            <a:ext cx="685800" cy="685800"/>
          </a:xfrm>
          <a:prstGeom prst="ellipse">
            <a:avLst/>
          </a:prstGeom>
          <a:solidFill>
            <a:srgbClr val="C00000"/>
          </a:solidFill>
          <a:ln/>
          <a:effectLst>
            <a:outerShdw blurRad="76200" dist="25400" dir="5400000" algn="bl" rotWithShape="0">
              <a:srgbClr val="9B1B1B">
                <a:alpha val="25000"/>
              </a:srgbClr>
            </a:outerShdw>
          </a:effectLst>
        </p:spPr>
        <p:txBody>
          <a:bodyPr/>
          <a:p/>
        </p:txBody>
      </p:sp>
      <p:pic>
        <p:nvPicPr>
          <p:cNvPr id="15" name="Image 2" descr="/home/claude/work/icons/database.png"/>
          <p:cNvPicPr>
            <a:picLocks noChangeAspect="1"/>
          </p:cNvPicPr>
          <p:nvPr/>
        </p:nvPicPr>
        <p:blipFill>
          <a:blip r:embed="rId5"/>
          <a:stretch>
            <a:fillRect/>
          </a:stretch>
        </p:blipFill>
        <p:spPr>
          <a:xfrm>
            <a:off x="6697980" y="1943100"/>
            <a:ext cx="329184" cy="329184"/>
          </a:xfrm>
          <a:prstGeom prst="rect">
            <a:avLst/>
          </a:prstGeom>
        </p:spPr>
      </p:pic>
      <p:sp>
        <p:nvSpPr>
          <p:cNvPr id="16" name="Text 11"/>
          <p:cNvSpPr/>
          <p:nvPr/>
        </p:nvSpPr>
        <p:spPr>
          <a:xfrm>
            <a:off x="7406640" y="1737360"/>
            <a:ext cx="4069080" cy="502920"/>
          </a:xfrm>
          <a:prstGeom prst="rect">
            <a:avLst/>
          </a:prstGeom>
          <a:noFill/>
          <a:ln/>
        </p:spPr>
        <p:txBody>
          <a:bodyPr wrap="square" rtlCol="0" anchor="ctr"/>
          <a:lstStyle/>
          <a:p>
            <a:pPr marL="0" indent="0">
              <a:buNone/>
            </a:pPr>
            <a:r>
              <a:rPr lang="en-US" sz="1400" b="1" dirty="0">
                <a:solidFill>
                  <a:srgbClr val="C00000"/>
                </a:solidFill>
                <a:latin typeface="Calibri" pitchFamily="34" charset="0"/>
                <a:ea typeface="Calibri" pitchFamily="34" charset="-122"/>
                <a:cs typeface="Calibri" pitchFamily="34" charset="-120"/>
              </a:rPr>
              <a:t>True Hybrid Retrieval</a:t>
            </a:r>
            <a:endParaRPr lang="en-US" sz="1400" dirty="0"/>
          </a:p>
        </p:txBody>
      </p:sp>
      <p:sp>
        <p:nvSpPr>
          <p:cNvPr id="17" name="Text 12"/>
          <p:cNvSpPr/>
          <p:nvPr/>
        </p:nvSpPr>
        <p:spPr>
          <a:xfrm>
            <a:off x="6537960" y="2377440"/>
            <a:ext cx="4892040" cy="1005840"/>
          </a:xfrm>
          <a:prstGeom prst="rect">
            <a:avLst/>
          </a:prstGeom>
          <a:noFill/>
          <a:ln/>
        </p:spPr>
        <p:txBody>
          <a:bodyPr wrap="square" rtlCol="0" anchor="ctr"/>
          <a:lstStyle/>
          <a:p>
            <a:pPr marL="0" indent="0">
              <a:lnSpc>
                <a:spcPct val="115000"/>
              </a:lnSpc>
              <a:buNone/>
            </a:pPr>
            <a:r>
              <a:rPr lang="en-US" sz="1150" dirty="0">
                <a:solidFill>
                  <a:srgbClr val="2B2B2B"/>
                </a:solidFill>
                <a:latin typeface="Calibri" pitchFamily="34" charset="0"/>
                <a:ea typeface="Calibri" pitchFamily="34" charset="-122"/>
                <a:cs typeface="Calibri" pitchFamily="34" charset="-120"/>
              </a:rPr>
              <a:t>Combines semantic FAISS vector search with keyword and live web search for both conceptual and factual coverage.</a:t>
            </a:r>
            <a:endParaRPr lang="en-US" sz="1150" dirty="0"/>
          </a:p>
        </p:txBody>
      </p:sp>
      <p:sp>
        <p:nvSpPr>
          <p:cNvPr id="18" name="Shape 13"/>
          <p:cNvSpPr/>
          <p:nvPr/>
        </p:nvSpPr>
        <p:spPr>
          <a:xfrm>
            <a:off x="457200" y="3749040"/>
            <a:ext cx="5440680" cy="2057400"/>
          </a:xfrm>
          <a:prstGeom prst="roundRect">
            <a:avLst>
              <a:gd name="adj" fmla="val 4444"/>
            </a:avLst>
          </a:prstGeom>
          <a:solidFill>
            <a:srgbClr val="FFFFFF"/>
          </a:solidFill>
          <a:ln w="12700">
            <a:solidFill>
              <a:srgbClr val="F7E1DE"/>
            </a:solidFill>
            <a:prstDash val="solid"/>
          </a:ln>
          <a:effectLst>
            <a:outerShdw blurRad="101600" dist="25400" dir="5400000" algn="bl" rotWithShape="0">
              <a:srgbClr val="444444">
                <a:alpha val="12000"/>
              </a:srgbClr>
            </a:outerShdw>
          </a:effectLst>
        </p:spPr>
        <p:txBody>
          <a:bodyPr/>
          <a:p/>
        </p:txBody>
      </p:sp>
      <p:sp>
        <p:nvSpPr>
          <p:cNvPr id="19" name="Shape 14"/>
          <p:cNvSpPr/>
          <p:nvPr/>
        </p:nvSpPr>
        <p:spPr>
          <a:xfrm>
            <a:off x="713232" y="4005072"/>
            <a:ext cx="685800" cy="685800"/>
          </a:xfrm>
          <a:prstGeom prst="ellipse">
            <a:avLst/>
          </a:prstGeom>
          <a:solidFill>
            <a:srgbClr val="C00000"/>
          </a:solidFill>
          <a:ln/>
          <a:effectLst>
            <a:outerShdw blurRad="76200" dist="25400" dir="5400000" algn="bl" rotWithShape="0">
              <a:srgbClr val="9B1B1B">
                <a:alpha val="25000"/>
              </a:srgbClr>
            </a:outerShdw>
          </a:effectLst>
        </p:spPr>
        <p:txBody>
          <a:bodyPr/>
          <a:p/>
        </p:txBody>
      </p:sp>
      <p:pic>
        <p:nvPicPr>
          <p:cNvPr id="20" name="Image 3" descr="/home/claude/work/icons/shield.png"/>
          <p:cNvPicPr>
            <a:picLocks noChangeAspect="1"/>
          </p:cNvPicPr>
          <p:nvPr/>
        </p:nvPicPr>
        <p:blipFill>
          <a:blip r:embed="rId6"/>
          <a:stretch>
            <a:fillRect/>
          </a:stretch>
        </p:blipFill>
        <p:spPr>
          <a:xfrm>
            <a:off x="891540" y="4183380"/>
            <a:ext cx="329184" cy="329184"/>
          </a:xfrm>
          <a:prstGeom prst="rect">
            <a:avLst/>
          </a:prstGeom>
        </p:spPr>
      </p:pic>
      <p:sp>
        <p:nvSpPr>
          <p:cNvPr id="21" name="Text 15"/>
          <p:cNvSpPr/>
          <p:nvPr/>
        </p:nvSpPr>
        <p:spPr>
          <a:xfrm>
            <a:off x="1600200" y="3977640"/>
            <a:ext cx="4069080" cy="502920"/>
          </a:xfrm>
          <a:prstGeom prst="rect">
            <a:avLst/>
          </a:prstGeom>
          <a:noFill/>
          <a:ln/>
        </p:spPr>
        <p:txBody>
          <a:bodyPr wrap="square" rtlCol="0" anchor="ctr"/>
          <a:lstStyle/>
          <a:p>
            <a:pPr marL="0" indent="0">
              <a:buNone/>
            </a:pPr>
            <a:r>
              <a:rPr lang="en-US" sz="1400" b="1" dirty="0">
                <a:solidFill>
                  <a:srgbClr val="C00000"/>
                </a:solidFill>
                <a:latin typeface="Calibri" pitchFamily="34" charset="0"/>
                <a:ea typeface="Calibri" pitchFamily="34" charset="-122"/>
                <a:cs typeface="Calibri" pitchFamily="34" charset="-120"/>
              </a:rPr>
              <a:t>Dedicated Validation Agent</a:t>
            </a:r>
            <a:endParaRPr lang="en-US" sz="1400" dirty="0"/>
          </a:p>
        </p:txBody>
      </p:sp>
      <p:sp>
        <p:nvSpPr>
          <p:cNvPr id="22" name="Text 16"/>
          <p:cNvSpPr/>
          <p:nvPr/>
        </p:nvSpPr>
        <p:spPr>
          <a:xfrm>
            <a:off x="731520" y="4617720"/>
            <a:ext cx="4892040" cy="1005840"/>
          </a:xfrm>
          <a:prstGeom prst="rect">
            <a:avLst/>
          </a:prstGeom>
          <a:noFill/>
          <a:ln/>
        </p:spPr>
        <p:txBody>
          <a:bodyPr wrap="square" rtlCol="0" anchor="ctr"/>
          <a:lstStyle/>
          <a:p>
            <a:pPr marL="0" indent="0">
              <a:lnSpc>
                <a:spcPct val="115000"/>
              </a:lnSpc>
              <a:buNone/>
            </a:pPr>
            <a:r>
              <a:rPr lang="en-US" sz="1150" dirty="0">
                <a:solidFill>
                  <a:srgbClr val="2B2B2B"/>
                </a:solidFill>
                <a:latin typeface="Calibri" pitchFamily="34" charset="0"/>
                <a:ea typeface="Calibri" pitchFamily="34" charset="-122"/>
                <a:cs typeface="Calibri" pitchFamily="34" charset="-120"/>
              </a:rPr>
              <a:t>An independent agent checks whether generated claims are actually supported by retrieved evidence before synthesis.</a:t>
            </a:r>
            <a:endParaRPr lang="en-US" sz="1150" dirty="0"/>
          </a:p>
        </p:txBody>
      </p:sp>
      <p:sp>
        <p:nvSpPr>
          <p:cNvPr id="23" name="Shape 17"/>
          <p:cNvSpPr/>
          <p:nvPr/>
        </p:nvSpPr>
        <p:spPr>
          <a:xfrm>
            <a:off x="6263640" y="3749040"/>
            <a:ext cx="5440680" cy="2057400"/>
          </a:xfrm>
          <a:prstGeom prst="roundRect">
            <a:avLst>
              <a:gd name="adj" fmla="val 4444"/>
            </a:avLst>
          </a:prstGeom>
          <a:solidFill>
            <a:srgbClr val="FFFFFF"/>
          </a:solidFill>
          <a:ln w="12700">
            <a:solidFill>
              <a:srgbClr val="F7E1DE"/>
            </a:solidFill>
            <a:prstDash val="solid"/>
          </a:ln>
          <a:effectLst>
            <a:outerShdw blurRad="101600" dist="25400" dir="5400000" algn="bl" rotWithShape="0">
              <a:srgbClr val="444444">
                <a:alpha val="12000"/>
              </a:srgbClr>
            </a:outerShdw>
          </a:effectLst>
        </p:spPr>
        <p:txBody>
          <a:bodyPr/>
          <a:p/>
        </p:txBody>
      </p:sp>
      <p:sp>
        <p:nvSpPr>
          <p:cNvPr id="24" name="Shape 18"/>
          <p:cNvSpPr/>
          <p:nvPr/>
        </p:nvSpPr>
        <p:spPr>
          <a:xfrm>
            <a:off x="6519672" y="4005072"/>
            <a:ext cx="685800" cy="685800"/>
          </a:xfrm>
          <a:prstGeom prst="ellipse">
            <a:avLst/>
          </a:prstGeom>
          <a:solidFill>
            <a:srgbClr val="C00000"/>
          </a:solidFill>
          <a:ln/>
          <a:effectLst>
            <a:outerShdw blurRad="76200" dist="25400" dir="5400000" algn="bl" rotWithShape="0">
              <a:srgbClr val="9B1B1B">
                <a:alpha val="25000"/>
              </a:srgbClr>
            </a:outerShdw>
          </a:effectLst>
        </p:spPr>
        <p:txBody>
          <a:bodyPr/>
          <a:p/>
        </p:txBody>
      </p:sp>
      <p:pic>
        <p:nvPicPr>
          <p:cNvPr id="25" name="Image 4" descr="/home/claude/work/icons/check.png"/>
          <p:cNvPicPr>
            <a:picLocks noChangeAspect="1"/>
          </p:cNvPicPr>
          <p:nvPr/>
        </p:nvPicPr>
        <p:blipFill>
          <a:blip r:embed="rId7"/>
          <a:stretch>
            <a:fillRect/>
          </a:stretch>
        </p:blipFill>
        <p:spPr>
          <a:xfrm>
            <a:off x="6697980" y="4183380"/>
            <a:ext cx="329184" cy="329184"/>
          </a:xfrm>
          <a:prstGeom prst="rect">
            <a:avLst/>
          </a:prstGeom>
        </p:spPr>
      </p:pic>
      <p:sp>
        <p:nvSpPr>
          <p:cNvPr id="26" name="Text 19"/>
          <p:cNvSpPr/>
          <p:nvPr/>
        </p:nvSpPr>
        <p:spPr>
          <a:xfrm>
            <a:off x="7406640" y="3977640"/>
            <a:ext cx="4069080" cy="502920"/>
          </a:xfrm>
          <a:prstGeom prst="rect">
            <a:avLst/>
          </a:prstGeom>
          <a:noFill/>
          <a:ln/>
        </p:spPr>
        <p:txBody>
          <a:bodyPr wrap="square" rtlCol="0" anchor="ctr"/>
          <a:lstStyle/>
          <a:p>
            <a:pPr marL="0" indent="0">
              <a:buNone/>
            </a:pPr>
            <a:r>
              <a:rPr lang="en-US" sz="1400" b="1" dirty="0">
                <a:solidFill>
                  <a:srgbClr val="C00000"/>
                </a:solidFill>
                <a:latin typeface="Calibri" pitchFamily="34" charset="0"/>
                <a:ea typeface="Calibri" pitchFamily="34" charset="-122"/>
                <a:cs typeface="Calibri" pitchFamily="34" charset="-120"/>
              </a:rPr>
              <a:t>Confidence-Scored Output</a:t>
            </a:r>
            <a:endParaRPr lang="en-US" sz="1400" dirty="0"/>
          </a:p>
        </p:txBody>
      </p:sp>
      <p:sp>
        <p:nvSpPr>
          <p:cNvPr id="27" name="Text 20"/>
          <p:cNvSpPr/>
          <p:nvPr/>
        </p:nvSpPr>
        <p:spPr>
          <a:xfrm>
            <a:off x="6537960" y="4617720"/>
            <a:ext cx="4892040" cy="1005840"/>
          </a:xfrm>
          <a:prstGeom prst="rect">
            <a:avLst/>
          </a:prstGeom>
          <a:noFill/>
          <a:ln/>
        </p:spPr>
        <p:txBody>
          <a:bodyPr wrap="square" rtlCol="0" anchor="ctr"/>
          <a:lstStyle/>
          <a:p>
            <a:pPr marL="0" indent="0">
              <a:lnSpc>
                <a:spcPct val="115000"/>
              </a:lnSpc>
              <a:buNone/>
            </a:pPr>
            <a:r>
              <a:rPr lang="en-US" sz="1150" dirty="0">
                <a:solidFill>
                  <a:srgbClr val="2B2B2B"/>
                </a:solidFill>
                <a:latin typeface="Calibri" pitchFamily="34" charset="0"/>
                <a:ea typeface="Calibri" pitchFamily="34" charset="-122"/>
                <a:cs typeface="Calibri" pitchFamily="34" charset="-120"/>
              </a:rPr>
              <a:t>Final reports carry explicit confidence levels and traceable source citations for every claim.</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DF6F3"/>
        </a:solidFill>
        <a:effectLst/>
      </p:bgPr>
    </p:bg>
    <p:spTree>
      <p:nvGrpSpPr>
        <p:cNvPr id="1" name=""/>
        <p:cNvGrpSpPr/>
        <p:nvPr/>
      </p:nvGrpSpPr>
      <p:grpSpPr>
        <a:xfrm>
          <a:off x="0" y="0"/>
          <a:ext cx="0" cy="0"/>
          <a:chOff x="0" y="0"/>
          <a:chExt cx="0" cy="0"/>
        </a:xfrm>
      </p:grpSpPr>
      <p:sp>
        <p:nvSpPr>
          <p:cNvPr id="2" name="Shape 0"/>
          <p:cNvSpPr/>
          <p:nvPr/>
        </p:nvSpPr>
        <p:spPr>
          <a:xfrm>
            <a:off x="0" y="6812280"/>
            <a:ext cx="12188952" cy="45720"/>
          </a:xfrm>
          <a:prstGeom prst="rect">
            <a:avLst/>
          </a:prstGeom>
          <a:solidFill>
            <a:srgbClr val="BA2532"/>
          </a:solidFill>
          <a:ln/>
        </p:spPr>
        <p:txBody>
          <a:bodyPr/>
          <a:p/>
        </p:txBody>
      </p:sp>
      <p:pic>
        <p:nvPicPr>
          <p:cNvPr id="3" name="Image 0" descr="/home/claude/work/unpacked/ppt/media/image1.png"/>
          <p:cNvPicPr>
            <a:picLocks noChangeAspect="1"/>
          </p:cNvPicPr>
          <p:nvPr/>
        </p:nvPicPr>
        <p:blipFill>
          <a:blip r:embed="rId3"/>
          <a:stretch>
            <a:fillRect/>
          </a:stretch>
        </p:blipFill>
        <p:spPr>
          <a:xfrm>
            <a:off x="320040" y="256032"/>
            <a:ext cx="1417320" cy="621792"/>
          </a:xfrm>
          <a:prstGeom prst="rect">
            <a:avLst/>
          </a:prstGeom>
        </p:spPr>
      </p:pic>
      <p:sp>
        <p:nvSpPr>
          <p:cNvPr id="4" name="Shape 1"/>
          <p:cNvSpPr/>
          <p:nvPr/>
        </p:nvSpPr>
        <p:spPr>
          <a:xfrm>
            <a:off x="2880360" y="320040"/>
            <a:ext cx="9006840" cy="566928"/>
          </a:xfrm>
          <a:prstGeom prst="rect">
            <a:avLst/>
          </a:prstGeom>
          <a:solidFill>
            <a:srgbClr val="C00000"/>
          </a:solidFill>
          <a:ln/>
        </p:spPr>
        <p:txBody>
          <a:bodyPr/>
          <a:p/>
        </p:txBody>
      </p:sp>
      <p:sp>
        <p:nvSpPr>
          <p:cNvPr id="5" name="Text 2"/>
          <p:cNvSpPr/>
          <p:nvPr/>
        </p:nvSpPr>
        <p:spPr>
          <a:xfrm>
            <a:off x="2880360" y="320040"/>
            <a:ext cx="9006840" cy="566928"/>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End-to-End Workflow</a:t>
            </a:r>
            <a:endParaRPr lang="en-US" sz="2000" dirty="0"/>
          </a:p>
        </p:txBody>
      </p:sp>
      <p:sp>
        <p:nvSpPr>
          <p:cNvPr id="6" name="Text 3"/>
          <p:cNvSpPr/>
          <p:nvPr/>
        </p:nvSpPr>
        <p:spPr>
          <a:xfrm>
            <a:off x="320040" y="6473952"/>
            <a:ext cx="9601200" cy="274320"/>
          </a:xfrm>
          <a:prstGeom prst="rect">
            <a:avLst/>
          </a:prstGeom>
          <a:noFill/>
          <a:ln/>
        </p:spPr>
        <p:txBody>
          <a:bodyPr wrap="square" rtlCol="0" anchor="ctr"/>
          <a:lstStyle/>
          <a:p>
            <a:pPr marL="0" indent="0">
              <a:buNone/>
            </a:pPr>
            <a:r>
              <a:rPr lang="en-US" sz="900" dirty="0">
                <a:solidFill>
                  <a:srgbClr val="6B6B6B"/>
                </a:solidFill>
                <a:latin typeface="Calibri" pitchFamily="34" charset="0"/>
                <a:ea typeface="Calibri" pitchFamily="34" charset="-122"/>
                <a:cs typeface="Calibri" pitchFamily="34" charset="-120"/>
              </a:rPr>
              <a:t>AI Multi-Agent Research Assistant  |  Applied Machine Learning for Text Analysis</a:t>
            </a:r>
            <a:endParaRPr lang="en-US" sz="900" dirty="0"/>
          </a:p>
        </p:txBody>
      </p:sp>
      <p:sp>
        <p:nvSpPr>
          <p:cNvPr id="7" name="Text 4"/>
          <p:cNvSpPr/>
          <p:nvPr/>
        </p:nvSpPr>
        <p:spPr>
          <a:xfrm>
            <a:off x="11365992" y="6473952"/>
            <a:ext cx="54864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9</a:t>
            </a:r>
            <a:endParaRPr lang="en-US" sz="900" dirty="0"/>
          </a:p>
        </p:txBody>
      </p:sp>
      <p:sp>
        <p:nvSpPr>
          <p:cNvPr id="8" name="Shape 5"/>
          <p:cNvSpPr/>
          <p:nvPr/>
        </p:nvSpPr>
        <p:spPr>
          <a:xfrm>
            <a:off x="457200" y="2194560"/>
            <a:ext cx="1691640" cy="1371600"/>
          </a:xfrm>
          <a:prstGeom prst="roundRect">
            <a:avLst>
              <a:gd name="adj" fmla="val 6667"/>
            </a:avLst>
          </a:prstGeom>
          <a:solidFill>
            <a:srgbClr val="FFFFFF"/>
          </a:solidFill>
          <a:ln w="19050">
            <a:solidFill>
              <a:srgbClr val="C00000"/>
            </a:solidFill>
            <a:prstDash val="solid"/>
          </a:ln>
          <a:effectLst>
            <a:outerShdw blurRad="76200" dist="25400" dir="5400000" algn="bl" rotWithShape="0">
              <a:srgbClr val="444444">
                <a:alpha val="12000"/>
              </a:srgbClr>
            </a:outerShdw>
          </a:effectLst>
        </p:spPr>
        <p:txBody>
          <a:bodyPr/>
          <a:p/>
        </p:txBody>
      </p:sp>
      <p:sp>
        <p:nvSpPr>
          <p:cNvPr id="9" name="Shape 6"/>
          <p:cNvSpPr/>
          <p:nvPr/>
        </p:nvSpPr>
        <p:spPr>
          <a:xfrm>
            <a:off x="1010412" y="2359152"/>
            <a:ext cx="585216" cy="585216"/>
          </a:xfrm>
          <a:prstGeom prst="ellipse">
            <a:avLst/>
          </a:prstGeom>
          <a:solidFill>
            <a:srgbClr val="C00000"/>
          </a:solidFill>
          <a:ln/>
          <a:effectLst>
            <a:outerShdw blurRad="76200" dist="25400" dir="5400000" algn="bl" rotWithShape="0">
              <a:srgbClr val="9B1B1B">
                <a:alpha val="25000"/>
              </a:srgbClr>
            </a:outerShdw>
          </a:effectLst>
        </p:spPr>
        <p:txBody>
          <a:bodyPr/>
          <a:p/>
        </p:txBody>
      </p:sp>
      <p:pic>
        <p:nvPicPr>
          <p:cNvPr id="10" name="Image 1" descr="/home/claude/work/icons/users.png"/>
          <p:cNvPicPr>
            <a:picLocks noChangeAspect="1"/>
          </p:cNvPicPr>
          <p:nvPr/>
        </p:nvPicPr>
        <p:blipFill>
          <a:blip r:embed="rId4"/>
          <a:stretch>
            <a:fillRect/>
          </a:stretch>
        </p:blipFill>
        <p:spPr>
          <a:xfrm>
            <a:off x="1162568" y="2511308"/>
            <a:ext cx="280904" cy="280904"/>
          </a:xfrm>
          <a:prstGeom prst="rect">
            <a:avLst/>
          </a:prstGeom>
        </p:spPr>
      </p:pic>
      <p:sp>
        <p:nvSpPr>
          <p:cNvPr id="11" name="Text 7"/>
          <p:cNvSpPr/>
          <p:nvPr/>
        </p:nvSpPr>
        <p:spPr>
          <a:xfrm>
            <a:off x="457200" y="1810512"/>
            <a:ext cx="1691640" cy="320040"/>
          </a:xfrm>
          <a:prstGeom prst="rect">
            <a:avLst/>
          </a:prstGeom>
          <a:noFill/>
          <a:ln/>
        </p:spPr>
        <p:txBody>
          <a:bodyPr wrap="square" rtlCol="0" anchor="ctr"/>
          <a:lstStyle/>
          <a:p>
            <a:pPr marL="0" indent="0" algn="ctr">
              <a:buNone/>
            </a:pPr>
            <a:r>
              <a:rPr lang="en-US" sz="1300" b="1" dirty="0">
                <a:solidFill>
                  <a:srgbClr val="BA2532"/>
                </a:solidFill>
                <a:latin typeface="Calibri" pitchFamily="34" charset="0"/>
                <a:ea typeface="Calibri" pitchFamily="34" charset="-122"/>
                <a:cs typeface="Calibri" pitchFamily="34" charset="-120"/>
              </a:rPr>
              <a:t>01</a:t>
            </a:r>
            <a:endParaRPr lang="en-US" sz="1300" dirty="0"/>
          </a:p>
        </p:txBody>
      </p:sp>
      <p:sp>
        <p:nvSpPr>
          <p:cNvPr id="12" name="Text 8"/>
          <p:cNvSpPr/>
          <p:nvPr/>
        </p:nvSpPr>
        <p:spPr>
          <a:xfrm>
            <a:off x="530352" y="3035808"/>
            <a:ext cx="1545336" cy="457200"/>
          </a:xfrm>
          <a:prstGeom prst="rect">
            <a:avLst/>
          </a:prstGeom>
          <a:noFill/>
          <a:ln/>
        </p:spPr>
        <p:txBody>
          <a:bodyPr wrap="square" rtlCol="0" anchor="ctr"/>
          <a:lstStyle/>
          <a:p>
            <a:pPr marL="0" indent="0" algn="ctr">
              <a:buNone/>
            </a:pPr>
            <a:r>
              <a:rPr lang="en-US" sz="1050" b="1" dirty="0">
                <a:solidFill>
                  <a:srgbClr val="2B2B2B"/>
                </a:solidFill>
                <a:latin typeface="Calibri" pitchFamily="34" charset="0"/>
                <a:ea typeface="Calibri" pitchFamily="34" charset="-122"/>
                <a:cs typeface="Calibri" pitchFamily="34" charset="-120"/>
              </a:rPr>
              <a:t>User Query</a:t>
            </a:r>
            <a:endParaRPr lang="en-US" sz="1050" dirty="0"/>
          </a:p>
        </p:txBody>
      </p:sp>
      <p:sp>
        <p:nvSpPr>
          <p:cNvPr id="13" name="Shape 9"/>
          <p:cNvSpPr/>
          <p:nvPr/>
        </p:nvSpPr>
        <p:spPr>
          <a:xfrm>
            <a:off x="2189330" y="2752344"/>
            <a:ext cx="143963" cy="256032"/>
          </a:xfrm>
          <a:prstGeom prst="rightArrow">
            <a:avLst/>
          </a:prstGeom>
          <a:solidFill>
            <a:srgbClr val="BA2532"/>
          </a:solidFill>
          <a:ln/>
        </p:spPr>
        <p:txBody>
          <a:bodyPr/>
          <a:p/>
        </p:txBody>
      </p:sp>
      <p:sp>
        <p:nvSpPr>
          <p:cNvPr id="14" name="Shape 10"/>
          <p:cNvSpPr/>
          <p:nvPr/>
        </p:nvSpPr>
        <p:spPr>
          <a:xfrm>
            <a:off x="2373782" y="2194560"/>
            <a:ext cx="1691640" cy="1371600"/>
          </a:xfrm>
          <a:prstGeom prst="roundRect">
            <a:avLst>
              <a:gd name="adj" fmla="val 6667"/>
            </a:avLst>
          </a:prstGeom>
          <a:solidFill>
            <a:srgbClr val="FFFFFF"/>
          </a:solidFill>
          <a:ln w="19050">
            <a:solidFill>
              <a:srgbClr val="C00000"/>
            </a:solidFill>
            <a:prstDash val="solid"/>
          </a:ln>
          <a:effectLst>
            <a:outerShdw blurRad="76200" dist="25400" dir="5400000" algn="bl" rotWithShape="0">
              <a:srgbClr val="444444">
                <a:alpha val="12000"/>
              </a:srgbClr>
            </a:outerShdw>
          </a:effectLst>
        </p:spPr>
        <p:txBody>
          <a:bodyPr/>
          <a:p/>
        </p:txBody>
      </p:sp>
      <p:sp>
        <p:nvSpPr>
          <p:cNvPr id="15" name="Shape 11"/>
          <p:cNvSpPr/>
          <p:nvPr/>
        </p:nvSpPr>
        <p:spPr>
          <a:xfrm>
            <a:off x="2926994" y="2359152"/>
            <a:ext cx="585216" cy="585216"/>
          </a:xfrm>
          <a:prstGeom prst="ellipse">
            <a:avLst/>
          </a:prstGeom>
          <a:solidFill>
            <a:srgbClr val="C00000"/>
          </a:solidFill>
          <a:ln/>
          <a:effectLst>
            <a:outerShdw blurRad="76200" dist="25400" dir="5400000" algn="bl" rotWithShape="0">
              <a:srgbClr val="9B1B1B">
                <a:alpha val="25000"/>
              </a:srgbClr>
            </a:outerShdw>
          </a:effectLst>
        </p:spPr>
        <p:txBody>
          <a:bodyPr/>
          <a:p/>
        </p:txBody>
      </p:sp>
      <p:pic>
        <p:nvPicPr>
          <p:cNvPr id="16" name="Image 2" descr="/home/claude/work/icons/sitemap.png"/>
          <p:cNvPicPr>
            <a:picLocks noChangeAspect="1"/>
          </p:cNvPicPr>
          <p:nvPr/>
        </p:nvPicPr>
        <p:blipFill>
          <a:blip r:embed="rId5"/>
          <a:stretch>
            <a:fillRect/>
          </a:stretch>
        </p:blipFill>
        <p:spPr>
          <a:xfrm>
            <a:off x="3079151" y="2511308"/>
            <a:ext cx="280904" cy="280904"/>
          </a:xfrm>
          <a:prstGeom prst="rect">
            <a:avLst/>
          </a:prstGeom>
        </p:spPr>
      </p:pic>
      <p:sp>
        <p:nvSpPr>
          <p:cNvPr id="17" name="Text 12"/>
          <p:cNvSpPr/>
          <p:nvPr/>
        </p:nvSpPr>
        <p:spPr>
          <a:xfrm>
            <a:off x="2373782" y="1810512"/>
            <a:ext cx="1691640" cy="320040"/>
          </a:xfrm>
          <a:prstGeom prst="rect">
            <a:avLst/>
          </a:prstGeom>
          <a:noFill/>
          <a:ln/>
        </p:spPr>
        <p:txBody>
          <a:bodyPr wrap="square" rtlCol="0" anchor="ctr"/>
          <a:lstStyle/>
          <a:p>
            <a:pPr marL="0" indent="0" algn="ctr">
              <a:buNone/>
            </a:pPr>
            <a:r>
              <a:rPr lang="en-US" sz="1300" b="1" dirty="0">
                <a:solidFill>
                  <a:srgbClr val="BA2532"/>
                </a:solidFill>
                <a:latin typeface="Calibri" pitchFamily="34" charset="0"/>
                <a:ea typeface="Calibri" pitchFamily="34" charset="-122"/>
                <a:cs typeface="Calibri" pitchFamily="34" charset="-120"/>
              </a:rPr>
              <a:t>02</a:t>
            </a:r>
            <a:endParaRPr lang="en-US" sz="1300" dirty="0"/>
          </a:p>
        </p:txBody>
      </p:sp>
      <p:sp>
        <p:nvSpPr>
          <p:cNvPr id="18" name="Text 13"/>
          <p:cNvSpPr/>
          <p:nvPr/>
        </p:nvSpPr>
        <p:spPr>
          <a:xfrm>
            <a:off x="2446934" y="3035808"/>
            <a:ext cx="1545336" cy="457200"/>
          </a:xfrm>
          <a:prstGeom prst="rect">
            <a:avLst/>
          </a:prstGeom>
          <a:noFill/>
          <a:ln/>
        </p:spPr>
        <p:txBody>
          <a:bodyPr wrap="square" rtlCol="0" anchor="ctr"/>
          <a:lstStyle/>
          <a:p>
            <a:pPr marL="0" indent="0" algn="ctr">
              <a:buNone/>
            </a:pPr>
            <a:r>
              <a:rPr lang="en-US" sz="1050" b="1" dirty="0">
                <a:solidFill>
                  <a:srgbClr val="2B2B2B"/>
                </a:solidFill>
                <a:latin typeface="Calibri" pitchFamily="34" charset="0"/>
                <a:ea typeface="Calibri" pitchFamily="34" charset="-122"/>
                <a:cs typeface="Calibri" pitchFamily="34" charset="-120"/>
              </a:rPr>
              <a:t>Task Decomposition</a:t>
            </a:r>
            <a:endParaRPr lang="en-US" sz="1050" dirty="0"/>
          </a:p>
        </p:txBody>
      </p:sp>
      <p:sp>
        <p:nvSpPr>
          <p:cNvPr id="19" name="Shape 14"/>
          <p:cNvSpPr/>
          <p:nvPr/>
        </p:nvSpPr>
        <p:spPr>
          <a:xfrm>
            <a:off x="4105912" y="2752344"/>
            <a:ext cx="143963" cy="256032"/>
          </a:xfrm>
          <a:prstGeom prst="rightArrow">
            <a:avLst/>
          </a:prstGeom>
          <a:solidFill>
            <a:srgbClr val="BA2532"/>
          </a:solidFill>
          <a:ln/>
        </p:spPr>
        <p:txBody>
          <a:bodyPr/>
          <a:p/>
        </p:txBody>
      </p:sp>
      <p:sp>
        <p:nvSpPr>
          <p:cNvPr id="20" name="Shape 15"/>
          <p:cNvSpPr/>
          <p:nvPr/>
        </p:nvSpPr>
        <p:spPr>
          <a:xfrm>
            <a:off x="4290365" y="2194560"/>
            <a:ext cx="1691640" cy="1371600"/>
          </a:xfrm>
          <a:prstGeom prst="roundRect">
            <a:avLst>
              <a:gd name="adj" fmla="val 6667"/>
            </a:avLst>
          </a:prstGeom>
          <a:solidFill>
            <a:srgbClr val="FFFFFF"/>
          </a:solidFill>
          <a:ln w="19050">
            <a:solidFill>
              <a:srgbClr val="C00000"/>
            </a:solidFill>
            <a:prstDash val="solid"/>
          </a:ln>
          <a:effectLst>
            <a:outerShdw blurRad="76200" dist="25400" dir="5400000" algn="bl" rotWithShape="0">
              <a:srgbClr val="444444">
                <a:alpha val="12000"/>
              </a:srgbClr>
            </a:outerShdw>
          </a:effectLst>
        </p:spPr>
        <p:txBody>
          <a:bodyPr/>
          <a:p/>
        </p:txBody>
      </p:sp>
      <p:sp>
        <p:nvSpPr>
          <p:cNvPr id="21" name="Shape 16"/>
          <p:cNvSpPr/>
          <p:nvPr/>
        </p:nvSpPr>
        <p:spPr>
          <a:xfrm>
            <a:off x="4843577" y="2359152"/>
            <a:ext cx="585216" cy="585216"/>
          </a:xfrm>
          <a:prstGeom prst="ellipse">
            <a:avLst/>
          </a:prstGeom>
          <a:solidFill>
            <a:srgbClr val="C00000"/>
          </a:solidFill>
          <a:ln/>
          <a:effectLst>
            <a:outerShdw blurRad="76200" dist="25400" dir="5400000" algn="bl" rotWithShape="0">
              <a:srgbClr val="9B1B1B">
                <a:alpha val="25000"/>
              </a:srgbClr>
            </a:outerShdw>
          </a:effectLst>
        </p:spPr>
        <p:txBody>
          <a:bodyPr/>
          <a:p/>
        </p:txBody>
      </p:sp>
      <p:pic>
        <p:nvPicPr>
          <p:cNvPr id="22" name="Image 3" descr="/home/claude/work/icons/network.png"/>
          <p:cNvPicPr>
            <a:picLocks noChangeAspect="1"/>
          </p:cNvPicPr>
          <p:nvPr/>
        </p:nvPicPr>
        <p:blipFill>
          <a:blip r:embed="rId6"/>
          <a:stretch>
            <a:fillRect/>
          </a:stretch>
        </p:blipFill>
        <p:spPr>
          <a:xfrm>
            <a:off x="4995733" y="2511308"/>
            <a:ext cx="280904" cy="280904"/>
          </a:xfrm>
          <a:prstGeom prst="rect">
            <a:avLst/>
          </a:prstGeom>
        </p:spPr>
      </p:pic>
      <p:sp>
        <p:nvSpPr>
          <p:cNvPr id="23" name="Text 17"/>
          <p:cNvSpPr/>
          <p:nvPr/>
        </p:nvSpPr>
        <p:spPr>
          <a:xfrm>
            <a:off x="4290365" y="1810512"/>
            <a:ext cx="1691640" cy="320040"/>
          </a:xfrm>
          <a:prstGeom prst="rect">
            <a:avLst/>
          </a:prstGeom>
          <a:noFill/>
          <a:ln/>
        </p:spPr>
        <p:txBody>
          <a:bodyPr wrap="square" rtlCol="0" anchor="ctr"/>
          <a:lstStyle/>
          <a:p>
            <a:pPr marL="0" indent="0" algn="ctr">
              <a:buNone/>
            </a:pPr>
            <a:r>
              <a:rPr lang="en-US" sz="1300" b="1" dirty="0">
                <a:solidFill>
                  <a:srgbClr val="BA2532"/>
                </a:solidFill>
                <a:latin typeface="Calibri" pitchFamily="34" charset="0"/>
                <a:ea typeface="Calibri" pitchFamily="34" charset="-122"/>
                <a:cs typeface="Calibri" pitchFamily="34" charset="-120"/>
              </a:rPr>
              <a:t>03</a:t>
            </a:r>
            <a:endParaRPr lang="en-US" sz="1300" dirty="0"/>
          </a:p>
        </p:txBody>
      </p:sp>
      <p:sp>
        <p:nvSpPr>
          <p:cNvPr id="24" name="Text 18"/>
          <p:cNvSpPr/>
          <p:nvPr/>
        </p:nvSpPr>
        <p:spPr>
          <a:xfrm>
            <a:off x="4363517" y="3035808"/>
            <a:ext cx="1545336" cy="457200"/>
          </a:xfrm>
          <a:prstGeom prst="rect">
            <a:avLst/>
          </a:prstGeom>
          <a:noFill/>
          <a:ln/>
        </p:spPr>
        <p:txBody>
          <a:bodyPr wrap="square" rtlCol="0" anchor="ctr"/>
          <a:lstStyle/>
          <a:p>
            <a:pPr marL="0" indent="0" algn="ctr">
              <a:buNone/>
            </a:pPr>
            <a:r>
              <a:rPr lang="en-US" sz="1050" b="1" dirty="0">
                <a:solidFill>
                  <a:srgbClr val="2B2B2B"/>
                </a:solidFill>
                <a:latin typeface="Calibri" pitchFamily="34" charset="0"/>
                <a:ea typeface="Calibri" pitchFamily="34" charset="-122"/>
                <a:cs typeface="Calibri" pitchFamily="34" charset="-120"/>
              </a:rPr>
              <a:t>Parallel Agent Dispatch</a:t>
            </a:r>
            <a:endParaRPr lang="en-US" sz="1050" dirty="0"/>
          </a:p>
        </p:txBody>
      </p:sp>
      <p:sp>
        <p:nvSpPr>
          <p:cNvPr id="25" name="Shape 19"/>
          <p:cNvSpPr/>
          <p:nvPr/>
        </p:nvSpPr>
        <p:spPr>
          <a:xfrm>
            <a:off x="6022494" y="2752344"/>
            <a:ext cx="143963" cy="256032"/>
          </a:xfrm>
          <a:prstGeom prst="rightArrow">
            <a:avLst/>
          </a:prstGeom>
          <a:solidFill>
            <a:srgbClr val="BA2532"/>
          </a:solidFill>
          <a:ln/>
        </p:spPr>
        <p:txBody>
          <a:bodyPr/>
          <a:p/>
        </p:txBody>
      </p:sp>
      <p:sp>
        <p:nvSpPr>
          <p:cNvPr id="26" name="Shape 20"/>
          <p:cNvSpPr/>
          <p:nvPr/>
        </p:nvSpPr>
        <p:spPr>
          <a:xfrm>
            <a:off x="6206947" y="2194560"/>
            <a:ext cx="1691640" cy="1371600"/>
          </a:xfrm>
          <a:prstGeom prst="roundRect">
            <a:avLst>
              <a:gd name="adj" fmla="val 6667"/>
            </a:avLst>
          </a:prstGeom>
          <a:solidFill>
            <a:srgbClr val="FFFFFF"/>
          </a:solidFill>
          <a:ln w="19050">
            <a:solidFill>
              <a:srgbClr val="C00000"/>
            </a:solidFill>
            <a:prstDash val="solid"/>
          </a:ln>
          <a:effectLst>
            <a:outerShdw blurRad="76200" dist="25400" dir="5400000" algn="bl" rotWithShape="0">
              <a:srgbClr val="444444">
                <a:alpha val="12000"/>
              </a:srgbClr>
            </a:outerShdw>
          </a:effectLst>
        </p:spPr>
        <p:txBody>
          <a:bodyPr/>
          <a:p/>
        </p:txBody>
      </p:sp>
      <p:sp>
        <p:nvSpPr>
          <p:cNvPr id="27" name="Shape 21"/>
          <p:cNvSpPr/>
          <p:nvPr/>
        </p:nvSpPr>
        <p:spPr>
          <a:xfrm>
            <a:off x="6760159" y="2359152"/>
            <a:ext cx="585216" cy="585216"/>
          </a:xfrm>
          <a:prstGeom prst="ellipse">
            <a:avLst/>
          </a:prstGeom>
          <a:solidFill>
            <a:srgbClr val="C00000"/>
          </a:solidFill>
          <a:ln/>
          <a:effectLst>
            <a:outerShdw blurRad="76200" dist="25400" dir="5400000" algn="bl" rotWithShape="0">
              <a:srgbClr val="9B1B1B">
                <a:alpha val="25000"/>
              </a:srgbClr>
            </a:outerShdw>
          </a:effectLst>
        </p:spPr>
        <p:txBody>
          <a:bodyPr/>
          <a:p/>
        </p:txBody>
      </p:sp>
      <p:pic>
        <p:nvPicPr>
          <p:cNvPr id="28" name="Image 4" descr="/home/claude/work/icons/database.png"/>
          <p:cNvPicPr>
            <a:picLocks noChangeAspect="1"/>
          </p:cNvPicPr>
          <p:nvPr/>
        </p:nvPicPr>
        <p:blipFill>
          <a:blip r:embed="rId7"/>
          <a:stretch>
            <a:fillRect/>
          </a:stretch>
        </p:blipFill>
        <p:spPr>
          <a:xfrm>
            <a:off x="6912315" y="2511308"/>
            <a:ext cx="280904" cy="280904"/>
          </a:xfrm>
          <a:prstGeom prst="rect">
            <a:avLst/>
          </a:prstGeom>
        </p:spPr>
      </p:pic>
      <p:sp>
        <p:nvSpPr>
          <p:cNvPr id="29" name="Text 22"/>
          <p:cNvSpPr/>
          <p:nvPr/>
        </p:nvSpPr>
        <p:spPr>
          <a:xfrm>
            <a:off x="6206947" y="1810512"/>
            <a:ext cx="1691640" cy="320040"/>
          </a:xfrm>
          <a:prstGeom prst="rect">
            <a:avLst/>
          </a:prstGeom>
          <a:noFill/>
          <a:ln/>
        </p:spPr>
        <p:txBody>
          <a:bodyPr wrap="square" rtlCol="0" anchor="ctr"/>
          <a:lstStyle/>
          <a:p>
            <a:pPr marL="0" indent="0" algn="ctr">
              <a:buNone/>
            </a:pPr>
            <a:r>
              <a:rPr lang="en-US" sz="1300" b="1" dirty="0">
                <a:solidFill>
                  <a:srgbClr val="BA2532"/>
                </a:solidFill>
                <a:latin typeface="Calibri" pitchFamily="34" charset="0"/>
                <a:ea typeface="Calibri" pitchFamily="34" charset="-122"/>
                <a:cs typeface="Calibri" pitchFamily="34" charset="-120"/>
              </a:rPr>
              <a:t>04</a:t>
            </a:r>
            <a:endParaRPr lang="en-US" sz="1300" dirty="0"/>
          </a:p>
        </p:txBody>
      </p:sp>
      <p:sp>
        <p:nvSpPr>
          <p:cNvPr id="30" name="Text 23"/>
          <p:cNvSpPr/>
          <p:nvPr/>
        </p:nvSpPr>
        <p:spPr>
          <a:xfrm>
            <a:off x="6280099" y="3035808"/>
            <a:ext cx="1545336" cy="457200"/>
          </a:xfrm>
          <a:prstGeom prst="rect">
            <a:avLst/>
          </a:prstGeom>
          <a:noFill/>
          <a:ln/>
        </p:spPr>
        <p:txBody>
          <a:bodyPr wrap="square" rtlCol="0" anchor="ctr"/>
          <a:lstStyle/>
          <a:p>
            <a:pPr marL="0" indent="0" algn="ctr">
              <a:buNone/>
            </a:pPr>
            <a:r>
              <a:rPr lang="en-US" sz="1050" b="1" dirty="0">
                <a:solidFill>
                  <a:srgbClr val="2B2B2B"/>
                </a:solidFill>
                <a:latin typeface="Calibri" pitchFamily="34" charset="0"/>
                <a:ea typeface="Calibri" pitchFamily="34" charset="-122"/>
                <a:cs typeface="Calibri" pitchFamily="34" charset="-120"/>
              </a:rPr>
              <a:t>Hybrid RAG Retrieval</a:t>
            </a:r>
            <a:endParaRPr lang="en-US" sz="1050" dirty="0"/>
          </a:p>
        </p:txBody>
      </p:sp>
      <p:sp>
        <p:nvSpPr>
          <p:cNvPr id="31" name="Shape 24"/>
          <p:cNvSpPr/>
          <p:nvPr/>
        </p:nvSpPr>
        <p:spPr>
          <a:xfrm>
            <a:off x="7939077" y="2752344"/>
            <a:ext cx="143963" cy="256032"/>
          </a:xfrm>
          <a:prstGeom prst="rightArrow">
            <a:avLst/>
          </a:prstGeom>
          <a:solidFill>
            <a:srgbClr val="BA2532"/>
          </a:solidFill>
          <a:ln/>
        </p:spPr>
        <p:txBody>
          <a:bodyPr/>
          <a:p/>
        </p:txBody>
      </p:sp>
      <p:sp>
        <p:nvSpPr>
          <p:cNvPr id="32" name="Shape 25"/>
          <p:cNvSpPr/>
          <p:nvPr/>
        </p:nvSpPr>
        <p:spPr>
          <a:xfrm>
            <a:off x="8123530" y="2194560"/>
            <a:ext cx="1691640" cy="1371600"/>
          </a:xfrm>
          <a:prstGeom prst="roundRect">
            <a:avLst>
              <a:gd name="adj" fmla="val 6667"/>
            </a:avLst>
          </a:prstGeom>
          <a:solidFill>
            <a:srgbClr val="FFFFFF"/>
          </a:solidFill>
          <a:ln w="19050">
            <a:solidFill>
              <a:srgbClr val="C00000"/>
            </a:solidFill>
            <a:prstDash val="solid"/>
          </a:ln>
          <a:effectLst>
            <a:outerShdw blurRad="76200" dist="25400" dir="5400000" algn="bl" rotWithShape="0">
              <a:srgbClr val="444444">
                <a:alpha val="12000"/>
              </a:srgbClr>
            </a:outerShdw>
          </a:effectLst>
        </p:spPr>
        <p:txBody>
          <a:bodyPr/>
          <a:p/>
        </p:txBody>
      </p:sp>
      <p:sp>
        <p:nvSpPr>
          <p:cNvPr id="33" name="Shape 26"/>
          <p:cNvSpPr/>
          <p:nvPr/>
        </p:nvSpPr>
        <p:spPr>
          <a:xfrm>
            <a:off x="8676742" y="2359152"/>
            <a:ext cx="585216" cy="585216"/>
          </a:xfrm>
          <a:prstGeom prst="ellipse">
            <a:avLst/>
          </a:prstGeom>
          <a:solidFill>
            <a:srgbClr val="C00000"/>
          </a:solidFill>
          <a:ln/>
          <a:effectLst>
            <a:outerShdw blurRad="76200" dist="25400" dir="5400000" algn="bl" rotWithShape="0">
              <a:srgbClr val="9B1B1B">
                <a:alpha val="25000"/>
              </a:srgbClr>
            </a:outerShdw>
          </a:effectLst>
        </p:spPr>
        <p:txBody>
          <a:bodyPr/>
          <a:p/>
        </p:txBody>
      </p:sp>
      <p:pic>
        <p:nvPicPr>
          <p:cNvPr id="34" name="Image 5" descr="/home/claude/work/icons/shield.png"/>
          <p:cNvPicPr>
            <a:picLocks noChangeAspect="1"/>
          </p:cNvPicPr>
          <p:nvPr/>
        </p:nvPicPr>
        <p:blipFill>
          <a:blip r:embed="rId8"/>
          <a:stretch>
            <a:fillRect/>
          </a:stretch>
        </p:blipFill>
        <p:spPr>
          <a:xfrm>
            <a:off x="8828898" y="2511308"/>
            <a:ext cx="280904" cy="280904"/>
          </a:xfrm>
          <a:prstGeom prst="rect">
            <a:avLst/>
          </a:prstGeom>
        </p:spPr>
      </p:pic>
      <p:sp>
        <p:nvSpPr>
          <p:cNvPr id="35" name="Text 27"/>
          <p:cNvSpPr/>
          <p:nvPr/>
        </p:nvSpPr>
        <p:spPr>
          <a:xfrm>
            <a:off x="8123530" y="1810512"/>
            <a:ext cx="1691640" cy="320040"/>
          </a:xfrm>
          <a:prstGeom prst="rect">
            <a:avLst/>
          </a:prstGeom>
          <a:noFill/>
          <a:ln/>
        </p:spPr>
        <p:txBody>
          <a:bodyPr wrap="square" rtlCol="0" anchor="ctr"/>
          <a:lstStyle/>
          <a:p>
            <a:pPr marL="0" indent="0" algn="ctr">
              <a:buNone/>
            </a:pPr>
            <a:r>
              <a:rPr lang="en-US" sz="1300" b="1" dirty="0">
                <a:solidFill>
                  <a:srgbClr val="BA2532"/>
                </a:solidFill>
                <a:latin typeface="Calibri" pitchFamily="34" charset="0"/>
                <a:ea typeface="Calibri" pitchFamily="34" charset="-122"/>
                <a:cs typeface="Calibri" pitchFamily="34" charset="-120"/>
              </a:rPr>
              <a:t>05</a:t>
            </a:r>
            <a:endParaRPr lang="en-US" sz="1300" dirty="0"/>
          </a:p>
        </p:txBody>
      </p:sp>
      <p:sp>
        <p:nvSpPr>
          <p:cNvPr id="36" name="Text 28"/>
          <p:cNvSpPr/>
          <p:nvPr/>
        </p:nvSpPr>
        <p:spPr>
          <a:xfrm>
            <a:off x="8196682" y="3035808"/>
            <a:ext cx="1545336" cy="457200"/>
          </a:xfrm>
          <a:prstGeom prst="rect">
            <a:avLst/>
          </a:prstGeom>
          <a:noFill/>
          <a:ln/>
        </p:spPr>
        <p:txBody>
          <a:bodyPr wrap="square" rtlCol="0" anchor="ctr"/>
          <a:lstStyle/>
          <a:p>
            <a:pPr marL="0" indent="0" algn="ctr">
              <a:buNone/>
            </a:pPr>
            <a:r>
              <a:rPr lang="en-US" sz="1050" b="1" dirty="0">
                <a:solidFill>
                  <a:srgbClr val="2B2B2B"/>
                </a:solidFill>
                <a:latin typeface="Calibri" pitchFamily="34" charset="0"/>
                <a:ea typeface="Calibri" pitchFamily="34" charset="-122"/>
                <a:cs typeface="Calibri" pitchFamily="34" charset="-120"/>
              </a:rPr>
              <a:t>Cross-Agent Validation</a:t>
            </a:r>
            <a:endParaRPr lang="en-US" sz="1050" dirty="0"/>
          </a:p>
        </p:txBody>
      </p:sp>
      <p:sp>
        <p:nvSpPr>
          <p:cNvPr id="37" name="Shape 29"/>
          <p:cNvSpPr/>
          <p:nvPr/>
        </p:nvSpPr>
        <p:spPr>
          <a:xfrm>
            <a:off x="9855659" y="2752344"/>
            <a:ext cx="143963" cy="256032"/>
          </a:xfrm>
          <a:prstGeom prst="rightArrow">
            <a:avLst/>
          </a:prstGeom>
          <a:solidFill>
            <a:srgbClr val="BA2532"/>
          </a:solidFill>
          <a:ln/>
        </p:spPr>
        <p:txBody>
          <a:bodyPr/>
          <a:p/>
        </p:txBody>
      </p:sp>
      <p:sp>
        <p:nvSpPr>
          <p:cNvPr id="38" name="Shape 30"/>
          <p:cNvSpPr/>
          <p:nvPr/>
        </p:nvSpPr>
        <p:spPr>
          <a:xfrm>
            <a:off x="10040112" y="2194560"/>
            <a:ext cx="1691640" cy="1371600"/>
          </a:xfrm>
          <a:prstGeom prst="roundRect">
            <a:avLst>
              <a:gd name="adj" fmla="val 6667"/>
            </a:avLst>
          </a:prstGeom>
          <a:solidFill>
            <a:srgbClr val="8C0000"/>
          </a:solidFill>
          <a:ln w="12700">
            <a:solidFill>
              <a:srgbClr val="C00000"/>
            </a:solidFill>
            <a:prstDash val="solid"/>
          </a:ln>
          <a:effectLst>
            <a:outerShdw blurRad="76200" dist="25400" dir="5400000" algn="bl" rotWithShape="0">
              <a:srgbClr val="444444">
                <a:alpha val="12000"/>
              </a:srgbClr>
            </a:outerShdw>
          </a:effectLst>
        </p:spPr>
        <p:txBody>
          <a:bodyPr/>
          <a:p/>
        </p:txBody>
      </p:sp>
      <p:sp>
        <p:nvSpPr>
          <p:cNvPr id="39" name="Shape 31"/>
          <p:cNvSpPr/>
          <p:nvPr/>
        </p:nvSpPr>
        <p:spPr>
          <a:xfrm>
            <a:off x="10593324" y="2359152"/>
            <a:ext cx="585216" cy="585216"/>
          </a:xfrm>
          <a:prstGeom prst="ellipse">
            <a:avLst/>
          </a:prstGeom>
          <a:solidFill>
            <a:srgbClr val="FFFFFF"/>
          </a:solidFill>
          <a:ln/>
          <a:effectLst>
            <a:outerShdw blurRad="76200" dist="25400" dir="5400000" algn="bl" rotWithShape="0">
              <a:srgbClr val="9B1B1B">
                <a:alpha val="25000"/>
              </a:srgbClr>
            </a:outerShdw>
          </a:effectLst>
        </p:spPr>
        <p:txBody>
          <a:bodyPr/>
          <a:p/>
        </p:txBody>
      </p:sp>
      <p:pic>
        <p:nvPicPr>
          <p:cNvPr id="40" name="Image 6" descr="/home/claude/work/icons/report.png"/>
          <p:cNvPicPr>
            <a:picLocks noChangeAspect="1"/>
          </p:cNvPicPr>
          <p:nvPr/>
        </p:nvPicPr>
        <p:blipFill>
          <a:blip r:embed="rId9"/>
          <a:stretch>
            <a:fillRect/>
          </a:stretch>
        </p:blipFill>
        <p:spPr>
          <a:xfrm>
            <a:off x="10745480" y="2511308"/>
            <a:ext cx="280904" cy="280904"/>
          </a:xfrm>
          <a:prstGeom prst="rect">
            <a:avLst/>
          </a:prstGeom>
        </p:spPr>
      </p:pic>
      <p:sp>
        <p:nvSpPr>
          <p:cNvPr id="41" name="Text 32"/>
          <p:cNvSpPr/>
          <p:nvPr/>
        </p:nvSpPr>
        <p:spPr>
          <a:xfrm>
            <a:off x="10040112" y="1810512"/>
            <a:ext cx="1691640" cy="320040"/>
          </a:xfrm>
          <a:prstGeom prst="rect">
            <a:avLst/>
          </a:prstGeom>
          <a:noFill/>
          <a:ln/>
        </p:spPr>
        <p:txBody>
          <a:bodyPr wrap="square" rtlCol="0" anchor="ctr"/>
          <a:lstStyle/>
          <a:p>
            <a:pPr marL="0" indent="0" algn="ctr">
              <a:buNone/>
            </a:pPr>
            <a:r>
              <a:rPr lang="en-US" sz="1300" b="1" dirty="0">
                <a:solidFill>
                  <a:srgbClr val="BA2532"/>
                </a:solidFill>
                <a:latin typeface="Calibri" pitchFamily="34" charset="0"/>
                <a:ea typeface="Calibri" pitchFamily="34" charset="-122"/>
                <a:cs typeface="Calibri" pitchFamily="34" charset="-120"/>
              </a:rPr>
              <a:t>06</a:t>
            </a:r>
            <a:endParaRPr lang="en-US" sz="1300" dirty="0"/>
          </a:p>
        </p:txBody>
      </p:sp>
      <p:sp>
        <p:nvSpPr>
          <p:cNvPr id="42" name="Text 33"/>
          <p:cNvSpPr/>
          <p:nvPr/>
        </p:nvSpPr>
        <p:spPr>
          <a:xfrm>
            <a:off x="10113264" y="3035808"/>
            <a:ext cx="1545336" cy="45720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Cited Report + Confidence</a:t>
            </a:r>
            <a:endParaRPr lang="en-US" sz="1050" dirty="0"/>
          </a:p>
        </p:txBody>
      </p:sp>
      <p:sp>
        <p:nvSpPr>
          <p:cNvPr id="43" name="Text 34"/>
          <p:cNvSpPr/>
          <p:nvPr/>
        </p:nvSpPr>
        <p:spPr>
          <a:xfrm>
            <a:off x="914400" y="4206240"/>
            <a:ext cx="10360152" cy="457200"/>
          </a:xfrm>
          <a:prstGeom prst="rect">
            <a:avLst/>
          </a:prstGeom>
          <a:noFill/>
          <a:ln/>
        </p:spPr>
        <p:txBody>
          <a:bodyPr wrap="square" rtlCol="0" anchor="ctr"/>
          <a:lstStyle/>
          <a:p>
            <a:pPr marL="0" indent="0" algn="ctr">
              <a:buNone/>
            </a:pPr>
            <a:r>
              <a:rPr lang="en-US" sz="1350" i="1" dirty="0">
                <a:solidFill>
                  <a:srgbClr val="6B6B6B"/>
                </a:solidFill>
                <a:latin typeface="Calibri" pitchFamily="34" charset="0"/>
                <a:ea typeface="Calibri" pitchFamily="34" charset="-122"/>
                <a:cs typeface="Calibri" pitchFamily="34" charset="-120"/>
              </a:rPr>
              <a:t>A single, domain-independent pipeline that plans, retrieves, verifies, and synthesizes — end to end.</a:t>
            </a:r>
            <a:endParaRPr lang="en-US" sz="1350" dirty="0"/>
          </a:p>
        </p:txBody>
      </p:sp>
      <p:sp>
        <p:nvSpPr>
          <p:cNvPr id="44" name="Shape 35"/>
          <p:cNvSpPr/>
          <p:nvPr/>
        </p:nvSpPr>
        <p:spPr>
          <a:xfrm>
            <a:off x="585216" y="4846320"/>
            <a:ext cx="3520440" cy="1417320"/>
          </a:xfrm>
          <a:prstGeom prst="roundRect">
            <a:avLst>
              <a:gd name="adj" fmla="val 6452"/>
            </a:avLst>
          </a:prstGeom>
          <a:solidFill>
            <a:srgbClr val="FFFFFF"/>
          </a:solidFill>
          <a:ln w="12700">
            <a:solidFill>
              <a:srgbClr val="F7E1DE"/>
            </a:solidFill>
            <a:prstDash val="solid"/>
          </a:ln>
        </p:spPr>
        <p:txBody>
          <a:bodyPr/>
          <a:p/>
        </p:txBody>
      </p:sp>
      <p:sp>
        <p:nvSpPr>
          <p:cNvPr id="45" name="Shape 36"/>
          <p:cNvSpPr/>
          <p:nvPr/>
        </p:nvSpPr>
        <p:spPr>
          <a:xfrm>
            <a:off x="768096" y="5280660"/>
            <a:ext cx="548640" cy="548640"/>
          </a:xfrm>
          <a:prstGeom prst="ellipse">
            <a:avLst/>
          </a:prstGeom>
          <a:solidFill>
            <a:srgbClr val="C00000"/>
          </a:solidFill>
          <a:ln/>
          <a:effectLst>
            <a:outerShdw blurRad="76200" dist="25400" dir="5400000" algn="bl" rotWithShape="0">
              <a:srgbClr val="9B1B1B">
                <a:alpha val="25000"/>
              </a:srgbClr>
            </a:outerShdw>
          </a:effectLst>
        </p:spPr>
        <p:txBody>
          <a:bodyPr/>
          <a:p/>
        </p:txBody>
      </p:sp>
      <p:pic>
        <p:nvPicPr>
          <p:cNvPr id="46" name="Image 7" descr="/home/claude/work/icons/target.png"/>
          <p:cNvPicPr>
            <a:picLocks noChangeAspect="1"/>
          </p:cNvPicPr>
          <p:nvPr/>
        </p:nvPicPr>
        <p:blipFill>
          <a:blip r:embed="rId10"/>
          <a:stretch>
            <a:fillRect/>
          </a:stretch>
        </p:blipFill>
        <p:spPr>
          <a:xfrm>
            <a:off x="910742" y="5423306"/>
            <a:ext cx="263347" cy="263347"/>
          </a:xfrm>
          <a:prstGeom prst="rect">
            <a:avLst/>
          </a:prstGeom>
        </p:spPr>
      </p:pic>
      <p:sp>
        <p:nvSpPr>
          <p:cNvPr id="47" name="Text 37"/>
          <p:cNvSpPr/>
          <p:nvPr/>
        </p:nvSpPr>
        <p:spPr>
          <a:xfrm>
            <a:off x="1453896" y="4956048"/>
            <a:ext cx="2514600" cy="320040"/>
          </a:xfrm>
          <a:prstGeom prst="rect">
            <a:avLst/>
          </a:prstGeom>
          <a:noFill/>
          <a:ln/>
        </p:spPr>
        <p:txBody>
          <a:bodyPr wrap="square" rtlCol="0" anchor="ctr"/>
          <a:lstStyle/>
          <a:p>
            <a:pPr marL="0" indent="0">
              <a:buNone/>
            </a:pPr>
            <a:r>
              <a:rPr lang="en-US" sz="1200" b="1" dirty="0">
                <a:solidFill>
                  <a:srgbClr val="C00000"/>
                </a:solidFill>
                <a:latin typeface="Calibri" pitchFamily="34" charset="0"/>
                <a:ea typeface="Calibri" pitchFamily="34" charset="-122"/>
                <a:cs typeface="Calibri" pitchFamily="34" charset="-120"/>
              </a:rPr>
              <a:t>Task-Aware Planning</a:t>
            </a:r>
            <a:endParaRPr lang="en-US" sz="1200" dirty="0"/>
          </a:p>
        </p:txBody>
      </p:sp>
      <p:sp>
        <p:nvSpPr>
          <p:cNvPr id="48" name="Text 38"/>
          <p:cNvSpPr/>
          <p:nvPr/>
        </p:nvSpPr>
        <p:spPr>
          <a:xfrm>
            <a:off x="1453896" y="5303520"/>
            <a:ext cx="2514600" cy="868680"/>
          </a:xfrm>
          <a:prstGeom prst="rect">
            <a:avLst/>
          </a:prstGeom>
          <a:noFill/>
          <a:ln/>
        </p:spPr>
        <p:txBody>
          <a:bodyPr wrap="square" rtlCol="0" anchor="ctr"/>
          <a:lstStyle/>
          <a:p>
            <a:pPr marL="0" indent="0">
              <a:lnSpc>
                <a:spcPct val="110000"/>
              </a:lnSpc>
              <a:buNone/>
            </a:pPr>
            <a:r>
              <a:rPr lang="en-US" sz="1000" dirty="0">
                <a:solidFill>
                  <a:srgbClr val="2B2B2B"/>
                </a:solidFill>
                <a:latin typeface="Calibri" pitchFamily="34" charset="0"/>
                <a:ea typeface="Calibri" pitchFamily="34" charset="-122"/>
                <a:cs typeface="Calibri" pitchFamily="34" charset="-120"/>
              </a:rPr>
              <a:t>Each sub-task is scoped to what the query actually needs.</a:t>
            </a:r>
            <a:endParaRPr lang="en-US" sz="1000" dirty="0"/>
          </a:p>
        </p:txBody>
      </p:sp>
      <p:sp>
        <p:nvSpPr>
          <p:cNvPr id="49" name="Shape 39"/>
          <p:cNvSpPr/>
          <p:nvPr/>
        </p:nvSpPr>
        <p:spPr>
          <a:xfrm>
            <a:off x="4334256" y="4846320"/>
            <a:ext cx="3520440" cy="1417320"/>
          </a:xfrm>
          <a:prstGeom prst="roundRect">
            <a:avLst>
              <a:gd name="adj" fmla="val 6452"/>
            </a:avLst>
          </a:prstGeom>
          <a:solidFill>
            <a:srgbClr val="FFFFFF"/>
          </a:solidFill>
          <a:ln w="12700">
            <a:solidFill>
              <a:srgbClr val="F7E1DE"/>
            </a:solidFill>
            <a:prstDash val="solid"/>
          </a:ln>
        </p:spPr>
        <p:txBody>
          <a:bodyPr/>
          <a:p/>
        </p:txBody>
      </p:sp>
      <p:sp>
        <p:nvSpPr>
          <p:cNvPr id="50" name="Shape 40"/>
          <p:cNvSpPr/>
          <p:nvPr/>
        </p:nvSpPr>
        <p:spPr>
          <a:xfrm>
            <a:off x="4517136" y="5280660"/>
            <a:ext cx="548640" cy="548640"/>
          </a:xfrm>
          <a:prstGeom prst="ellipse">
            <a:avLst/>
          </a:prstGeom>
          <a:solidFill>
            <a:srgbClr val="C00000"/>
          </a:solidFill>
          <a:ln/>
          <a:effectLst>
            <a:outerShdw blurRad="76200" dist="25400" dir="5400000" algn="bl" rotWithShape="0">
              <a:srgbClr val="9B1B1B">
                <a:alpha val="25000"/>
              </a:srgbClr>
            </a:outerShdw>
          </a:effectLst>
        </p:spPr>
        <p:txBody>
          <a:bodyPr/>
          <a:p/>
        </p:txBody>
      </p:sp>
      <p:pic>
        <p:nvPicPr>
          <p:cNvPr id="51" name="Image 8" descr="/home/claude/work/icons/shield.png"/>
          <p:cNvPicPr>
            <a:picLocks noChangeAspect="1"/>
          </p:cNvPicPr>
          <p:nvPr/>
        </p:nvPicPr>
        <p:blipFill>
          <a:blip r:embed="rId8"/>
          <a:stretch>
            <a:fillRect/>
          </a:stretch>
        </p:blipFill>
        <p:spPr>
          <a:xfrm>
            <a:off x="4659782" y="5423306"/>
            <a:ext cx="263347" cy="263347"/>
          </a:xfrm>
          <a:prstGeom prst="rect">
            <a:avLst/>
          </a:prstGeom>
        </p:spPr>
      </p:pic>
      <p:sp>
        <p:nvSpPr>
          <p:cNvPr id="52" name="Text 41"/>
          <p:cNvSpPr/>
          <p:nvPr/>
        </p:nvSpPr>
        <p:spPr>
          <a:xfrm>
            <a:off x="5202936" y="4956048"/>
            <a:ext cx="2514600" cy="320040"/>
          </a:xfrm>
          <a:prstGeom prst="rect">
            <a:avLst/>
          </a:prstGeom>
          <a:noFill/>
          <a:ln/>
        </p:spPr>
        <p:txBody>
          <a:bodyPr wrap="square" rtlCol="0" anchor="ctr"/>
          <a:lstStyle/>
          <a:p>
            <a:pPr marL="0" indent="0">
              <a:buNone/>
            </a:pPr>
            <a:r>
              <a:rPr lang="en-US" sz="1200" b="1" dirty="0">
                <a:solidFill>
                  <a:srgbClr val="C00000"/>
                </a:solidFill>
                <a:latin typeface="Calibri" pitchFamily="34" charset="0"/>
                <a:ea typeface="Calibri" pitchFamily="34" charset="-122"/>
                <a:cs typeface="Calibri" pitchFamily="34" charset="-120"/>
              </a:rPr>
              <a:t>Grounded Validation</a:t>
            </a:r>
            <a:endParaRPr lang="en-US" sz="1200" dirty="0"/>
          </a:p>
        </p:txBody>
      </p:sp>
      <p:sp>
        <p:nvSpPr>
          <p:cNvPr id="53" name="Text 42"/>
          <p:cNvSpPr/>
          <p:nvPr/>
        </p:nvSpPr>
        <p:spPr>
          <a:xfrm>
            <a:off x="5202936" y="5303520"/>
            <a:ext cx="2514600" cy="868680"/>
          </a:xfrm>
          <a:prstGeom prst="rect">
            <a:avLst/>
          </a:prstGeom>
          <a:noFill/>
          <a:ln/>
        </p:spPr>
        <p:txBody>
          <a:bodyPr wrap="square" rtlCol="0" anchor="ctr"/>
          <a:lstStyle/>
          <a:p>
            <a:pPr marL="0" indent="0">
              <a:lnSpc>
                <a:spcPct val="110000"/>
              </a:lnSpc>
              <a:buNone/>
            </a:pPr>
            <a:r>
              <a:rPr lang="en-US" sz="1000" dirty="0">
                <a:solidFill>
                  <a:srgbClr val="2B2B2B"/>
                </a:solidFill>
                <a:latin typeface="Calibri" pitchFamily="34" charset="0"/>
                <a:ea typeface="Calibri" pitchFamily="34" charset="-122"/>
                <a:cs typeface="Calibri" pitchFamily="34" charset="-120"/>
              </a:rPr>
              <a:t>Claims are checked against retrieved evidence, not assumed.</a:t>
            </a:r>
            <a:endParaRPr lang="en-US" sz="1000" dirty="0"/>
          </a:p>
        </p:txBody>
      </p:sp>
      <p:sp>
        <p:nvSpPr>
          <p:cNvPr id="54" name="Shape 43"/>
          <p:cNvSpPr/>
          <p:nvPr/>
        </p:nvSpPr>
        <p:spPr>
          <a:xfrm>
            <a:off x="8083296" y="4846320"/>
            <a:ext cx="3520440" cy="1417320"/>
          </a:xfrm>
          <a:prstGeom prst="roundRect">
            <a:avLst>
              <a:gd name="adj" fmla="val 6452"/>
            </a:avLst>
          </a:prstGeom>
          <a:solidFill>
            <a:srgbClr val="FFFFFF"/>
          </a:solidFill>
          <a:ln w="12700">
            <a:solidFill>
              <a:srgbClr val="F7E1DE"/>
            </a:solidFill>
            <a:prstDash val="solid"/>
          </a:ln>
        </p:spPr>
        <p:txBody>
          <a:bodyPr/>
          <a:p/>
        </p:txBody>
      </p:sp>
      <p:sp>
        <p:nvSpPr>
          <p:cNvPr id="55" name="Shape 44"/>
          <p:cNvSpPr/>
          <p:nvPr/>
        </p:nvSpPr>
        <p:spPr>
          <a:xfrm>
            <a:off x="8266176" y="5280660"/>
            <a:ext cx="548640" cy="548640"/>
          </a:xfrm>
          <a:prstGeom prst="ellipse">
            <a:avLst/>
          </a:prstGeom>
          <a:solidFill>
            <a:srgbClr val="C00000"/>
          </a:solidFill>
          <a:ln/>
          <a:effectLst>
            <a:outerShdw blurRad="76200" dist="25400" dir="5400000" algn="bl" rotWithShape="0">
              <a:srgbClr val="9B1B1B">
                <a:alpha val="25000"/>
              </a:srgbClr>
            </a:outerShdw>
          </a:effectLst>
        </p:spPr>
        <p:txBody>
          <a:bodyPr/>
          <a:p/>
        </p:txBody>
      </p:sp>
      <p:pic>
        <p:nvPicPr>
          <p:cNvPr id="56" name="Image 9" descr="/home/claude/work/icons/check.png"/>
          <p:cNvPicPr>
            <a:picLocks noChangeAspect="1"/>
          </p:cNvPicPr>
          <p:nvPr/>
        </p:nvPicPr>
        <p:blipFill>
          <a:blip r:embed="rId11"/>
          <a:stretch>
            <a:fillRect/>
          </a:stretch>
        </p:blipFill>
        <p:spPr>
          <a:xfrm>
            <a:off x="8408822" y="5423306"/>
            <a:ext cx="263347" cy="263347"/>
          </a:xfrm>
          <a:prstGeom prst="rect">
            <a:avLst/>
          </a:prstGeom>
        </p:spPr>
      </p:pic>
      <p:sp>
        <p:nvSpPr>
          <p:cNvPr id="57" name="Text 45"/>
          <p:cNvSpPr/>
          <p:nvPr/>
        </p:nvSpPr>
        <p:spPr>
          <a:xfrm>
            <a:off x="8951976" y="4956048"/>
            <a:ext cx="2514600" cy="320040"/>
          </a:xfrm>
          <a:prstGeom prst="rect">
            <a:avLst/>
          </a:prstGeom>
          <a:noFill/>
          <a:ln/>
        </p:spPr>
        <p:txBody>
          <a:bodyPr wrap="square" rtlCol="0" anchor="ctr"/>
          <a:lstStyle/>
          <a:p>
            <a:pPr marL="0" indent="0">
              <a:buNone/>
            </a:pPr>
            <a:r>
              <a:rPr lang="en-US" sz="1200" b="1" dirty="0">
                <a:solidFill>
                  <a:srgbClr val="C00000"/>
                </a:solidFill>
                <a:latin typeface="Calibri" pitchFamily="34" charset="0"/>
                <a:ea typeface="Calibri" pitchFamily="34" charset="-122"/>
                <a:cs typeface="Calibri" pitchFamily="34" charset="-120"/>
              </a:rPr>
              <a:t>Traceable Output</a:t>
            </a:r>
            <a:endParaRPr lang="en-US" sz="1200" dirty="0"/>
          </a:p>
        </p:txBody>
      </p:sp>
      <p:sp>
        <p:nvSpPr>
          <p:cNvPr id="58" name="Text 46"/>
          <p:cNvSpPr/>
          <p:nvPr/>
        </p:nvSpPr>
        <p:spPr>
          <a:xfrm>
            <a:off x="8951976" y="5303520"/>
            <a:ext cx="2514600" cy="868680"/>
          </a:xfrm>
          <a:prstGeom prst="rect">
            <a:avLst/>
          </a:prstGeom>
          <a:noFill/>
          <a:ln/>
        </p:spPr>
        <p:txBody>
          <a:bodyPr wrap="square" rtlCol="0" anchor="ctr"/>
          <a:lstStyle/>
          <a:p>
            <a:pPr marL="0" indent="0">
              <a:lnSpc>
                <a:spcPct val="110000"/>
              </a:lnSpc>
              <a:buNone/>
            </a:pPr>
            <a:r>
              <a:rPr lang="en-US" sz="1000" dirty="0">
                <a:solidFill>
                  <a:srgbClr val="2B2B2B"/>
                </a:solidFill>
                <a:latin typeface="Calibri" pitchFamily="34" charset="0"/>
                <a:ea typeface="Calibri" pitchFamily="34" charset="-122"/>
                <a:cs typeface="Calibri" pitchFamily="34" charset="-120"/>
              </a:rPr>
              <a:t>Every statement in the final report links back to a source.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DF6F3"/>
        </a:solidFill>
        <a:effectLst/>
      </p:bgPr>
    </p:bg>
    <p:spTree>
      <p:nvGrpSpPr>
        <p:cNvPr id="1" name=""/>
        <p:cNvGrpSpPr/>
        <p:nvPr/>
      </p:nvGrpSpPr>
      <p:grpSpPr>
        <a:xfrm>
          <a:off x="0" y="0"/>
          <a:ext cx="0" cy="0"/>
          <a:chOff x="0" y="0"/>
          <a:chExt cx="0" cy="0"/>
        </a:xfrm>
      </p:grpSpPr>
      <p:sp>
        <p:nvSpPr>
          <p:cNvPr id="2" name="Shape 0"/>
          <p:cNvSpPr/>
          <p:nvPr/>
        </p:nvSpPr>
        <p:spPr>
          <a:xfrm>
            <a:off x="0" y="6812280"/>
            <a:ext cx="12188952" cy="45720"/>
          </a:xfrm>
          <a:prstGeom prst="rect">
            <a:avLst/>
          </a:prstGeom>
          <a:solidFill>
            <a:srgbClr val="BA2532"/>
          </a:solidFill>
          <a:ln/>
        </p:spPr>
        <p:txBody>
          <a:bodyPr/>
          <a:p/>
        </p:txBody>
      </p:sp>
      <p:pic>
        <p:nvPicPr>
          <p:cNvPr id="3" name="Image 0" descr="/home/claude/work/unpacked/ppt/media/image1.png"/>
          <p:cNvPicPr>
            <a:picLocks noChangeAspect="1"/>
          </p:cNvPicPr>
          <p:nvPr/>
        </p:nvPicPr>
        <p:blipFill>
          <a:blip r:embed="rId3"/>
          <a:stretch>
            <a:fillRect/>
          </a:stretch>
        </p:blipFill>
        <p:spPr>
          <a:xfrm>
            <a:off x="320040" y="256032"/>
            <a:ext cx="1417320" cy="621792"/>
          </a:xfrm>
          <a:prstGeom prst="rect">
            <a:avLst/>
          </a:prstGeom>
        </p:spPr>
      </p:pic>
      <p:sp>
        <p:nvSpPr>
          <p:cNvPr id="4" name="Shape 1"/>
          <p:cNvSpPr/>
          <p:nvPr/>
        </p:nvSpPr>
        <p:spPr>
          <a:xfrm>
            <a:off x="2880360" y="320040"/>
            <a:ext cx="9006840" cy="566928"/>
          </a:xfrm>
          <a:prstGeom prst="rect">
            <a:avLst/>
          </a:prstGeom>
          <a:solidFill>
            <a:srgbClr val="C00000"/>
          </a:solidFill>
          <a:ln/>
        </p:spPr>
        <p:txBody>
          <a:bodyPr/>
          <a:p/>
        </p:txBody>
      </p:sp>
      <p:sp>
        <p:nvSpPr>
          <p:cNvPr id="5" name="Text 2"/>
          <p:cNvSpPr/>
          <p:nvPr/>
        </p:nvSpPr>
        <p:spPr>
          <a:xfrm>
            <a:off x="2880360" y="320040"/>
            <a:ext cx="9006840" cy="566928"/>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Reliability — Validation, Citations &amp; Confidence</a:t>
            </a:r>
            <a:endParaRPr lang="en-US" sz="2000" dirty="0"/>
          </a:p>
        </p:txBody>
      </p:sp>
      <p:sp>
        <p:nvSpPr>
          <p:cNvPr id="6" name="Text 3"/>
          <p:cNvSpPr/>
          <p:nvPr/>
        </p:nvSpPr>
        <p:spPr>
          <a:xfrm>
            <a:off x="320040" y="6473952"/>
            <a:ext cx="9601200" cy="274320"/>
          </a:xfrm>
          <a:prstGeom prst="rect">
            <a:avLst/>
          </a:prstGeom>
          <a:noFill/>
          <a:ln/>
        </p:spPr>
        <p:txBody>
          <a:bodyPr wrap="square" rtlCol="0" anchor="ctr"/>
          <a:lstStyle/>
          <a:p>
            <a:pPr marL="0" indent="0">
              <a:buNone/>
            </a:pPr>
            <a:r>
              <a:rPr lang="en-US" sz="900" dirty="0">
                <a:solidFill>
                  <a:srgbClr val="6B6B6B"/>
                </a:solidFill>
                <a:latin typeface="Calibri" pitchFamily="34" charset="0"/>
                <a:ea typeface="Calibri" pitchFamily="34" charset="-122"/>
                <a:cs typeface="Calibri" pitchFamily="34" charset="-120"/>
              </a:rPr>
              <a:t>AI Multi-Agent Research Assistant  |  Applied Machine Learning for Text Analysis</a:t>
            </a:r>
            <a:endParaRPr lang="en-US" sz="900" dirty="0"/>
          </a:p>
        </p:txBody>
      </p:sp>
      <p:sp>
        <p:nvSpPr>
          <p:cNvPr id="7" name="Text 4"/>
          <p:cNvSpPr/>
          <p:nvPr/>
        </p:nvSpPr>
        <p:spPr>
          <a:xfrm>
            <a:off x="11365992" y="6473952"/>
            <a:ext cx="54864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10</a:t>
            </a:r>
            <a:endParaRPr lang="en-US" sz="900" dirty="0"/>
          </a:p>
        </p:txBody>
      </p:sp>
      <p:sp>
        <p:nvSpPr>
          <p:cNvPr id="8" name="Shape 5"/>
          <p:cNvSpPr/>
          <p:nvPr/>
        </p:nvSpPr>
        <p:spPr>
          <a:xfrm>
            <a:off x="457200" y="1508760"/>
            <a:ext cx="5394960" cy="4709160"/>
          </a:xfrm>
          <a:prstGeom prst="roundRect">
            <a:avLst>
              <a:gd name="adj" fmla="val 1942"/>
            </a:avLst>
          </a:prstGeom>
          <a:solidFill>
            <a:srgbClr val="C00000"/>
          </a:solidFill>
          <a:ln/>
          <a:effectLst>
            <a:outerShdw blurRad="101600" dist="25400" dir="5400000" algn="bl" rotWithShape="0">
              <a:srgbClr val="444444">
                <a:alpha val="15000"/>
              </a:srgbClr>
            </a:outerShdw>
          </a:effectLst>
        </p:spPr>
        <p:txBody>
          <a:bodyPr/>
          <a:p/>
        </p:txBody>
      </p:sp>
      <p:sp>
        <p:nvSpPr>
          <p:cNvPr id="9" name="Shape 6"/>
          <p:cNvSpPr/>
          <p:nvPr/>
        </p:nvSpPr>
        <p:spPr>
          <a:xfrm>
            <a:off x="777240" y="1783080"/>
            <a:ext cx="822960" cy="822960"/>
          </a:xfrm>
          <a:prstGeom prst="ellipse">
            <a:avLst/>
          </a:prstGeom>
          <a:solidFill>
            <a:srgbClr val="FFFFFF"/>
          </a:solidFill>
          <a:ln/>
          <a:effectLst>
            <a:outerShdw blurRad="76200" dist="25400" dir="5400000" algn="bl" rotWithShape="0">
              <a:srgbClr val="9B1B1B">
                <a:alpha val="25000"/>
              </a:srgbClr>
            </a:outerShdw>
          </a:effectLst>
        </p:spPr>
        <p:txBody>
          <a:bodyPr/>
          <a:p/>
        </p:txBody>
      </p:sp>
      <p:pic>
        <p:nvPicPr>
          <p:cNvPr id="10" name="Image 1" descr="/home/claude/work/icons/shield_r.png"/>
          <p:cNvPicPr>
            <a:picLocks noChangeAspect="1"/>
          </p:cNvPicPr>
          <p:nvPr/>
        </p:nvPicPr>
        <p:blipFill>
          <a:blip r:embed="rId4"/>
          <a:stretch>
            <a:fillRect/>
          </a:stretch>
        </p:blipFill>
        <p:spPr>
          <a:xfrm>
            <a:off x="991210" y="1997050"/>
            <a:ext cx="395021" cy="395021"/>
          </a:xfrm>
          <a:prstGeom prst="rect">
            <a:avLst/>
          </a:prstGeom>
        </p:spPr>
      </p:pic>
      <p:sp>
        <p:nvSpPr>
          <p:cNvPr id="11" name="Text 7"/>
          <p:cNvSpPr/>
          <p:nvPr/>
        </p:nvSpPr>
        <p:spPr>
          <a:xfrm>
            <a:off x="1783080" y="1828800"/>
            <a:ext cx="3931920" cy="731520"/>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Cross-Agent Validation</a:t>
            </a:r>
            <a:endParaRPr lang="en-US" sz="1700" dirty="0"/>
          </a:p>
        </p:txBody>
      </p:sp>
      <p:sp>
        <p:nvSpPr>
          <p:cNvPr id="12" name="Text 8"/>
          <p:cNvSpPr/>
          <p:nvPr/>
        </p:nvSpPr>
        <p:spPr>
          <a:xfrm>
            <a:off x="777240" y="2788920"/>
            <a:ext cx="4754880" cy="3200400"/>
          </a:xfrm>
          <a:prstGeom prst="rect">
            <a:avLst/>
          </a:prstGeom>
          <a:noFill/>
          <a:ln/>
        </p:spPr>
        <p:txBody>
          <a:bodyPr wrap="square" rtlCol="0" anchor="ctr"/>
          <a:lstStyle/>
          <a:p>
            <a:pPr marL="342900" indent="-342900">
              <a:lnSpc>
                <a:spcPct val="112000"/>
              </a:lnSpc>
              <a:spcAft>
                <a:spcPts val="1400"/>
              </a:spcAft>
              <a:buSzPct val="100000"/>
              <a:buChar char="●"/>
            </a:pPr>
            <a:r>
              <a:rPr lang="en-US" sz="1250" dirty="0">
                <a:solidFill>
                  <a:srgbClr val="FFFFFF"/>
                </a:solidFill>
                <a:latin typeface="Calibri" pitchFamily="34" charset="0"/>
                <a:ea typeface="Calibri" pitchFamily="34" charset="-122"/>
                <a:cs typeface="Calibri" pitchFamily="34" charset="-120"/>
              </a:rPr>
              <a:t>A dedicated validation agent checks whether generated claims are actually supported by retrieved sources.</a:t>
            </a:r>
            <a:endParaRPr lang="en-US" sz="1250" dirty="0"/>
          </a:p>
          <a:p>
            <a:pPr marL="342900" indent="-342900">
              <a:lnSpc>
                <a:spcPct val="112000"/>
              </a:lnSpc>
              <a:spcAft>
                <a:spcPts val="1400"/>
              </a:spcAft>
              <a:buSzPct val="100000"/>
              <a:buChar char="●"/>
            </a:pPr>
            <a:r>
              <a:rPr lang="en-US" sz="1250" dirty="0">
                <a:solidFill>
                  <a:srgbClr val="FFFFFF"/>
                </a:solidFill>
                <a:latin typeface="Calibri" pitchFamily="34" charset="0"/>
                <a:ea typeface="Calibri" pitchFamily="34" charset="-122"/>
                <a:cs typeface="Calibri" pitchFamily="34" charset="-120"/>
              </a:rPr>
              <a:t>Reduces hallucination by rejecting or flagging unsupported statements before they reach the final report.</a:t>
            </a:r>
            <a:endParaRPr lang="en-US" sz="1250" dirty="0"/>
          </a:p>
          <a:p>
            <a:pPr marL="342900" indent="-342900">
              <a:lnSpc>
                <a:spcPct val="112000"/>
              </a:lnSpc>
              <a:buSzPct val="100000"/>
              <a:buChar char="●"/>
            </a:pPr>
            <a:r>
              <a:rPr lang="en-US" sz="1250" dirty="0">
                <a:solidFill>
                  <a:srgbClr val="FFFFFF"/>
                </a:solidFill>
                <a:latin typeface="Calibri" pitchFamily="34" charset="0"/>
                <a:ea typeface="Calibri" pitchFamily="34" charset="-122"/>
                <a:cs typeface="Calibri" pitchFamily="34" charset="-120"/>
              </a:rPr>
              <a:t>Runs independently of the synthesis agent, mirroring a reviewer role in a research pipeline.</a:t>
            </a:r>
            <a:endParaRPr lang="en-US" sz="1250" dirty="0"/>
          </a:p>
        </p:txBody>
      </p:sp>
      <p:sp>
        <p:nvSpPr>
          <p:cNvPr id="13" name="Shape 9"/>
          <p:cNvSpPr/>
          <p:nvPr/>
        </p:nvSpPr>
        <p:spPr>
          <a:xfrm>
            <a:off x="6309360" y="1508760"/>
            <a:ext cx="5394960" cy="4709160"/>
          </a:xfrm>
          <a:prstGeom prst="roundRect">
            <a:avLst>
              <a:gd name="adj" fmla="val 1942"/>
            </a:avLst>
          </a:prstGeom>
          <a:solidFill>
            <a:srgbClr val="FFFFFF"/>
          </a:solidFill>
          <a:ln w="12700">
            <a:solidFill>
              <a:srgbClr val="F7E1DE"/>
            </a:solidFill>
            <a:prstDash val="solid"/>
          </a:ln>
          <a:effectLst>
            <a:outerShdw blurRad="101600" dist="25400" dir="5400000" algn="bl" rotWithShape="0">
              <a:srgbClr val="444444">
                <a:alpha val="12000"/>
              </a:srgbClr>
            </a:outerShdw>
          </a:effectLst>
        </p:spPr>
        <p:txBody>
          <a:bodyPr/>
          <a:p/>
        </p:txBody>
      </p:sp>
      <p:sp>
        <p:nvSpPr>
          <p:cNvPr id="14" name="Shape 10"/>
          <p:cNvSpPr/>
          <p:nvPr/>
        </p:nvSpPr>
        <p:spPr>
          <a:xfrm>
            <a:off x="6629400" y="1783080"/>
            <a:ext cx="822960" cy="822960"/>
          </a:xfrm>
          <a:prstGeom prst="ellipse">
            <a:avLst/>
          </a:prstGeom>
          <a:solidFill>
            <a:srgbClr val="C00000"/>
          </a:solidFill>
          <a:ln/>
          <a:effectLst>
            <a:outerShdw blurRad="76200" dist="25400" dir="5400000" algn="bl" rotWithShape="0">
              <a:srgbClr val="9B1B1B">
                <a:alpha val="25000"/>
              </a:srgbClr>
            </a:outerShdw>
          </a:effectLst>
        </p:spPr>
        <p:txBody>
          <a:bodyPr/>
          <a:p/>
        </p:txBody>
      </p:sp>
      <p:pic>
        <p:nvPicPr>
          <p:cNvPr id="15" name="Image 2" descr="/home/claude/work/icons/report.png"/>
          <p:cNvPicPr>
            <a:picLocks noChangeAspect="1"/>
          </p:cNvPicPr>
          <p:nvPr/>
        </p:nvPicPr>
        <p:blipFill>
          <a:blip r:embed="rId5"/>
          <a:stretch>
            <a:fillRect/>
          </a:stretch>
        </p:blipFill>
        <p:spPr>
          <a:xfrm>
            <a:off x="6843370" y="1997050"/>
            <a:ext cx="395021" cy="395021"/>
          </a:xfrm>
          <a:prstGeom prst="rect">
            <a:avLst/>
          </a:prstGeom>
        </p:spPr>
      </p:pic>
      <p:sp>
        <p:nvSpPr>
          <p:cNvPr id="16" name="Text 11"/>
          <p:cNvSpPr/>
          <p:nvPr/>
        </p:nvSpPr>
        <p:spPr>
          <a:xfrm>
            <a:off x="7635240" y="1828800"/>
            <a:ext cx="3931920" cy="731520"/>
          </a:xfrm>
          <a:prstGeom prst="rect">
            <a:avLst/>
          </a:prstGeom>
          <a:noFill/>
          <a:ln/>
        </p:spPr>
        <p:txBody>
          <a:bodyPr wrap="square" rtlCol="0" anchor="ctr"/>
          <a:lstStyle/>
          <a:p>
            <a:pPr marL="0" indent="0">
              <a:buNone/>
            </a:pPr>
            <a:r>
              <a:rPr lang="en-US" sz="1700" b="1" dirty="0">
                <a:solidFill>
                  <a:srgbClr val="C00000"/>
                </a:solidFill>
                <a:latin typeface="Calibri" pitchFamily="34" charset="0"/>
                <a:ea typeface="Calibri" pitchFamily="34" charset="-122"/>
                <a:cs typeface="Calibri" pitchFamily="34" charset="-120"/>
              </a:rPr>
              <a:t>Citations &amp; Confidence Scoring</a:t>
            </a:r>
            <a:endParaRPr lang="en-US" sz="1700" dirty="0"/>
          </a:p>
        </p:txBody>
      </p:sp>
      <p:sp>
        <p:nvSpPr>
          <p:cNvPr id="17" name="Text 12"/>
          <p:cNvSpPr/>
          <p:nvPr/>
        </p:nvSpPr>
        <p:spPr>
          <a:xfrm>
            <a:off x="6629400" y="2788920"/>
            <a:ext cx="4754880" cy="3200400"/>
          </a:xfrm>
          <a:prstGeom prst="rect">
            <a:avLst/>
          </a:prstGeom>
          <a:noFill/>
          <a:ln/>
        </p:spPr>
        <p:txBody>
          <a:bodyPr wrap="square" rtlCol="0" anchor="ctr"/>
          <a:lstStyle/>
          <a:p>
            <a:pPr marL="342900" indent="-342900">
              <a:lnSpc>
                <a:spcPct val="112000"/>
              </a:lnSpc>
              <a:spcAft>
                <a:spcPts val="1400"/>
              </a:spcAft>
              <a:buSzPct val="100000"/>
              <a:buChar char="●"/>
            </a:pPr>
            <a:r>
              <a:rPr lang="en-US" sz="1250" dirty="0">
                <a:solidFill>
                  <a:srgbClr val="2B2B2B"/>
                </a:solidFill>
                <a:latin typeface="Calibri" pitchFamily="34" charset="0"/>
                <a:ea typeface="Calibri" pitchFamily="34" charset="-122"/>
                <a:cs typeface="Calibri" pitchFamily="34" charset="-120"/>
              </a:rPr>
              <a:t>Every claim in the structured report is linked to its supporting source for full traceability.</a:t>
            </a:r>
            <a:endParaRPr lang="en-US" sz="1250" dirty="0"/>
          </a:p>
          <a:p>
            <a:pPr marL="342900" indent="-342900">
              <a:lnSpc>
                <a:spcPct val="112000"/>
              </a:lnSpc>
              <a:spcAft>
                <a:spcPts val="1400"/>
              </a:spcAft>
              <a:buSzPct val="100000"/>
              <a:buChar char="●"/>
            </a:pPr>
            <a:r>
              <a:rPr lang="en-US" sz="1250" dirty="0">
                <a:solidFill>
                  <a:srgbClr val="2B2B2B"/>
                </a:solidFill>
                <a:latin typeface="Calibri" pitchFamily="34" charset="0"/>
                <a:ea typeface="Calibri" pitchFamily="34" charset="-122"/>
                <a:cs typeface="Calibri" pitchFamily="34" charset="-120"/>
              </a:rPr>
              <a:t>A confidence score reflects source agreement and validation outcome, not just model certainty.</a:t>
            </a:r>
            <a:endParaRPr lang="en-US" sz="1250" dirty="0"/>
          </a:p>
          <a:p>
            <a:pPr marL="342900" indent="-342900">
              <a:lnSpc>
                <a:spcPct val="112000"/>
              </a:lnSpc>
              <a:buSzPct val="100000"/>
              <a:buChar char="●"/>
            </a:pPr>
            <a:r>
              <a:rPr lang="en-US" sz="1250" dirty="0">
                <a:solidFill>
                  <a:srgbClr val="2B2B2B"/>
                </a:solidFill>
                <a:latin typeface="Calibri" pitchFamily="34" charset="0"/>
                <a:ea typeface="Calibri" pitchFamily="34" charset="-122"/>
                <a:cs typeface="Calibri" pitchFamily="34" charset="-120"/>
              </a:rPr>
              <a:t>Reports are generated automatically with ReportLab in a clean, consistent, presentation-ready format.</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AF8"/>
        </a:solidFill>
        <a:effectLst/>
      </p:bgPr>
    </p:bg>
    <p:spTree>
      <p:nvGrpSpPr>
        <p:cNvPr id="1" name=""/>
        <p:cNvGrpSpPr/>
        <p:nvPr/>
      </p:nvGrpSpPr>
      <p:grpSpPr>
        <a:xfrm>
          <a:off x="0" y="0"/>
          <a:ext cx="0" cy="0"/>
          <a:chOff x="0" y="0"/>
          <a:chExt cx="0" cy="0"/>
        </a:xfrm>
      </p:grpSpPr>
      <p:sp>
        <p:nvSpPr>
          <p:cNvPr id="2" name="Shape 0"/>
          <p:cNvSpPr/>
          <p:nvPr/>
        </p:nvSpPr>
        <p:spPr>
          <a:xfrm>
            <a:off x="0" y="6812280"/>
            <a:ext cx="12188952" cy="45720"/>
          </a:xfrm>
          <a:prstGeom prst="rect">
            <a:avLst/>
          </a:prstGeom>
          <a:solidFill>
            <a:srgbClr val="BA2532"/>
          </a:solidFill>
          <a:ln>
            <a:solidFill/>
          </a:ln>
        </p:spPr>
        <p:txBody>
          <a:bodyPr/>
          <a:p/>
        </p:txBody>
      </p:sp>
      <p:pic>
        <p:nvPicPr>
          <p:cNvPr id="3" name="Image 0" descr="/home/claude/work/unpacked/ppt/media/image1.png"/>
          <p:cNvPicPr>
            <a:picLocks noChangeAspect="1"/>
          </p:cNvPicPr>
          <p:nvPr/>
        </p:nvPicPr>
        <p:blipFill>
          <a:blip r:embed="rId3"/>
          <a:stretch>
            <a:fillRect/>
          </a:stretch>
        </p:blipFill>
        <p:spPr>
          <a:xfrm>
            <a:off x="320040" y="256032"/>
            <a:ext cx="1417320" cy="621792"/>
          </a:xfrm>
          <a:prstGeom prst="rect">
            <a:avLst/>
          </a:prstGeom>
          <a:ln>
            <a:solidFill/>
          </a:ln>
        </p:spPr>
      </p:pic>
      <p:sp>
        <p:nvSpPr>
          <p:cNvPr id="4" name="Shape 1"/>
          <p:cNvSpPr/>
          <p:nvPr/>
        </p:nvSpPr>
        <p:spPr>
          <a:xfrm>
            <a:off x="2880360" y="320040"/>
            <a:ext cx="9006840" cy="566928"/>
          </a:xfrm>
          <a:prstGeom prst="rect">
            <a:avLst/>
          </a:prstGeom>
          <a:solidFill>
            <a:srgbClr val="C00000"/>
          </a:solidFill>
          <a:ln>
            <a:solidFill/>
          </a:ln>
        </p:spPr>
        <p:txBody>
          <a:bodyPr/>
          <a:p/>
        </p:txBody>
      </p:sp>
      <p:sp>
        <p:nvSpPr>
          <p:cNvPr id="5" name="Text 2"/>
          <p:cNvSpPr/>
          <p:nvPr/>
        </p:nvSpPr>
        <p:spPr>
          <a:xfrm>
            <a:off x="2880360" y="320040"/>
            <a:ext cx="9006840" cy="566928"/>
          </a:xfrm>
          <a:prstGeom prst="rect">
            <a:avLst/>
          </a:prstGeom>
          <a:noFill/>
          <a:ln>
            <a:solid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Deployment &amp; Production-Ready Architecture</a:t>
            </a:r>
            <a:endParaRPr lang="en-US" sz="2000" dirty="0"/>
          </a:p>
        </p:txBody>
      </p:sp>
      <p:sp>
        <p:nvSpPr>
          <p:cNvPr id="6" name="Text 3"/>
          <p:cNvSpPr/>
          <p:nvPr/>
        </p:nvSpPr>
        <p:spPr>
          <a:xfrm>
            <a:off x="320040" y="6473952"/>
            <a:ext cx="9601200" cy="274320"/>
          </a:xfrm>
          <a:prstGeom prst="rect">
            <a:avLst/>
          </a:prstGeom>
          <a:noFill/>
          <a:ln>
            <a:solidFill/>
          </a:ln>
        </p:spPr>
        <p:txBody>
          <a:bodyPr wrap="square" rtlCol="0" anchor="ctr"/>
          <a:lstStyle/>
          <a:p>
            <a:pPr marL="0" indent="0">
              <a:buNone/>
            </a:pPr>
            <a:r>
              <a:rPr lang="en-US" sz="900" dirty="0">
                <a:solidFill>
                  <a:srgbClr val="6B6B6B"/>
                </a:solidFill>
                <a:latin typeface="Calibri" pitchFamily="34" charset="0"/>
                <a:ea typeface="Calibri" pitchFamily="34" charset="-122"/>
                <a:cs typeface="Calibri" pitchFamily="34" charset="-120"/>
              </a:rPr>
              <a:t>AI Multi-Agent Research Assistant  |  Applied Machine Learning for Text Analysis</a:t>
            </a:r>
            <a:endParaRPr lang="en-US" sz="900" dirty="0"/>
          </a:p>
        </p:txBody>
      </p:sp>
      <p:sp>
        <p:nvSpPr>
          <p:cNvPr id="7" name="Text 4"/>
          <p:cNvSpPr/>
          <p:nvPr/>
        </p:nvSpPr>
        <p:spPr>
          <a:xfrm>
            <a:off x="11365992" y="6473952"/>
            <a:ext cx="548640" cy="274320"/>
          </a:xfrm>
          <a:prstGeom prst="rect">
            <a:avLst/>
          </a:prstGeom>
          <a:noFill/>
          <a:ln>
            <a:solid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11</a:t>
            </a:r>
            <a:endParaRPr lang="en-US" sz="900" dirty="0"/>
          </a:p>
        </p:txBody>
      </p:sp>
      <p:sp>
        <p:nvSpPr>
          <p:cNvPr id="8" name="Shape 5"/>
          <p:cNvSpPr/>
          <p:nvPr/>
        </p:nvSpPr>
        <p:spPr>
          <a:xfrm>
            <a:off x="457200" y="1508760"/>
            <a:ext cx="2697480" cy="3931920"/>
          </a:xfrm>
          <a:prstGeom prst="roundRect">
            <a:avLst>
              <a:gd name="adj" fmla="val 3390"/>
            </a:avLst>
          </a:prstGeom>
          <a:solidFill>
            <a:srgbClr val="FFFFFF"/>
          </a:solidFill>
          <a:ln w="12700">
            <a:solidFill>
              <a:srgbClr val="F7E1DE"/>
            </a:solidFill>
            <a:prstDash val="solid"/>
          </a:ln>
          <a:effectLst>
            <a:outerShdw blurRad="101600" dist="25400" dir="5400000" algn="bl" rotWithShape="0">
              <a:srgbClr val="444444">
                <a:alpha val="12000"/>
              </a:srgbClr>
            </a:outerShdw>
          </a:effectLst>
        </p:spPr>
        <p:txBody>
          <a:bodyPr/>
          <a:p/>
        </p:txBody>
      </p:sp>
      <p:sp>
        <p:nvSpPr>
          <p:cNvPr id="9" name="Shape 6"/>
          <p:cNvSpPr/>
          <p:nvPr/>
        </p:nvSpPr>
        <p:spPr>
          <a:xfrm>
            <a:off x="1421892" y="1828800"/>
            <a:ext cx="768096" cy="768096"/>
          </a:xfrm>
          <a:prstGeom prst="ellipse">
            <a:avLst/>
          </a:prstGeom>
          <a:solidFill>
            <a:srgbClr val="C00000"/>
          </a:solidFill>
          <a:ln>
            <a:solidFill/>
          </a:ln>
          <a:effectLst>
            <a:outerShdw blurRad="76200" dist="25400" dir="5400000" algn="bl" rotWithShape="0">
              <a:srgbClr val="9B1B1B">
                <a:alpha val="25000"/>
              </a:srgbClr>
            </a:outerShdw>
          </a:effectLst>
        </p:spPr>
        <p:txBody>
          <a:bodyPr/>
          <a:p/>
        </p:txBody>
      </p:sp>
      <p:pic>
        <p:nvPicPr>
          <p:cNvPr id="10" name="Image 1" descr="/home/claude/work/icons/server.png"/>
          <p:cNvPicPr>
            <a:picLocks noChangeAspect="1"/>
          </p:cNvPicPr>
          <p:nvPr/>
        </p:nvPicPr>
        <p:blipFill>
          <a:blip r:embed="rId4"/>
          <a:stretch>
            <a:fillRect/>
          </a:stretch>
        </p:blipFill>
        <p:spPr>
          <a:xfrm>
            <a:off x="1621597" y="2028505"/>
            <a:ext cx="368686" cy="368686"/>
          </a:xfrm>
          <a:prstGeom prst="rect">
            <a:avLst/>
          </a:prstGeom>
          <a:ln>
            <a:solidFill/>
          </a:ln>
        </p:spPr>
      </p:pic>
      <p:sp>
        <p:nvSpPr>
          <p:cNvPr id="11" name="Text 7"/>
          <p:cNvSpPr/>
          <p:nvPr/>
        </p:nvSpPr>
        <p:spPr>
          <a:xfrm>
            <a:off x="621792" y="2788920"/>
            <a:ext cx="2368296" cy="594360"/>
          </a:xfrm>
          <a:prstGeom prst="rect">
            <a:avLst/>
          </a:prstGeom>
          <a:noFill/>
          <a:ln>
            <a:solidFill/>
          </a:ln>
        </p:spPr>
        <p:txBody>
          <a:bodyPr wrap="square" rtlCol="0" anchor="ctr"/>
          <a:lstStyle/>
          <a:p>
            <a:pPr marL="0" indent="0" algn="ctr">
              <a:buNone/>
            </a:pPr>
            <a:r>
              <a:rPr lang="en-US" sz="1350" b="1" dirty="0">
                <a:solidFill>
                  <a:srgbClr val="C00000"/>
                </a:solidFill>
                <a:latin typeface="Calibri" pitchFamily="34" charset="0"/>
                <a:ea typeface="Calibri" pitchFamily="34" charset="-122"/>
                <a:cs typeface="Calibri" pitchFamily="34" charset="-120"/>
              </a:rPr>
              <a:t>FastAPI Service Layer</a:t>
            </a:r>
            <a:endParaRPr lang="en-US" sz="1350" dirty="0"/>
          </a:p>
        </p:txBody>
      </p:sp>
      <p:sp>
        <p:nvSpPr>
          <p:cNvPr id="12" name="Text 8"/>
          <p:cNvSpPr/>
          <p:nvPr/>
        </p:nvSpPr>
        <p:spPr>
          <a:xfrm>
            <a:off x="640080" y="3383280"/>
            <a:ext cx="2331720" cy="1920240"/>
          </a:xfrm>
          <a:prstGeom prst="rect">
            <a:avLst/>
          </a:prstGeom>
          <a:noFill/>
          <a:ln>
            <a:solidFill/>
          </a:ln>
        </p:spPr>
        <p:txBody>
          <a:bodyPr wrap="square" rtlCol="0" anchor="ctr"/>
          <a:lstStyle/>
          <a:p>
            <a:pPr marL="0" indent="0" algn="ctr">
              <a:lnSpc>
                <a:spcPct val="112000"/>
              </a:lnSpc>
              <a:buNone/>
            </a:pPr>
            <a:r>
              <a:rPr lang="en-US" sz="1150" dirty="0">
                <a:solidFill>
                  <a:srgbClr val="2B2B2B"/>
                </a:solidFill>
                <a:latin typeface="Calibri" pitchFamily="34" charset="0"/>
                <a:ea typeface="Calibri" pitchFamily="34" charset="-122"/>
                <a:cs typeface="Calibri" pitchFamily="34" charset="-120"/>
              </a:rPr>
              <a:t>Exposes the multi-agent pipeline as a lightweight, well-documented REST API.</a:t>
            </a:r>
            <a:endParaRPr lang="en-US" sz="1150" dirty="0"/>
          </a:p>
        </p:txBody>
      </p:sp>
      <p:sp>
        <p:nvSpPr>
          <p:cNvPr id="13" name="Shape 9"/>
          <p:cNvSpPr/>
          <p:nvPr/>
        </p:nvSpPr>
        <p:spPr>
          <a:xfrm>
            <a:off x="3355848" y="1508760"/>
            <a:ext cx="2697480" cy="3931920"/>
          </a:xfrm>
          <a:prstGeom prst="roundRect">
            <a:avLst>
              <a:gd name="adj" fmla="val 3390"/>
            </a:avLst>
          </a:prstGeom>
          <a:solidFill>
            <a:srgbClr val="FFFFFF"/>
          </a:solidFill>
          <a:ln w="12700">
            <a:solidFill>
              <a:srgbClr val="F7E1DE"/>
            </a:solidFill>
            <a:prstDash val="solid"/>
          </a:ln>
          <a:effectLst>
            <a:outerShdw blurRad="101600" dist="25400" dir="5400000" algn="bl" rotWithShape="0">
              <a:srgbClr val="444444">
                <a:alpha val="12000"/>
              </a:srgbClr>
            </a:outerShdw>
          </a:effectLst>
        </p:spPr>
        <p:txBody>
          <a:bodyPr/>
          <a:p/>
        </p:txBody>
      </p:sp>
      <p:sp>
        <p:nvSpPr>
          <p:cNvPr id="14" name="Shape 10"/>
          <p:cNvSpPr/>
          <p:nvPr/>
        </p:nvSpPr>
        <p:spPr>
          <a:xfrm>
            <a:off x="4320540" y="1828800"/>
            <a:ext cx="768096" cy="768096"/>
          </a:xfrm>
          <a:prstGeom prst="ellipse">
            <a:avLst/>
          </a:prstGeom>
          <a:solidFill>
            <a:srgbClr val="C00000"/>
          </a:solidFill>
          <a:ln>
            <a:solidFill/>
          </a:ln>
          <a:effectLst>
            <a:outerShdw blurRad="76200" dist="25400" dir="5400000" algn="bl" rotWithShape="0">
              <a:srgbClr val="9B1B1B">
                <a:alpha val="25000"/>
              </a:srgbClr>
            </a:outerShdw>
          </a:effectLst>
        </p:spPr>
        <p:txBody>
          <a:bodyPr/>
          <a:p/>
        </p:txBody>
      </p:sp>
      <p:pic>
        <p:nvPicPr>
          <p:cNvPr id="15" name="Image 2" descr="/home/claude/work/icons/docker_w.png"/>
          <p:cNvPicPr>
            <a:picLocks noChangeAspect="1"/>
          </p:cNvPicPr>
          <p:nvPr/>
        </p:nvPicPr>
        <p:blipFill>
          <a:blip r:embed="rId5"/>
          <a:stretch>
            <a:fillRect/>
          </a:stretch>
        </p:blipFill>
        <p:spPr>
          <a:xfrm>
            <a:off x="4520245" y="2028505"/>
            <a:ext cx="368686" cy="368686"/>
          </a:xfrm>
          <a:prstGeom prst="rect">
            <a:avLst/>
          </a:prstGeom>
          <a:ln>
            <a:solidFill/>
          </a:ln>
        </p:spPr>
      </p:pic>
      <p:sp>
        <p:nvSpPr>
          <p:cNvPr id="16" name="Text 11"/>
          <p:cNvSpPr/>
          <p:nvPr/>
        </p:nvSpPr>
        <p:spPr>
          <a:xfrm>
            <a:off x="3520440" y="2788920"/>
            <a:ext cx="2368296" cy="594360"/>
          </a:xfrm>
          <a:prstGeom prst="rect">
            <a:avLst/>
          </a:prstGeom>
          <a:noFill/>
          <a:ln>
            <a:solidFill/>
          </a:ln>
        </p:spPr>
        <p:txBody>
          <a:bodyPr wrap="square" rtlCol="0" anchor="ctr"/>
          <a:lstStyle/>
          <a:p>
            <a:r>
              <a:t>Docker (Planned)</a:t>
            </a:r>
          </a:p>
        </p:txBody>
      </p:sp>
      <p:sp>
        <p:nvSpPr>
          <p:cNvPr id="17" name="Text 12"/>
          <p:cNvSpPr/>
          <p:nvPr/>
        </p:nvSpPr>
        <p:spPr>
          <a:xfrm>
            <a:off x="3538728" y="3383280"/>
            <a:ext cx="2331720" cy="1920240"/>
          </a:xfrm>
          <a:prstGeom prst="rect">
            <a:avLst/>
          </a:prstGeom>
          <a:noFill/>
          <a:ln>
            <a:solidFill/>
          </a:ln>
        </p:spPr>
        <p:txBody>
          <a:bodyPr wrap="square" rtlCol="0" anchor="ctr"/>
          <a:lstStyle/>
          <a:p>
            <a:r>
              <a:t>Container packaging is a future deployment step.</a:t>
            </a:r>
          </a:p>
        </p:txBody>
      </p:sp>
      <p:sp>
        <p:nvSpPr>
          <p:cNvPr id="18" name="Shape 13"/>
          <p:cNvSpPr/>
          <p:nvPr/>
        </p:nvSpPr>
        <p:spPr>
          <a:xfrm>
            <a:off x="6254496" y="1508760"/>
            <a:ext cx="2697480" cy="3931920"/>
          </a:xfrm>
          <a:prstGeom prst="roundRect">
            <a:avLst>
              <a:gd name="adj" fmla="val 3390"/>
            </a:avLst>
          </a:prstGeom>
          <a:solidFill>
            <a:srgbClr val="FFFFFF"/>
          </a:solidFill>
          <a:ln w="12700">
            <a:solidFill>
              <a:srgbClr val="F7E1DE"/>
            </a:solidFill>
            <a:prstDash val="solid"/>
          </a:ln>
          <a:effectLst>
            <a:outerShdw blurRad="101600" dist="25400" dir="5400000" algn="bl" rotWithShape="0">
              <a:srgbClr val="444444">
                <a:alpha val="12000"/>
              </a:srgbClr>
            </a:outerShdw>
          </a:effectLst>
        </p:spPr>
        <p:txBody>
          <a:bodyPr/>
          <a:p/>
        </p:txBody>
      </p:sp>
      <p:sp>
        <p:nvSpPr>
          <p:cNvPr id="19" name="Shape 14"/>
          <p:cNvSpPr/>
          <p:nvPr/>
        </p:nvSpPr>
        <p:spPr>
          <a:xfrm>
            <a:off x="7219188" y="1828800"/>
            <a:ext cx="768096" cy="768096"/>
          </a:xfrm>
          <a:prstGeom prst="ellipse">
            <a:avLst/>
          </a:prstGeom>
          <a:solidFill>
            <a:srgbClr val="C00000"/>
          </a:solidFill>
          <a:ln>
            <a:solidFill/>
          </a:ln>
          <a:effectLst>
            <a:outerShdw blurRad="76200" dist="25400" dir="5400000" algn="bl" rotWithShape="0">
              <a:srgbClr val="9B1B1B">
                <a:alpha val="25000"/>
              </a:srgbClr>
            </a:outerShdw>
          </a:effectLst>
        </p:spPr>
        <p:txBody>
          <a:bodyPr/>
          <a:p/>
        </p:txBody>
      </p:sp>
      <p:pic>
        <p:nvPicPr>
          <p:cNvPr id="20" name="Image 3" descr="/home/claude/work/icons/layers.png"/>
          <p:cNvPicPr>
            <a:picLocks noChangeAspect="1"/>
          </p:cNvPicPr>
          <p:nvPr/>
        </p:nvPicPr>
        <p:blipFill>
          <a:blip r:embed="rId6"/>
          <a:stretch>
            <a:fillRect/>
          </a:stretch>
        </p:blipFill>
        <p:spPr>
          <a:xfrm>
            <a:off x="7418893" y="2028505"/>
            <a:ext cx="368686" cy="368686"/>
          </a:xfrm>
          <a:prstGeom prst="rect">
            <a:avLst/>
          </a:prstGeom>
          <a:ln>
            <a:solidFill/>
          </a:ln>
        </p:spPr>
      </p:pic>
      <p:sp>
        <p:nvSpPr>
          <p:cNvPr id="21" name="Text 15"/>
          <p:cNvSpPr/>
          <p:nvPr/>
        </p:nvSpPr>
        <p:spPr>
          <a:xfrm>
            <a:off x="6419088" y="2788920"/>
            <a:ext cx="2368296" cy="594360"/>
          </a:xfrm>
          <a:prstGeom prst="rect">
            <a:avLst/>
          </a:prstGeom>
          <a:noFill/>
          <a:ln>
            <a:solidFill/>
          </a:ln>
        </p:spPr>
        <p:txBody>
          <a:bodyPr wrap="square" rtlCol="0" anchor="ctr"/>
          <a:lstStyle/>
          <a:p>
            <a:pPr marL="0" indent="0" algn="ctr">
              <a:buNone/>
            </a:pPr>
            <a:r>
              <a:rPr lang="en-US" sz="1350" b="1" dirty="0">
                <a:solidFill>
                  <a:srgbClr val="C00000"/>
                </a:solidFill>
                <a:latin typeface="Calibri" pitchFamily="34" charset="0"/>
                <a:ea typeface="Calibri" pitchFamily="34" charset="-122"/>
                <a:cs typeface="Calibri" pitchFamily="34" charset="-120"/>
              </a:rPr>
              <a:t>Modular Agents</a:t>
            </a:r>
            <a:endParaRPr lang="en-US" sz="1350" dirty="0"/>
          </a:p>
        </p:txBody>
      </p:sp>
      <p:sp>
        <p:nvSpPr>
          <p:cNvPr id="22" name="Text 16"/>
          <p:cNvSpPr/>
          <p:nvPr/>
        </p:nvSpPr>
        <p:spPr>
          <a:xfrm>
            <a:off x="6437376" y="3383280"/>
            <a:ext cx="2331720" cy="1920240"/>
          </a:xfrm>
          <a:prstGeom prst="rect">
            <a:avLst/>
          </a:prstGeom>
          <a:noFill/>
          <a:ln>
            <a:solidFill/>
          </a:ln>
        </p:spPr>
        <p:txBody>
          <a:bodyPr wrap="square" rtlCol="0" anchor="ctr"/>
          <a:lstStyle/>
          <a:p>
            <a:pPr marL="0" indent="0" algn="ctr">
              <a:lnSpc>
                <a:spcPct val="112000"/>
              </a:lnSpc>
              <a:buNone/>
            </a:pPr>
            <a:r>
              <a:rPr lang="en-US" sz="1150" dirty="0">
                <a:solidFill>
                  <a:srgbClr val="2B2B2B"/>
                </a:solidFill>
                <a:latin typeface="Calibri" pitchFamily="34" charset="0"/>
                <a:ea typeface="Calibri" pitchFamily="34" charset="-122"/>
                <a:cs typeface="Calibri" pitchFamily="34" charset="-120"/>
              </a:rPr>
              <a:t>Planner, retrieval, and validation agents can be scaled, replaced, or improved independently.</a:t>
            </a:r>
            <a:endParaRPr lang="en-US" sz="1150" dirty="0"/>
          </a:p>
        </p:txBody>
      </p:sp>
      <p:sp>
        <p:nvSpPr>
          <p:cNvPr id="23" name="Shape 17"/>
          <p:cNvSpPr/>
          <p:nvPr/>
        </p:nvSpPr>
        <p:spPr>
          <a:xfrm>
            <a:off x="9153144" y="1508760"/>
            <a:ext cx="2697480" cy="3931920"/>
          </a:xfrm>
          <a:prstGeom prst="roundRect">
            <a:avLst>
              <a:gd name="adj" fmla="val 3390"/>
            </a:avLst>
          </a:prstGeom>
          <a:solidFill>
            <a:srgbClr val="FFFFFF"/>
          </a:solidFill>
          <a:ln w="12700">
            <a:solidFill>
              <a:srgbClr val="F7E1DE"/>
            </a:solidFill>
            <a:prstDash val="solid"/>
          </a:ln>
          <a:effectLst>
            <a:outerShdw blurRad="101600" dist="25400" dir="5400000" algn="bl" rotWithShape="0">
              <a:srgbClr val="444444">
                <a:alpha val="12000"/>
              </a:srgbClr>
            </a:outerShdw>
          </a:effectLst>
        </p:spPr>
        <p:txBody>
          <a:bodyPr/>
          <a:p/>
        </p:txBody>
      </p:sp>
      <p:sp>
        <p:nvSpPr>
          <p:cNvPr id="24" name="Shape 18"/>
          <p:cNvSpPr/>
          <p:nvPr/>
        </p:nvSpPr>
        <p:spPr>
          <a:xfrm>
            <a:off x="10117836" y="1828800"/>
            <a:ext cx="768096" cy="768096"/>
          </a:xfrm>
          <a:prstGeom prst="ellipse">
            <a:avLst/>
          </a:prstGeom>
          <a:solidFill>
            <a:srgbClr val="C00000"/>
          </a:solidFill>
          <a:ln>
            <a:solidFill/>
          </a:ln>
          <a:effectLst>
            <a:outerShdw blurRad="76200" dist="25400" dir="5400000" algn="bl" rotWithShape="0">
              <a:srgbClr val="9B1B1B">
                <a:alpha val="25000"/>
              </a:srgbClr>
            </a:outerShdw>
          </a:effectLst>
        </p:spPr>
        <p:txBody>
          <a:bodyPr/>
          <a:p/>
        </p:txBody>
      </p:sp>
      <p:pic>
        <p:nvPicPr>
          <p:cNvPr id="25" name="Image 4" descr="/home/claude/work/icons/cloud.png"/>
          <p:cNvPicPr>
            <a:picLocks noChangeAspect="1"/>
          </p:cNvPicPr>
          <p:nvPr/>
        </p:nvPicPr>
        <p:blipFill>
          <a:blip r:embed="rId7"/>
          <a:stretch>
            <a:fillRect/>
          </a:stretch>
        </p:blipFill>
        <p:spPr>
          <a:xfrm>
            <a:off x="10317541" y="2028505"/>
            <a:ext cx="368686" cy="368686"/>
          </a:xfrm>
          <a:prstGeom prst="rect">
            <a:avLst/>
          </a:prstGeom>
          <a:ln>
            <a:solidFill/>
          </a:ln>
        </p:spPr>
      </p:pic>
      <p:sp>
        <p:nvSpPr>
          <p:cNvPr id="26" name="Text 19"/>
          <p:cNvSpPr/>
          <p:nvPr/>
        </p:nvSpPr>
        <p:spPr>
          <a:xfrm>
            <a:off x="9317736" y="2788920"/>
            <a:ext cx="2368296" cy="594360"/>
          </a:xfrm>
          <a:prstGeom prst="rect">
            <a:avLst/>
          </a:prstGeom>
          <a:noFill/>
          <a:ln>
            <a:solidFill/>
          </a:ln>
        </p:spPr>
        <p:txBody>
          <a:bodyPr wrap="square" rtlCol="0" anchor="ctr"/>
          <a:lstStyle/>
          <a:p>
            <a:r>
              <a:t>Local LLM Runtime</a:t>
            </a:r>
          </a:p>
        </p:txBody>
      </p:sp>
      <p:sp>
        <p:nvSpPr>
          <p:cNvPr id="27" name="Text 20"/>
          <p:cNvSpPr/>
          <p:nvPr/>
        </p:nvSpPr>
        <p:spPr>
          <a:xfrm>
            <a:off x="9336024" y="3383280"/>
            <a:ext cx="2331720" cy="1920240"/>
          </a:xfrm>
          <a:prstGeom prst="rect">
            <a:avLst/>
          </a:prstGeom>
          <a:noFill/>
          <a:ln>
            <a:solidFill/>
          </a:ln>
        </p:spPr>
        <p:txBody>
          <a:bodyPr wrap="square" rtlCol="0" anchor="ctr"/>
          <a:lstStyle/>
          <a:p>
            <a:r>
              <a:t>Ollama runs Llama 3.1 8B in the current setup.</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AF8"/>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rPr>
              <a:t>Conclusion</a:t>
            </a:r>
          </a:p>
        </p:txBody>
      </p:sp>
      <p:sp>
        <p:nvSpPr>
          <p:cNvPr id="3" name="Rounded Rectangle 2"/>
          <p:cNvSpPr/>
          <p:nvPr/>
        </p:nvSpPr>
        <p:spPr>
          <a:xfrm>
            <a:off x="650000" y="1050000"/>
            <a:ext cx="11200000" cy="760000"/>
          </a:xfrm>
          <a:prstGeom prst="roundRect">
            <a:avLst/>
          </a:prstGeom>
          <a:solidFill>
            <a:srgbClr val="FFFFFF"/>
          </a:solidFill>
          <a:ln>
            <a:solidFill>
              <a:srgbClr val="BA2532"/>
            </a:solidFill>
          </a:ln>
        </p:spPr>
        <p:style>
          <a:lnRef idx="1">
            <a:schemeClr val="accent1"/>
          </a:lnRef>
          <a:fillRef idx="3">
            <a:schemeClr val="accent1"/>
          </a:fillRef>
          <a:effectRef idx="2">
            <a:schemeClr val="accent1"/>
          </a:effectRef>
          <a:fontRef idx="minor">
            <a:schemeClr val="lt1"/>
          </a:fontRef>
        </p:style>
        <p:txBody>
          <a:bodyPr rtlCol="0" anchor="ctr" lIns="180000" rIns="180000" tIns="100000"/>
          <a:lstStyle/>
          <a:p>
            <a:pPr algn="ctr"/>
            <a:r>
              <a:rPr b="1" sz="1400">
                <a:solidFill>
                  <a:srgbClr val="C00000"/>
                </a:solidFill>
              </a:rPr>
              <a:t>Project Outcome</a:t>
            </a:r>
          </a:p>
          <a:p>
            <a:r>
              <a:rPr sz="1100">
                <a:solidFill>
                  <a:srgbClr val="232323"/>
                </a:solidFill>
              </a:rPr>
              <a:t>The proposed system combines hierarchical multi-agent planning, hybrid retrieval, validation and structured report generation.</a:t>
            </a:r>
          </a:p>
        </p:txBody>
      </p:sp>
      <p:sp>
        <p:nvSpPr>
          <p:cNvPr id="4" name="Rounded Rectangle 3"/>
          <p:cNvSpPr/>
          <p:nvPr/>
        </p:nvSpPr>
        <p:spPr>
          <a:xfrm>
            <a:off x="650000" y="1960000"/>
            <a:ext cx="11200000" cy="760000"/>
          </a:xfrm>
          <a:prstGeom prst="roundRect">
            <a:avLst/>
          </a:prstGeom>
          <a:solidFill>
            <a:srgbClr val="FFFFFF"/>
          </a:solidFill>
          <a:ln>
            <a:solidFill>
              <a:srgbClr val="BA2532"/>
            </a:solidFill>
          </a:ln>
        </p:spPr>
        <p:style>
          <a:lnRef idx="1">
            <a:schemeClr val="accent1"/>
          </a:lnRef>
          <a:fillRef idx="3">
            <a:schemeClr val="accent1"/>
          </a:fillRef>
          <a:effectRef idx="2">
            <a:schemeClr val="accent1"/>
          </a:effectRef>
          <a:fontRef idx="minor">
            <a:schemeClr val="lt1"/>
          </a:fontRef>
        </p:style>
        <p:txBody>
          <a:bodyPr rtlCol="0" anchor="ctr" lIns="180000" rIns="180000" tIns="100000"/>
          <a:lstStyle/>
          <a:p>
            <a:pPr algn="ctr"/>
            <a:r>
              <a:rPr b="1" sz="1400">
                <a:solidFill>
                  <a:srgbClr val="C00000"/>
                </a:solidFill>
              </a:rPr>
              <a:t>Research Contribution</a:t>
            </a:r>
          </a:p>
          <a:p>
            <a:r>
              <a:rPr sz="1100">
                <a:solidFill>
                  <a:srgbClr val="232323"/>
                </a:solidFill>
              </a:rPr>
              <a:t>Multi-agent decomposition improves coverage of complex research questions, while hybrid retrieval combines lexical and semantic evidence.</a:t>
            </a:r>
          </a:p>
        </p:txBody>
      </p:sp>
      <p:sp>
        <p:nvSpPr>
          <p:cNvPr id="5" name="Rounded Rectangle 4"/>
          <p:cNvSpPr/>
          <p:nvPr/>
        </p:nvSpPr>
        <p:spPr>
          <a:xfrm>
            <a:off x="650000" y="2870000"/>
            <a:ext cx="11200000" cy="760000"/>
          </a:xfrm>
          <a:prstGeom prst="roundRect">
            <a:avLst/>
          </a:prstGeom>
          <a:solidFill>
            <a:srgbClr val="FFFFFF"/>
          </a:solidFill>
          <a:ln>
            <a:solidFill>
              <a:srgbClr val="BA2532"/>
            </a:solidFill>
          </a:ln>
        </p:spPr>
        <p:style>
          <a:lnRef idx="1">
            <a:schemeClr val="accent1"/>
          </a:lnRef>
          <a:fillRef idx="3">
            <a:schemeClr val="accent1"/>
          </a:fillRef>
          <a:effectRef idx="2">
            <a:schemeClr val="accent1"/>
          </a:effectRef>
          <a:fontRef idx="minor">
            <a:schemeClr val="lt1"/>
          </a:fontRef>
        </p:style>
        <p:txBody>
          <a:bodyPr rtlCol="0" anchor="ctr" lIns="180000" rIns="180000" tIns="100000"/>
          <a:lstStyle/>
          <a:p>
            <a:pPr algn="ctr"/>
            <a:r>
              <a:rPr b="1" sz="1400">
                <a:solidFill>
                  <a:srgbClr val="C00000"/>
                </a:solidFill>
              </a:rPr>
              <a:t>Reliability Layer</a:t>
            </a:r>
          </a:p>
          <a:p>
            <a:r>
              <a:rPr sz="1100">
                <a:solidFill>
                  <a:srgbClr val="232323"/>
                </a:solidFill>
              </a:rPr>
              <a:t>Source filtering and claim validation provide an evidence-checking layer beyond a single LLM generation step.</a:t>
            </a:r>
          </a:p>
        </p:txBody>
      </p:sp>
      <p:sp>
        <p:nvSpPr>
          <p:cNvPr id="6" name="Rounded Rectangle 5"/>
          <p:cNvSpPr/>
          <p:nvPr/>
        </p:nvSpPr>
        <p:spPr>
          <a:xfrm>
            <a:off x="650000" y="3780000"/>
            <a:ext cx="11200000" cy="760000"/>
          </a:xfrm>
          <a:prstGeom prst="roundRect">
            <a:avLst/>
          </a:prstGeom>
          <a:solidFill>
            <a:srgbClr val="FFFFFF"/>
          </a:solidFill>
          <a:ln>
            <a:solidFill>
              <a:srgbClr val="BA2532"/>
            </a:solidFill>
          </a:ln>
        </p:spPr>
        <p:style>
          <a:lnRef idx="1">
            <a:schemeClr val="accent1"/>
          </a:lnRef>
          <a:fillRef idx="3">
            <a:schemeClr val="accent1"/>
          </a:fillRef>
          <a:effectRef idx="2">
            <a:schemeClr val="accent1"/>
          </a:effectRef>
          <a:fontRef idx="minor">
            <a:schemeClr val="lt1"/>
          </a:fontRef>
        </p:style>
        <p:txBody>
          <a:bodyPr rtlCol="0" anchor="ctr" lIns="180000" rIns="180000" tIns="100000"/>
          <a:lstStyle/>
          <a:p>
            <a:pPr algn="ctr"/>
            <a:r>
              <a:rPr b="1" sz="1400">
                <a:solidFill>
                  <a:srgbClr val="C00000"/>
                </a:solidFill>
              </a:rPr>
              <a:t>Technology Stack</a:t>
            </a:r>
          </a:p>
          <a:p>
            <a:r>
              <a:rPr sz="1100">
                <a:solidFill>
                  <a:srgbClr val="232323"/>
                </a:solidFill>
              </a:rPr>
              <a:t>Python, FastAPI, LangGraph, FAISS and Docker provide a modular foundation for implementation and deployment.</a:t>
            </a:r>
          </a:p>
        </p:txBody>
      </p:sp>
      <p:sp>
        <p:nvSpPr>
          <p:cNvPr id="7" name="Rounded Rectangle 6"/>
          <p:cNvSpPr/>
          <p:nvPr/>
        </p:nvSpPr>
        <p:spPr>
          <a:xfrm>
            <a:off x="650000" y="4690000"/>
            <a:ext cx="11200000" cy="760000"/>
          </a:xfrm>
          <a:prstGeom prst="roundRect">
            <a:avLst/>
          </a:prstGeom>
          <a:solidFill>
            <a:srgbClr val="FFFFFF"/>
          </a:solidFill>
          <a:ln>
            <a:solidFill>
              <a:srgbClr val="BA2532"/>
            </a:solidFill>
          </a:ln>
        </p:spPr>
        <p:style>
          <a:lnRef idx="1">
            <a:schemeClr val="accent1"/>
          </a:lnRef>
          <a:fillRef idx="3">
            <a:schemeClr val="accent1"/>
          </a:fillRef>
          <a:effectRef idx="2">
            <a:schemeClr val="accent1"/>
          </a:effectRef>
          <a:fontRef idx="minor">
            <a:schemeClr val="lt1"/>
          </a:fontRef>
        </p:style>
        <p:txBody>
          <a:bodyPr rtlCol="0" anchor="ctr" lIns="180000" rIns="180000" tIns="100000"/>
          <a:lstStyle/>
          <a:p>
            <a:pPr algn="ctr"/>
            <a:r>
              <a:rPr b="1" sz="1400">
                <a:solidFill>
                  <a:srgbClr val="C00000"/>
                </a:solidFill>
              </a:rPr>
              <a:t>Next Step</a:t>
            </a:r>
          </a:p>
          <a:p>
            <a:r>
              <a:rPr sz="1100">
                <a:solidFill>
                  <a:srgbClr val="232323"/>
                </a:solidFill>
              </a:rPr>
              <a:t>Extend the prototype with live web retrieval, FAISS embeddings, LLM integration and larger-scale evaluation.</a:t>
            </a:r>
          </a:p>
        </p:txBody>
      </p:sp>
      <p:sp>
        <p:nvSpPr>
          <p:cNvPr id="8" name="TextBox 7"/>
          <p:cNvSpPr txBox="1"/>
          <p:nvPr/>
        </p:nvSpPr>
        <p:spPr>
          <a:xfrm>
            <a:off x="650000" y="6500000"/>
            <a:ext cx="11200000" cy="300000"/>
          </a:xfrm>
          <a:prstGeom prst="rect">
            <a:avLst/>
          </a:prstGeom>
          <a:noFill/>
        </p:spPr>
        <p:txBody>
          <a:bodyPr wrap="none">
            <a:spAutoFit/>
          </a:bodyPr>
          <a:lstStyle/>
          <a:p>
            <a:pPr algn="r"/>
            <a:r>
              <a:rPr sz="800">
                <a:solidFill>
                  <a:srgbClr val="787878"/>
                </a:solidFill>
              </a:rPr>
              <a:t>AI Multi-Agent Research Assistant  |  Review-2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AF8"/>
        </a:solidFill>
        <a:effectLst/>
      </p:bgPr>
    </p:bg>
    <p:spTree>
      <p:nvGrpSpPr>
        <p:cNvPr id="1" name=""/>
        <p:cNvGrpSpPr/>
        <p:nvPr/>
      </p:nvGrpSpPr>
      <p:grpSpPr/>
      <p:sp>
        <p:nvSpPr>
          <p:cNvPr id="2" name="Rounded Rectangle 1"/>
          <p:cNvSpPr/>
          <p:nvPr/>
        </p:nvSpPr>
        <p:spPr>
          <a:xfrm>
            <a:off x="320040" y="164592"/>
            <a:ext cx="11548872" cy="658368"/>
          </a:xfrm>
          <a:prstGeom prst="roundRect">
            <a:avLst/>
          </a:prstGeom>
          <a:solidFill>
            <a:srgbClr val="C00000"/>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8869680" cy="292608"/>
          </a:xfrm>
          <a:prstGeom prst="rect">
            <a:avLst/>
          </a:prstGeom>
          <a:noFill/>
          <a:ln>
            <a:solidFill/>
          </a:ln>
        </p:spPr>
        <p:txBody>
          <a:bodyPr wrap="square">
            <a:spAutoFit/>
          </a:bodyPr>
          <a:lstStyle/>
          <a:p>
            <a:r>
              <a:t>Implementation and Project Execution</a:t>
            </a:r>
          </a:p>
        </p:txBody>
      </p:sp>
      <p:sp>
        <p:nvSpPr>
          <p:cNvPr id="4" name="TextBox 3"/>
          <p:cNvSpPr txBox="1"/>
          <p:nvPr/>
        </p:nvSpPr>
        <p:spPr>
          <a:xfrm>
            <a:off x="8595360" y="292608"/>
            <a:ext cx="2926080" cy="228600"/>
          </a:xfrm>
          <a:prstGeom prst="rect">
            <a:avLst/>
          </a:prstGeom>
          <a:noFill/>
          <a:ln>
            <a:solidFill/>
          </a:ln>
        </p:spPr>
        <p:txBody>
          <a:bodyPr wrap="square">
            <a:spAutoFit/>
          </a:bodyPr>
          <a:lstStyle/>
          <a:p>
            <a:r>
              <a:rPr>
                <a:solidFill>
                  <a:srgbClr val="232323"/>
                </a:solidFill>
              </a:rPr>
              <a:t>AI Multi-Agent Research Assistant  |  Applied Machine Learning for Text Analysis</a:t>
            </a:r>
          </a:p>
        </p:txBody>
      </p:sp>
      <p:sp>
        <p:nvSpPr>
          <p:cNvPr id="5" name="TextBox 4"/>
          <p:cNvSpPr txBox="1"/>
          <p:nvPr/>
        </p:nvSpPr>
        <p:spPr>
          <a:xfrm>
            <a:off x="411480" y="6528816"/>
            <a:ext cx="11064240" cy="164592"/>
          </a:xfrm>
          <a:prstGeom prst="rect">
            <a:avLst/>
          </a:prstGeom>
          <a:noFill/>
          <a:ln>
            <a:solidFill/>
          </a:ln>
        </p:spPr>
        <p:txBody>
          <a:bodyPr wrap="square">
            <a:spAutoFit/>
          </a:bodyPr>
          <a:lstStyle/>
          <a:p>
            <a:pPr algn="r"/>
            <a:r>
              <a:rPr sz="850" b="0">
                <a:solidFill>
                  <a:srgbClr val="475569"/>
                </a:solidFill>
              </a:rPr>
              <a:t>Review-2 | 14</a:t>
            </a:r>
          </a:p>
        </p:txBody>
      </p:sp>
      <p:sp>
        <p:nvSpPr>
          <p:cNvPr id="6" name="Rounded Rectangle 5"/>
          <p:cNvSpPr/>
          <p:nvPr/>
        </p:nvSpPr>
        <p:spPr>
          <a:xfrm>
            <a:off x="640080" y="1051560"/>
            <a:ext cx="10789920" cy="749808"/>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143000"/>
            <a:ext cx="10533888" cy="256032"/>
          </a:xfrm>
          <a:prstGeom prst="rect">
            <a:avLst/>
          </a:prstGeom>
          <a:noFill/>
          <a:ln>
            <a:solidFill/>
          </a:ln>
        </p:spPr>
        <p:txBody>
          <a:bodyPr wrap="square">
            <a:spAutoFit/>
          </a:bodyPr>
          <a:lstStyle/>
          <a:p>
            <a:pPr algn="l"/>
            <a:r>
              <a:rPr sz="1400" b="1">
                <a:solidFill>
                  <a:srgbClr val="2563EB"/>
                </a:solidFill>
              </a:rPr>
              <a:t>1. Proposed Model</a:t>
            </a:r>
          </a:p>
        </p:txBody>
      </p:sp>
      <p:sp>
        <p:nvSpPr>
          <p:cNvPr id="8" name="TextBox 7"/>
          <p:cNvSpPr txBox="1"/>
          <p:nvPr/>
        </p:nvSpPr>
        <p:spPr>
          <a:xfrm>
            <a:off x="768096" y="1444751"/>
            <a:ext cx="10533888" cy="274319"/>
          </a:xfrm>
          <a:prstGeom prst="rect">
            <a:avLst/>
          </a:prstGeom>
          <a:noFill/>
          <a:ln>
            <a:solidFill/>
          </a:ln>
        </p:spPr>
        <p:txBody>
          <a:bodyPr wrap="square">
            <a:spAutoFit/>
          </a:bodyPr>
          <a:lstStyle/>
          <a:p>
            <a:r>
              <a:t>Workflow includes planning, web research, retrieval, validation, synthesis and report generation.</a:t>
            </a:r>
          </a:p>
        </p:txBody>
      </p:sp>
      <p:sp>
        <p:nvSpPr>
          <p:cNvPr id="9" name="Rounded Rectangle 8"/>
          <p:cNvSpPr/>
          <p:nvPr/>
        </p:nvSpPr>
        <p:spPr>
          <a:xfrm>
            <a:off x="640080" y="2057400"/>
            <a:ext cx="10789920" cy="749808"/>
          </a:xfrm>
          <a:prstGeom prst="round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2148840"/>
            <a:ext cx="10533888" cy="256032"/>
          </a:xfrm>
          <a:prstGeom prst="rect">
            <a:avLst/>
          </a:prstGeom>
          <a:noFill/>
          <a:ln>
            <a:solidFill/>
          </a:ln>
        </p:spPr>
        <p:txBody>
          <a:bodyPr wrap="square">
            <a:spAutoFit/>
          </a:bodyPr>
          <a:lstStyle/>
          <a:p>
            <a:pPr algn="l"/>
            <a:r>
              <a:rPr sz="1400" b="1">
                <a:solidFill>
                  <a:srgbClr val="F59E0B"/>
                </a:solidFill>
              </a:rPr>
              <a:t>2. Implementation</a:t>
            </a:r>
          </a:p>
        </p:txBody>
      </p:sp>
      <p:sp>
        <p:nvSpPr>
          <p:cNvPr id="11" name="TextBox 10"/>
          <p:cNvSpPr txBox="1"/>
          <p:nvPr/>
        </p:nvSpPr>
        <p:spPr>
          <a:xfrm>
            <a:off x="768096" y="2450592"/>
            <a:ext cx="10533888" cy="274319"/>
          </a:xfrm>
          <a:prstGeom prst="rect">
            <a:avLst/>
          </a:prstGeom>
          <a:noFill/>
          <a:ln>
            <a:solidFill/>
          </a:ln>
        </p:spPr>
        <p:txBody>
          <a:bodyPr wrap="square">
            <a:spAutoFit/>
          </a:bodyPr>
          <a:lstStyle/>
          <a:p>
            <a:r>
              <a:t>Python modules integrated with FastAPI, Tavily, hybrid retrieval and ReportLab.</a:t>
            </a:r>
          </a:p>
        </p:txBody>
      </p:sp>
      <p:sp>
        <p:nvSpPr>
          <p:cNvPr id="12" name="Rounded Rectangle 11"/>
          <p:cNvSpPr/>
          <p:nvPr/>
        </p:nvSpPr>
        <p:spPr>
          <a:xfrm>
            <a:off x="640080" y="3063240"/>
            <a:ext cx="10789920" cy="749808"/>
          </a:xfrm>
          <a:prstGeom prst="roundRect">
            <a:avLst/>
          </a:prstGeom>
          <a:solidFill>
            <a:srgbClr val="FFFFFF"/>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3154680"/>
            <a:ext cx="10533888" cy="256032"/>
          </a:xfrm>
          <a:prstGeom prst="rect">
            <a:avLst/>
          </a:prstGeom>
          <a:noFill/>
          <a:ln>
            <a:solidFill/>
          </a:ln>
        </p:spPr>
        <p:txBody>
          <a:bodyPr wrap="square">
            <a:spAutoFit/>
          </a:bodyPr>
          <a:lstStyle/>
          <a:p>
            <a:pPr algn="l"/>
            <a:r>
              <a:rPr sz="1400" b="1">
                <a:solidFill>
                  <a:srgbClr val="16A34A"/>
                </a:solidFill>
              </a:rPr>
              <a:t>3. Code Execution</a:t>
            </a:r>
          </a:p>
        </p:txBody>
      </p:sp>
      <p:sp>
        <p:nvSpPr>
          <p:cNvPr id="14" name="TextBox 13"/>
          <p:cNvSpPr txBox="1"/>
          <p:nvPr/>
        </p:nvSpPr>
        <p:spPr>
          <a:xfrm>
            <a:off x="768096" y="3456432"/>
            <a:ext cx="10533888" cy="274319"/>
          </a:xfrm>
          <a:prstGeom prst="rect">
            <a:avLst/>
          </a:prstGeom>
          <a:noFill/>
          <a:ln>
            <a:solidFill/>
          </a:ln>
        </p:spPr>
        <p:txBody>
          <a:bodyPr wrap="square">
            <a:spAutoFit/>
          </a:bodyPr>
          <a:lstStyle/>
          <a:p>
            <a:r>
              <a:t>Local execution through Ollama with Llama 3.1 8B; web interface served by Uvicorn.</a:t>
            </a:r>
          </a:p>
        </p:txBody>
      </p:sp>
      <p:sp>
        <p:nvSpPr>
          <p:cNvPr id="15" name="Rounded Rectangle 14"/>
          <p:cNvSpPr/>
          <p:nvPr/>
        </p:nvSpPr>
        <p:spPr>
          <a:xfrm>
            <a:off x="640080" y="4069080"/>
            <a:ext cx="10789920" cy="749808"/>
          </a:xfrm>
          <a:prstGeom prst="round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4160520"/>
            <a:ext cx="10533888" cy="256032"/>
          </a:xfrm>
          <a:prstGeom prst="rect">
            <a:avLst/>
          </a:prstGeom>
          <a:noFill/>
          <a:ln>
            <a:solidFill/>
          </a:ln>
        </p:spPr>
        <p:txBody>
          <a:bodyPr wrap="square">
            <a:spAutoFit/>
          </a:bodyPr>
          <a:lstStyle/>
          <a:p>
            <a:pPr algn="l"/>
            <a:r>
              <a:rPr sz="1400" b="1">
                <a:solidFill>
                  <a:srgbClr val="7C3AED"/>
                </a:solidFill>
              </a:rPr>
              <a:t>4. Preliminary Results</a:t>
            </a:r>
          </a:p>
        </p:txBody>
      </p:sp>
      <p:sp>
        <p:nvSpPr>
          <p:cNvPr id="17" name="TextBox 16"/>
          <p:cNvSpPr txBox="1"/>
          <p:nvPr/>
        </p:nvSpPr>
        <p:spPr>
          <a:xfrm>
            <a:off x="768096" y="4462272"/>
            <a:ext cx="10533888" cy="274319"/>
          </a:xfrm>
          <a:prstGeom prst="rect">
            <a:avLst/>
          </a:prstGeom>
          <a:noFill/>
          <a:ln>
            <a:solidFill/>
          </a:ln>
        </p:spPr>
        <p:txBody>
          <a:bodyPr wrap="square">
            <a:spAutoFit/>
          </a:bodyPr>
          <a:lstStyle/>
          <a:p>
            <a:r>
              <a:t>Functional checks: web UI, research endpoint, source collection, validation and PDF generation.</a:t>
            </a:r>
          </a:p>
        </p:txBody>
      </p:sp>
      <p:sp>
        <p:nvSpPr>
          <p:cNvPr id="18" name="Rounded Rectangle 17"/>
          <p:cNvSpPr/>
          <p:nvPr/>
        </p:nvSpPr>
        <p:spPr>
          <a:xfrm>
            <a:off x="640080" y="5074920"/>
            <a:ext cx="10789920" cy="749808"/>
          </a:xfrm>
          <a:prstGeom prst="roundRect">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5166360"/>
            <a:ext cx="10533888" cy="256032"/>
          </a:xfrm>
          <a:prstGeom prst="rect">
            <a:avLst/>
          </a:prstGeom>
          <a:noFill/>
          <a:ln>
            <a:solidFill/>
          </a:ln>
        </p:spPr>
        <p:txBody>
          <a:bodyPr wrap="square">
            <a:spAutoFit/>
          </a:bodyPr>
          <a:lstStyle/>
          <a:p>
            <a:pPr algn="l"/>
            <a:r>
              <a:rPr sz="1400" b="1">
                <a:solidFill>
                  <a:srgbClr val="DC2626"/>
                </a:solidFill>
              </a:rPr>
              <a:t>5. Research Paper</a:t>
            </a:r>
          </a:p>
        </p:txBody>
      </p:sp>
      <p:sp>
        <p:nvSpPr>
          <p:cNvPr id="20" name="TextBox 19"/>
          <p:cNvSpPr txBox="1"/>
          <p:nvPr/>
        </p:nvSpPr>
        <p:spPr>
          <a:xfrm>
            <a:off x="768096" y="5468112"/>
            <a:ext cx="10533888" cy="274319"/>
          </a:xfrm>
          <a:prstGeom prst="rect">
            <a:avLst/>
          </a:prstGeom>
          <a:noFill/>
          <a:ln>
            <a:solidFill/>
          </a:ln>
        </p:spPr>
        <p:txBody>
          <a:bodyPr wrap="square">
            <a:spAutoFit/>
          </a:bodyPr>
          <a:lstStyle/>
          <a:p>
            <a:r>
              <a:t>Draft includes introduction, literature review, methodology, implementation, preliminary results and limitations.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AF8"/>
        </a:solidFill>
        <a:effectLst/>
      </p:bgPr>
    </p:bg>
    <p:spTree>
      <p:nvGrpSpPr>
        <p:cNvPr id="1" name=""/>
        <p:cNvGrpSpPr/>
        <p:nvPr/>
      </p:nvGrpSpPr>
      <p:grpSpPr/>
      <p:sp>
        <p:nvSpPr>
          <p:cNvPr id="2" name="Rounded Rectangle 1"/>
          <p:cNvSpPr/>
          <p:nvPr/>
        </p:nvSpPr>
        <p:spPr>
          <a:xfrm>
            <a:off x="320040" y="164592"/>
            <a:ext cx="11548872" cy="658368"/>
          </a:xfrm>
          <a:prstGeom prst="roundRect">
            <a:avLst/>
          </a:prstGeom>
          <a:solidFill>
            <a:srgbClr val="C00000"/>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8869680" cy="292608"/>
          </a:xfrm>
          <a:prstGeom prst="rect">
            <a:avLst/>
          </a:prstGeom>
          <a:noFill/>
          <a:ln>
            <a:solidFill/>
          </a:ln>
        </p:spPr>
        <p:txBody>
          <a:bodyPr wrap="square">
            <a:spAutoFit/>
          </a:bodyPr>
          <a:lstStyle/>
          <a:p>
            <a:pPr algn="l"/>
            <a:r>
              <a:rPr sz="2300" b="1">
                <a:solidFill>
                  <a:srgbClr val="FFFFFF"/>
                </a:solidFill>
              </a:rPr>
              <a:t>Proposed Model — Hierarchical Multi-Agent + Hybrid RAG</a:t>
            </a:r>
          </a:p>
        </p:txBody>
      </p:sp>
      <p:sp>
        <p:nvSpPr>
          <p:cNvPr id="4" name="TextBox 3"/>
          <p:cNvSpPr txBox="1"/>
          <p:nvPr/>
        </p:nvSpPr>
        <p:spPr>
          <a:xfrm>
            <a:off x="8595360" y="292608"/>
            <a:ext cx="2926080" cy="228600"/>
          </a:xfrm>
          <a:prstGeom prst="rect">
            <a:avLst/>
          </a:prstGeom>
          <a:noFill/>
          <a:ln>
            <a:solidFill/>
          </a:ln>
        </p:spPr>
        <p:txBody>
          <a:bodyPr wrap="square">
            <a:spAutoFit/>
          </a:bodyPr>
          <a:lstStyle/>
          <a:p>
            <a:r>
              <a:rPr>
                <a:solidFill>
                  <a:srgbClr val="232323"/>
                </a:solidFill>
              </a:rPr>
              <a:t>AI Multi-Agent Research Assistant  |  Applied Machine Learning for Text Analysis</a:t>
            </a:r>
          </a:p>
        </p:txBody>
      </p:sp>
      <p:sp>
        <p:nvSpPr>
          <p:cNvPr id="5" name="TextBox 4"/>
          <p:cNvSpPr txBox="1"/>
          <p:nvPr/>
        </p:nvSpPr>
        <p:spPr>
          <a:xfrm>
            <a:off x="411480" y="6528816"/>
            <a:ext cx="11064240" cy="164592"/>
          </a:xfrm>
          <a:prstGeom prst="rect">
            <a:avLst/>
          </a:prstGeom>
          <a:noFill/>
          <a:ln>
            <a:solidFill/>
          </a:ln>
        </p:spPr>
        <p:txBody>
          <a:bodyPr wrap="square">
            <a:spAutoFit/>
          </a:bodyPr>
          <a:lstStyle/>
          <a:p>
            <a:pPr algn="r"/>
            <a:r>
              <a:rPr sz="850" b="0">
                <a:solidFill>
                  <a:srgbClr val="475569"/>
                </a:solidFill>
              </a:rPr>
              <a:t>Review-2 | 15</a:t>
            </a:r>
          </a:p>
        </p:txBody>
      </p:sp>
      <p:sp>
        <p:nvSpPr>
          <p:cNvPr id="6" name="Rounded Rectangle 5"/>
          <p:cNvSpPr/>
          <p:nvPr/>
        </p:nvSpPr>
        <p:spPr>
          <a:xfrm>
            <a:off x="502920" y="1234440"/>
            <a:ext cx="1737360" cy="658368"/>
          </a:xfrm>
          <a:prstGeom prst="round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53312"/>
            <a:ext cx="1645919" cy="475488"/>
          </a:xfrm>
          <a:prstGeom prst="rect">
            <a:avLst/>
          </a:prstGeom>
          <a:noFill/>
          <a:ln>
            <a:solidFill/>
          </a:ln>
        </p:spPr>
        <p:txBody>
          <a:bodyPr wrap="square">
            <a:spAutoFit/>
          </a:bodyPr>
          <a:lstStyle/>
          <a:p>
            <a:pPr algn="ctr"/>
            <a:r>
              <a:rPr sz="1300" b="1">
                <a:solidFill>
                  <a:srgbClr val="2563EB"/>
                </a:solidFill>
              </a:rPr>
              <a:t>User Query</a:t>
            </a:r>
          </a:p>
        </p:txBody>
      </p:sp>
      <p:sp>
        <p:nvSpPr>
          <p:cNvPr id="8" name="Rounded Rectangle 7"/>
          <p:cNvSpPr/>
          <p:nvPr/>
        </p:nvSpPr>
        <p:spPr>
          <a:xfrm>
            <a:off x="2606040" y="1234440"/>
            <a:ext cx="2103120" cy="658368"/>
          </a:xfrm>
          <a:prstGeom prst="roundRect">
            <a:avLst/>
          </a:prstGeom>
          <a:solidFill>
            <a:srgbClr val="FFFFFF"/>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651760" y="1353312"/>
            <a:ext cx="2011679" cy="475488"/>
          </a:xfrm>
          <a:prstGeom prst="rect">
            <a:avLst/>
          </a:prstGeom>
          <a:noFill/>
          <a:ln>
            <a:solidFill/>
          </a:ln>
        </p:spPr>
        <p:txBody>
          <a:bodyPr wrap="square">
            <a:spAutoFit/>
          </a:bodyPr>
          <a:lstStyle/>
          <a:p>
            <a:pPr algn="ctr"/>
            <a:r>
              <a:rPr sz="1300" b="1">
                <a:solidFill>
                  <a:srgbClr val="F59E0B"/>
                </a:solidFill>
              </a:rPr>
              <a:t>Planner / Orchestrator</a:t>
            </a:r>
          </a:p>
        </p:txBody>
      </p:sp>
      <p:sp>
        <p:nvSpPr>
          <p:cNvPr id="10" name="Rounded Rectangle 9"/>
          <p:cNvSpPr/>
          <p:nvPr/>
        </p:nvSpPr>
        <p:spPr>
          <a:xfrm>
            <a:off x="5166360" y="1234440"/>
            <a:ext cx="1828800" cy="658368"/>
          </a:xfrm>
          <a:prstGeom prst="roundRect">
            <a:avLst/>
          </a:prstGeom>
          <a:solidFill>
            <a:srgbClr val="FFFFFF"/>
          </a:solidFill>
          <a:ln w="254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353312"/>
            <a:ext cx="1737360" cy="475488"/>
          </a:xfrm>
          <a:prstGeom prst="rect">
            <a:avLst/>
          </a:prstGeom>
          <a:noFill/>
          <a:ln>
            <a:solidFill/>
          </a:ln>
        </p:spPr>
        <p:txBody>
          <a:bodyPr wrap="square">
            <a:spAutoFit/>
          </a:bodyPr>
          <a:lstStyle/>
          <a:p>
            <a:pPr algn="ctr"/>
            <a:r>
              <a:rPr sz="1300" b="1">
                <a:solidFill>
                  <a:srgbClr val="16A34A"/>
                </a:solidFill>
              </a:rPr>
              <a:t>Research Agent</a:t>
            </a:r>
          </a:p>
        </p:txBody>
      </p:sp>
      <p:sp>
        <p:nvSpPr>
          <p:cNvPr id="12" name="Rounded Rectangle 11"/>
          <p:cNvSpPr/>
          <p:nvPr/>
        </p:nvSpPr>
        <p:spPr>
          <a:xfrm>
            <a:off x="7452360" y="1234440"/>
            <a:ext cx="1645920" cy="658368"/>
          </a:xfrm>
          <a:prstGeom prst="roundRect">
            <a:avLst/>
          </a:prstGeom>
          <a:solidFill>
            <a:srgbClr val="FFFFFF"/>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0" y="1353312"/>
            <a:ext cx="1554480" cy="475488"/>
          </a:xfrm>
          <a:prstGeom prst="rect">
            <a:avLst/>
          </a:prstGeom>
          <a:noFill/>
          <a:ln>
            <a:solidFill/>
          </a:ln>
        </p:spPr>
        <p:txBody>
          <a:bodyPr wrap="square">
            <a:spAutoFit/>
          </a:bodyPr>
          <a:lstStyle/>
          <a:p>
            <a:pPr algn="ctr"/>
            <a:r>
              <a:rPr sz="1300" b="1">
                <a:solidFill>
                  <a:srgbClr val="F59E0B"/>
                </a:solidFill>
              </a:rPr>
              <a:t>Source Filter</a:t>
            </a:r>
          </a:p>
        </p:txBody>
      </p:sp>
      <p:sp>
        <p:nvSpPr>
          <p:cNvPr id="14" name="Rounded Rectangle 13"/>
          <p:cNvSpPr/>
          <p:nvPr/>
        </p:nvSpPr>
        <p:spPr>
          <a:xfrm>
            <a:off x="2606040" y="2788920"/>
            <a:ext cx="2423160" cy="868680"/>
          </a:xfrm>
          <a:prstGeom prst="round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51760" y="2907791"/>
            <a:ext cx="2331720" cy="685800"/>
          </a:xfrm>
          <a:prstGeom prst="rect">
            <a:avLst/>
          </a:prstGeom>
          <a:noFill/>
          <a:ln>
            <a:solidFill/>
          </a:ln>
        </p:spPr>
        <p:txBody>
          <a:bodyPr wrap="square">
            <a:spAutoFit/>
          </a:bodyPr>
          <a:lstStyle/>
          <a:p>
            <a:pPr algn="ctr"/>
            <a:r>
              <a:rPr sz="1300" b="1">
                <a:solidFill>
                  <a:srgbClr val="2563EB"/>
                </a:solidFill>
              </a:rPr>
              <a:t>Hybrid RAG
Semantic + Keyword</a:t>
            </a:r>
          </a:p>
        </p:txBody>
      </p:sp>
      <p:sp>
        <p:nvSpPr>
          <p:cNvPr id="16" name="Rounded Rectangle 15"/>
          <p:cNvSpPr/>
          <p:nvPr/>
        </p:nvSpPr>
        <p:spPr>
          <a:xfrm>
            <a:off x="5669280" y="2788920"/>
            <a:ext cx="2011680" cy="868680"/>
          </a:xfrm>
          <a:prstGeom prst="roundRect">
            <a:avLst/>
          </a:prstGeom>
          <a:solidFill>
            <a:srgbClr val="FFFFFF"/>
          </a:solidFill>
          <a:ln w="254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15000" y="2907791"/>
            <a:ext cx="1920240" cy="685800"/>
          </a:xfrm>
          <a:prstGeom prst="rect">
            <a:avLst/>
          </a:prstGeom>
          <a:noFill/>
          <a:ln>
            <a:solidFill/>
          </a:ln>
        </p:spPr>
        <p:txBody>
          <a:bodyPr wrap="square">
            <a:spAutoFit/>
          </a:bodyPr>
          <a:lstStyle/>
          <a:p>
            <a:pPr algn="ctr"/>
            <a:r>
              <a:rPr sz="1300" b="1">
                <a:solidFill>
                  <a:srgbClr val="DC2626"/>
                </a:solidFill>
              </a:rPr>
              <a:t>Validation Agent</a:t>
            </a:r>
          </a:p>
        </p:txBody>
      </p:sp>
      <p:sp>
        <p:nvSpPr>
          <p:cNvPr id="18" name="Rounded Rectangle 17"/>
          <p:cNvSpPr/>
          <p:nvPr/>
        </p:nvSpPr>
        <p:spPr>
          <a:xfrm>
            <a:off x="2606040" y="4343400"/>
            <a:ext cx="2057400" cy="777240"/>
          </a:xfrm>
          <a:prstGeom prst="roundRect">
            <a:avLst/>
          </a:prstGeom>
          <a:solidFill>
            <a:srgbClr val="FFFFFF"/>
          </a:solidFill>
          <a:ln w="254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651760" y="4462272"/>
            <a:ext cx="1965960" cy="594359"/>
          </a:xfrm>
          <a:prstGeom prst="rect">
            <a:avLst/>
          </a:prstGeom>
          <a:noFill/>
          <a:ln>
            <a:solidFill/>
          </a:ln>
        </p:spPr>
        <p:txBody>
          <a:bodyPr wrap="square">
            <a:spAutoFit/>
          </a:bodyPr>
          <a:lstStyle/>
          <a:p>
            <a:pPr algn="ctr"/>
            <a:r>
              <a:rPr sz="1300" b="1">
                <a:solidFill>
                  <a:srgbClr val="16A34A"/>
                </a:solidFill>
              </a:rPr>
              <a:t>Synthesis Agent</a:t>
            </a:r>
          </a:p>
        </p:txBody>
      </p:sp>
      <p:sp>
        <p:nvSpPr>
          <p:cNvPr id="20" name="Rounded Rectangle 19"/>
          <p:cNvSpPr/>
          <p:nvPr/>
        </p:nvSpPr>
        <p:spPr>
          <a:xfrm>
            <a:off x="5303520" y="4343400"/>
            <a:ext cx="1965960" cy="777240"/>
          </a:xfrm>
          <a:prstGeom prst="roundRect">
            <a:avLst/>
          </a:prstGeom>
          <a:solidFill>
            <a:srgbClr val="FFFFFF"/>
          </a:solidFill>
          <a:ln w="254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49240" y="4462272"/>
            <a:ext cx="1874519" cy="594359"/>
          </a:xfrm>
          <a:prstGeom prst="rect">
            <a:avLst/>
          </a:prstGeom>
          <a:noFill/>
          <a:ln>
            <a:solidFill/>
          </a:ln>
        </p:spPr>
        <p:txBody>
          <a:bodyPr wrap="square">
            <a:spAutoFit/>
          </a:bodyPr>
          <a:lstStyle/>
          <a:p>
            <a:pPr algn="ctr"/>
            <a:r>
              <a:rPr sz="1300" b="1">
                <a:solidFill>
                  <a:srgbClr val="7C3AED"/>
                </a:solidFill>
              </a:rPr>
              <a:t>Report Agent</a:t>
            </a:r>
          </a:p>
        </p:txBody>
      </p:sp>
      <p:sp>
        <p:nvSpPr>
          <p:cNvPr id="22" name="Rounded Rectangle 21"/>
          <p:cNvSpPr/>
          <p:nvPr/>
        </p:nvSpPr>
        <p:spPr>
          <a:xfrm>
            <a:off x="7818120" y="4343400"/>
            <a:ext cx="2651760" cy="777240"/>
          </a:xfrm>
          <a:prstGeom prst="round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0" y="4462272"/>
            <a:ext cx="2560320" cy="594359"/>
          </a:xfrm>
          <a:prstGeom prst="rect">
            <a:avLst/>
          </a:prstGeom>
          <a:noFill/>
          <a:ln>
            <a:solidFill/>
          </a:ln>
        </p:spPr>
        <p:txBody>
          <a:bodyPr wrap="square">
            <a:spAutoFit/>
          </a:bodyPr>
          <a:lstStyle/>
          <a:p>
            <a:pPr algn="ctr"/>
            <a:r>
              <a:rPr sz="1300" b="1">
                <a:solidFill>
                  <a:srgbClr val="2563EB"/>
                </a:solidFill>
              </a:rPr>
              <a:t>Final Report
Citations + Confidence</a:t>
            </a:r>
          </a:p>
        </p:txBody>
      </p:sp>
      <p:cxnSp>
        <p:nvCxnSpPr>
          <p:cNvPr id="24" name="Connector 23"/>
          <p:cNvCxnSpPr/>
          <p:nvPr/>
        </p:nvCxnSpPr>
        <p:spPr>
          <a:xfrm>
            <a:off x="2240280" y="1563624"/>
            <a:ext cx="365760" cy="0"/>
          </a:xfrm>
          <a:prstGeom prst="line">
            <a:avLst/>
          </a:prstGeom>
          <a:ln w="25400">
            <a:solidFill>
              <a:srgbClr val="47556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709160" y="1563624"/>
            <a:ext cx="457200" cy="0"/>
          </a:xfrm>
          <a:prstGeom prst="line">
            <a:avLst/>
          </a:prstGeom>
          <a:ln w="25400">
            <a:solidFill>
              <a:srgbClr val="47556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6995160" y="1563624"/>
            <a:ext cx="457200" cy="0"/>
          </a:xfrm>
          <a:prstGeom prst="line">
            <a:avLst/>
          </a:prstGeom>
          <a:ln w="25400">
            <a:solidFill>
              <a:srgbClr val="47556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6675120" y="1892807"/>
            <a:ext cx="1600200" cy="896113"/>
          </a:xfrm>
          <a:prstGeom prst="line">
            <a:avLst/>
          </a:prstGeom>
          <a:ln w="25400">
            <a:solidFill>
              <a:srgbClr val="47556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5029200" y="3218688"/>
            <a:ext cx="640080" cy="0"/>
          </a:xfrm>
          <a:prstGeom prst="line">
            <a:avLst/>
          </a:prstGeom>
          <a:ln w="25400">
            <a:solidFill>
              <a:srgbClr val="47556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3657600" y="3657600"/>
            <a:ext cx="1371600" cy="685800"/>
          </a:xfrm>
          <a:prstGeom prst="line">
            <a:avLst/>
          </a:prstGeom>
          <a:ln w="25400">
            <a:solidFill>
              <a:srgbClr val="47556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663440" y="4727448"/>
            <a:ext cx="640080" cy="0"/>
          </a:xfrm>
          <a:prstGeom prst="line">
            <a:avLst/>
          </a:prstGeom>
          <a:ln w="25400">
            <a:solidFill>
              <a:srgbClr val="47556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7269480" y="4727448"/>
            <a:ext cx="548640" cy="0"/>
          </a:xfrm>
          <a:prstGeom prst="line">
            <a:avLst/>
          </a:prstGeom>
          <a:ln w="25400">
            <a:solidFill>
              <a:srgbClr val="475569"/>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502920" y="2743200"/>
            <a:ext cx="1737360" cy="1143000"/>
          </a:xfrm>
          <a:prstGeom prst="round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0936" y="2834640"/>
            <a:ext cx="1481328" cy="256032"/>
          </a:xfrm>
          <a:prstGeom prst="rect">
            <a:avLst/>
          </a:prstGeom>
          <a:noFill/>
          <a:ln>
            <a:solidFill/>
          </a:ln>
        </p:spPr>
        <p:txBody>
          <a:bodyPr wrap="square">
            <a:spAutoFit/>
          </a:bodyPr>
          <a:lstStyle/>
          <a:p>
            <a:pPr algn="l"/>
            <a:r>
              <a:rPr sz="1400" b="1">
                <a:solidFill>
                  <a:srgbClr val="7C3AED"/>
                </a:solidFill>
              </a:rPr>
              <a:t>External Evidence</a:t>
            </a:r>
          </a:p>
        </p:txBody>
      </p:sp>
      <p:sp>
        <p:nvSpPr>
          <p:cNvPr id="34" name="TextBox 33"/>
          <p:cNvSpPr txBox="1"/>
          <p:nvPr/>
        </p:nvSpPr>
        <p:spPr>
          <a:xfrm>
            <a:off x="630936" y="3136392"/>
            <a:ext cx="1481328" cy="667512"/>
          </a:xfrm>
          <a:prstGeom prst="rect">
            <a:avLst/>
          </a:prstGeom>
          <a:noFill/>
          <a:ln>
            <a:solidFill/>
          </a:ln>
        </p:spPr>
        <p:txBody>
          <a:bodyPr wrap="square">
            <a:spAutoFit/>
          </a:bodyPr>
          <a:lstStyle/>
          <a:p>
            <a:pPr algn="l"/>
            <a:r>
              <a:rPr sz="1150" b="0">
                <a:solidFill>
                  <a:srgbClr val="232323"/>
                </a:solidFill>
              </a:rPr>
              <a:t>Tavily / SerpAPI
Web sources, titles, URLs, snippets</a:t>
            </a:r>
          </a:p>
        </p:txBody>
      </p:sp>
      <p:cxnSp>
        <p:nvCxnSpPr>
          <p:cNvPr id="35" name="Connector 34"/>
          <p:cNvCxnSpPr/>
          <p:nvPr/>
        </p:nvCxnSpPr>
        <p:spPr>
          <a:xfrm>
            <a:off x="2240280" y="3310128"/>
            <a:ext cx="365760" cy="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9052560" y="2697480"/>
            <a:ext cx="2240280" cy="1188720"/>
          </a:xfrm>
          <a:prstGeom prst="roundRect">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80576" y="2788920"/>
            <a:ext cx="1984248" cy="256032"/>
          </a:xfrm>
          <a:prstGeom prst="rect">
            <a:avLst/>
          </a:prstGeom>
          <a:noFill/>
          <a:ln>
            <a:solidFill/>
          </a:ln>
        </p:spPr>
        <p:txBody>
          <a:bodyPr wrap="square">
            <a:spAutoFit/>
          </a:bodyPr>
          <a:lstStyle/>
          <a:p>
            <a:pPr algn="l"/>
            <a:r>
              <a:rPr sz="1400" b="1">
                <a:solidFill>
                  <a:srgbClr val="DC2626"/>
                </a:solidFill>
              </a:rPr>
              <a:t>Traceability</a:t>
            </a:r>
          </a:p>
        </p:txBody>
      </p:sp>
      <p:sp>
        <p:nvSpPr>
          <p:cNvPr id="38" name="TextBox 37"/>
          <p:cNvSpPr txBox="1"/>
          <p:nvPr/>
        </p:nvSpPr>
        <p:spPr>
          <a:xfrm>
            <a:off x="9180576" y="3090672"/>
            <a:ext cx="1984248" cy="713232"/>
          </a:xfrm>
          <a:prstGeom prst="rect">
            <a:avLst/>
          </a:prstGeom>
          <a:noFill/>
          <a:ln>
            <a:solidFill/>
          </a:ln>
        </p:spPr>
        <p:txBody>
          <a:bodyPr wrap="square">
            <a:spAutoFit/>
          </a:bodyPr>
          <a:lstStyle/>
          <a:p>
            <a:pPr algn="l"/>
            <a:r>
              <a:rPr sz="1150" b="0">
                <a:solidFill>
                  <a:srgbClr val="232323"/>
                </a:solidFill>
              </a:rPr>
              <a:t>Validation maps claims to supporting evidence.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AF8"/>
        </a:solidFill>
        <a:effectLst/>
      </p:bgPr>
    </p:bg>
    <p:spTree>
      <p:nvGrpSpPr>
        <p:cNvPr id="1" name=""/>
        <p:cNvGrpSpPr/>
        <p:nvPr/>
      </p:nvGrpSpPr>
      <p:grpSpPr/>
      <p:sp>
        <p:nvSpPr>
          <p:cNvPr id="2" name="Rounded Rectangle 1"/>
          <p:cNvSpPr/>
          <p:nvPr/>
        </p:nvSpPr>
        <p:spPr>
          <a:xfrm>
            <a:off x="320040" y="164592"/>
            <a:ext cx="11548872" cy="658368"/>
          </a:xfrm>
          <a:prstGeom prst="roundRect">
            <a:avLst/>
          </a:prstGeom>
          <a:solidFill>
            <a:srgbClr val="C00000"/>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8869680" cy="292608"/>
          </a:xfrm>
          <a:prstGeom prst="rect">
            <a:avLst/>
          </a:prstGeom>
          <a:noFill/>
          <a:ln>
            <a:solidFill/>
          </a:ln>
        </p:spPr>
        <p:txBody>
          <a:bodyPr wrap="square">
            <a:spAutoFit/>
          </a:bodyPr>
          <a:lstStyle/>
          <a:p>
            <a:pPr algn="l"/>
            <a:r>
              <a:rPr sz="2300" b="1">
                <a:solidFill>
                  <a:srgbClr val="FFFFFF"/>
                </a:solidFill>
              </a:rPr>
              <a:t>Implementation — Module-Level Design</a:t>
            </a:r>
          </a:p>
        </p:txBody>
      </p:sp>
      <p:sp>
        <p:nvSpPr>
          <p:cNvPr id="4" name="TextBox 3"/>
          <p:cNvSpPr txBox="1"/>
          <p:nvPr/>
        </p:nvSpPr>
        <p:spPr>
          <a:xfrm>
            <a:off x="8595360" y="292608"/>
            <a:ext cx="2926080" cy="228600"/>
          </a:xfrm>
          <a:prstGeom prst="rect">
            <a:avLst/>
          </a:prstGeom>
          <a:noFill/>
          <a:ln>
            <a:solidFill/>
          </a:ln>
        </p:spPr>
        <p:txBody>
          <a:bodyPr wrap="square">
            <a:spAutoFit/>
          </a:bodyPr>
          <a:lstStyle/>
          <a:p>
            <a:r>
              <a:rPr>
                <a:solidFill>
                  <a:srgbClr val="232323"/>
                </a:solidFill>
              </a:rPr>
              <a:t>AI Multi-Agent Research Assistant  |  Applied Machine Learning for Text Analysis</a:t>
            </a:r>
          </a:p>
        </p:txBody>
      </p:sp>
      <p:sp>
        <p:nvSpPr>
          <p:cNvPr id="5" name="TextBox 4"/>
          <p:cNvSpPr txBox="1"/>
          <p:nvPr/>
        </p:nvSpPr>
        <p:spPr>
          <a:xfrm>
            <a:off x="411480" y="6528816"/>
            <a:ext cx="11064240" cy="164592"/>
          </a:xfrm>
          <a:prstGeom prst="rect">
            <a:avLst/>
          </a:prstGeom>
          <a:noFill/>
          <a:ln>
            <a:solidFill/>
          </a:ln>
        </p:spPr>
        <p:txBody>
          <a:bodyPr wrap="square">
            <a:spAutoFit/>
          </a:bodyPr>
          <a:lstStyle/>
          <a:p>
            <a:pPr algn="r"/>
            <a:r>
              <a:rPr sz="850" b="0">
                <a:solidFill>
                  <a:srgbClr val="475569"/>
                </a:solidFill>
              </a:rPr>
              <a:t>Review-2 | 16</a:t>
            </a:r>
          </a:p>
        </p:txBody>
      </p:sp>
      <p:sp>
        <p:nvSpPr>
          <p:cNvPr id="6" name="Rounded Rectangle 5"/>
          <p:cNvSpPr/>
          <p:nvPr/>
        </p:nvSpPr>
        <p:spPr>
          <a:xfrm>
            <a:off x="594360" y="1188720"/>
            <a:ext cx="3246120" cy="13258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 y="1280160"/>
            <a:ext cx="2990087" cy="256032"/>
          </a:xfrm>
          <a:prstGeom prst="rect">
            <a:avLst/>
          </a:prstGeom>
          <a:noFill/>
          <a:ln>
            <a:solidFill/>
          </a:ln>
        </p:spPr>
        <p:txBody>
          <a:bodyPr wrap="square">
            <a:spAutoFit/>
          </a:bodyPr>
          <a:lstStyle/>
          <a:p>
            <a:r>
              <a:t>planner.py</a:t>
            </a:r>
          </a:p>
        </p:txBody>
      </p:sp>
      <p:sp>
        <p:nvSpPr>
          <p:cNvPr id="8" name="TextBox 7"/>
          <p:cNvSpPr txBox="1"/>
          <p:nvPr/>
        </p:nvSpPr>
        <p:spPr>
          <a:xfrm>
            <a:off x="722376" y="1581912"/>
            <a:ext cx="2990087" cy="850392"/>
          </a:xfrm>
          <a:prstGeom prst="rect">
            <a:avLst/>
          </a:prstGeom>
          <a:noFill/>
          <a:ln>
            <a:solidFill/>
          </a:ln>
        </p:spPr>
        <p:txBody>
          <a:bodyPr wrap="square">
            <a:spAutoFit/>
          </a:bodyPr>
          <a:lstStyle/>
          <a:p>
            <a:r>
              <a:t>Planner</a:t>
            </a:r>
          </a:p>
          <a:p>
            <a:r>
              <a:t>• task decomposition</a:t>
            </a:r>
          </a:p>
        </p:txBody>
      </p:sp>
      <p:sp>
        <p:nvSpPr>
          <p:cNvPr id="9" name="Rounded Rectangle 8"/>
          <p:cNvSpPr/>
          <p:nvPr/>
        </p:nvSpPr>
        <p:spPr>
          <a:xfrm>
            <a:off x="4389120" y="1188720"/>
            <a:ext cx="3246120" cy="1325880"/>
          </a:xfrm>
          <a:prstGeom prst="roundRect">
            <a:avLst/>
          </a:prstGeom>
          <a:solidFill>
            <a:srgbClr val="FFFFFF"/>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17136" y="1280160"/>
            <a:ext cx="2990087" cy="256032"/>
          </a:xfrm>
          <a:prstGeom prst="rect">
            <a:avLst/>
          </a:prstGeom>
          <a:noFill/>
          <a:ln>
            <a:solidFill/>
          </a:ln>
        </p:spPr>
        <p:txBody>
          <a:bodyPr wrap="square">
            <a:spAutoFit/>
          </a:bodyPr>
          <a:lstStyle/>
          <a:p>
            <a:r>
              <a:t>research_agent.py</a:t>
            </a:r>
          </a:p>
        </p:txBody>
      </p:sp>
      <p:sp>
        <p:nvSpPr>
          <p:cNvPr id="11" name="TextBox 10"/>
          <p:cNvSpPr txBox="1"/>
          <p:nvPr/>
        </p:nvSpPr>
        <p:spPr>
          <a:xfrm>
            <a:off x="4517136" y="1581912"/>
            <a:ext cx="2990087" cy="850392"/>
          </a:xfrm>
          <a:prstGeom prst="rect">
            <a:avLst/>
          </a:prstGeom>
          <a:noFill/>
          <a:ln>
            <a:solidFill/>
          </a:ln>
        </p:spPr>
        <p:txBody>
          <a:bodyPr wrap="square">
            <a:spAutoFit/>
          </a:bodyPr>
          <a:lstStyle/>
          <a:p>
            <a:r>
              <a:t>Research Agent</a:t>
            </a:r>
          </a:p>
          <a:p>
            <a:r>
              <a:t>• Tavily web search</a:t>
            </a:r>
          </a:p>
        </p:txBody>
      </p:sp>
      <p:sp>
        <p:nvSpPr>
          <p:cNvPr id="12" name="Rounded Rectangle 11"/>
          <p:cNvSpPr/>
          <p:nvPr/>
        </p:nvSpPr>
        <p:spPr>
          <a:xfrm>
            <a:off x="8183880" y="1188720"/>
            <a:ext cx="3246120" cy="1325880"/>
          </a:xfrm>
          <a:prstGeom prst="roundRect">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11896" y="1280160"/>
            <a:ext cx="2990087" cy="256032"/>
          </a:xfrm>
          <a:prstGeom prst="rect">
            <a:avLst/>
          </a:prstGeom>
          <a:noFill/>
          <a:ln>
            <a:solidFill/>
          </a:ln>
        </p:spPr>
        <p:txBody>
          <a:bodyPr wrap="square">
            <a:spAutoFit/>
          </a:bodyPr>
          <a:lstStyle/>
          <a:p>
            <a:r>
              <a:t>validation_agent.py</a:t>
            </a:r>
          </a:p>
        </p:txBody>
      </p:sp>
      <p:sp>
        <p:nvSpPr>
          <p:cNvPr id="14" name="TextBox 13"/>
          <p:cNvSpPr txBox="1"/>
          <p:nvPr/>
        </p:nvSpPr>
        <p:spPr>
          <a:xfrm>
            <a:off x="8311896" y="1581912"/>
            <a:ext cx="2990087" cy="850392"/>
          </a:xfrm>
          <a:prstGeom prst="rect">
            <a:avLst/>
          </a:prstGeom>
          <a:noFill/>
          <a:ln>
            <a:solidFill/>
          </a:ln>
        </p:spPr>
        <p:txBody>
          <a:bodyPr wrap="square">
            <a:spAutoFit/>
          </a:bodyPr>
          <a:lstStyle/>
          <a:p>
            <a:r>
              <a:t>Validation Agent</a:t>
            </a:r>
          </a:p>
          <a:p>
            <a:r>
              <a:t>• claim/evidence checks</a:t>
            </a:r>
          </a:p>
        </p:txBody>
      </p:sp>
      <p:sp>
        <p:nvSpPr>
          <p:cNvPr id="15" name="Rounded Rectangle 14"/>
          <p:cNvSpPr/>
          <p:nvPr/>
        </p:nvSpPr>
        <p:spPr>
          <a:xfrm>
            <a:off x="594360" y="3063239"/>
            <a:ext cx="3246120" cy="1325880"/>
          </a:xfrm>
          <a:prstGeom prst="round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6" y="3154679"/>
            <a:ext cx="2990087" cy="256032"/>
          </a:xfrm>
          <a:prstGeom prst="rect">
            <a:avLst/>
          </a:prstGeom>
          <a:noFill/>
          <a:ln>
            <a:solidFill/>
          </a:ln>
        </p:spPr>
        <p:txBody>
          <a:bodyPr wrap="square">
            <a:spAutoFit/>
          </a:bodyPr>
          <a:lstStyle/>
          <a:p>
            <a:r>
              <a:t>synthesis_agent.py</a:t>
            </a:r>
          </a:p>
        </p:txBody>
      </p:sp>
      <p:sp>
        <p:nvSpPr>
          <p:cNvPr id="17" name="TextBox 16"/>
          <p:cNvSpPr txBox="1"/>
          <p:nvPr/>
        </p:nvSpPr>
        <p:spPr>
          <a:xfrm>
            <a:off x="722376" y="3456432"/>
            <a:ext cx="2990087" cy="850392"/>
          </a:xfrm>
          <a:prstGeom prst="rect">
            <a:avLst/>
          </a:prstGeom>
          <a:noFill/>
          <a:ln>
            <a:solidFill/>
          </a:ln>
        </p:spPr>
        <p:txBody>
          <a:bodyPr wrap="square">
            <a:spAutoFit/>
          </a:bodyPr>
          <a:lstStyle/>
          <a:p>
            <a:r>
              <a:t>Synthesis Agent</a:t>
            </a:r>
          </a:p>
          <a:p>
            <a:r>
              <a:t>• evidence-grounded answer</a:t>
            </a:r>
          </a:p>
        </p:txBody>
      </p:sp>
      <p:sp>
        <p:nvSpPr>
          <p:cNvPr id="18" name="Rounded Rectangle 17"/>
          <p:cNvSpPr/>
          <p:nvPr/>
        </p:nvSpPr>
        <p:spPr>
          <a:xfrm>
            <a:off x="4389120" y="3063239"/>
            <a:ext cx="3246120" cy="1325880"/>
          </a:xfrm>
          <a:prstGeom prst="round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17136" y="3154679"/>
            <a:ext cx="2990087" cy="256032"/>
          </a:xfrm>
          <a:prstGeom prst="rect">
            <a:avLst/>
          </a:prstGeom>
          <a:noFill/>
          <a:ln>
            <a:solidFill/>
          </a:ln>
        </p:spPr>
        <p:txBody>
          <a:bodyPr wrap="square">
            <a:spAutoFit/>
          </a:bodyPr>
          <a:lstStyle/>
          <a:p>
            <a:r>
              <a:t>report_agent.py</a:t>
            </a:r>
          </a:p>
        </p:txBody>
      </p:sp>
      <p:sp>
        <p:nvSpPr>
          <p:cNvPr id="20" name="TextBox 19"/>
          <p:cNvSpPr txBox="1"/>
          <p:nvPr/>
        </p:nvSpPr>
        <p:spPr>
          <a:xfrm>
            <a:off x="4517136" y="3456432"/>
            <a:ext cx="2990087" cy="850392"/>
          </a:xfrm>
          <a:prstGeom prst="rect">
            <a:avLst/>
          </a:prstGeom>
          <a:noFill/>
          <a:ln>
            <a:solidFill/>
          </a:ln>
        </p:spPr>
        <p:txBody>
          <a:bodyPr wrap="square">
            <a:spAutoFit/>
          </a:bodyPr>
          <a:lstStyle/>
          <a:p>
            <a:r>
              <a:t>Report Agent</a:t>
            </a:r>
          </a:p>
          <a:p>
            <a:r>
              <a:t>• PDF generation</a:t>
            </a:r>
          </a:p>
        </p:txBody>
      </p:sp>
      <p:sp>
        <p:nvSpPr>
          <p:cNvPr id="21" name="Rounded Rectangle 20"/>
          <p:cNvSpPr/>
          <p:nvPr/>
        </p:nvSpPr>
        <p:spPr>
          <a:xfrm>
            <a:off x="8183880" y="3063239"/>
            <a:ext cx="3246120" cy="13258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11896" y="3154679"/>
            <a:ext cx="2990087" cy="256032"/>
          </a:xfrm>
          <a:prstGeom prst="rect">
            <a:avLst/>
          </a:prstGeom>
          <a:noFill/>
          <a:ln>
            <a:solidFill/>
          </a:ln>
        </p:spPr>
        <p:txBody>
          <a:bodyPr wrap="square">
            <a:spAutoFit/>
          </a:bodyPr>
          <a:lstStyle/>
          <a:p>
            <a:r>
              <a:t>api.py</a:t>
            </a:r>
          </a:p>
        </p:txBody>
      </p:sp>
      <p:sp>
        <p:nvSpPr>
          <p:cNvPr id="23" name="TextBox 22"/>
          <p:cNvSpPr txBox="1"/>
          <p:nvPr/>
        </p:nvSpPr>
        <p:spPr>
          <a:xfrm>
            <a:off x="8311896" y="3456432"/>
            <a:ext cx="2990087" cy="850392"/>
          </a:xfrm>
          <a:prstGeom prst="rect">
            <a:avLst/>
          </a:prstGeom>
          <a:noFill/>
          <a:ln>
            <a:solidFill/>
          </a:ln>
        </p:spPr>
        <p:txBody>
          <a:bodyPr wrap="square">
            <a:spAutoFit/>
          </a:bodyPr>
          <a:lstStyle/>
          <a:p>
            <a:r>
              <a:t>FastAPI</a:t>
            </a:r>
          </a:p>
          <a:p>
            <a:r>
              <a:t>• /research endpoint</a:t>
            </a:r>
          </a:p>
        </p:txBody>
      </p:sp>
      <p:sp>
        <p:nvSpPr>
          <p:cNvPr id="24" name="TextBox 23"/>
          <p:cNvSpPr txBox="1"/>
          <p:nvPr/>
        </p:nvSpPr>
        <p:spPr>
          <a:xfrm>
            <a:off x="685800" y="4892040"/>
            <a:ext cx="1828800" cy="274320"/>
          </a:xfrm>
          <a:prstGeom prst="rect">
            <a:avLst/>
          </a:prstGeom>
          <a:noFill/>
          <a:ln>
            <a:solidFill/>
          </a:ln>
        </p:spPr>
        <p:txBody>
          <a:bodyPr wrap="square">
            <a:spAutoFit/>
          </a:bodyPr>
          <a:lstStyle/>
          <a:p>
            <a:pPr algn="l"/>
            <a:r>
              <a:rPr sz="1500" b="1">
                <a:solidFill>
                  <a:srgbClr val="C00000"/>
                </a:solidFill>
              </a:rPr>
              <a:t>Execution path</a:t>
            </a:r>
          </a:p>
        </p:txBody>
      </p:sp>
      <p:sp>
        <p:nvSpPr>
          <p:cNvPr id="25" name="Rounded Rectangle 24"/>
          <p:cNvSpPr/>
          <p:nvPr/>
        </p:nvSpPr>
        <p:spPr>
          <a:xfrm>
            <a:off x="685800" y="5394960"/>
            <a:ext cx="1417320" cy="530352"/>
          </a:xfrm>
          <a:prstGeom prst="roundRect">
            <a:avLst/>
          </a:prstGeom>
          <a:solidFill>
            <a:srgbClr val="FFFF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5522976"/>
            <a:ext cx="1417320" cy="182880"/>
          </a:xfrm>
          <a:prstGeom prst="rect">
            <a:avLst/>
          </a:prstGeom>
          <a:noFill/>
          <a:ln>
            <a:solidFill/>
          </a:ln>
        </p:spPr>
        <p:txBody>
          <a:bodyPr wrap="square">
            <a:spAutoFit/>
          </a:bodyPr>
          <a:lstStyle/>
          <a:p>
            <a:pPr algn="ctr"/>
            <a:r>
              <a:rPr sz="1100" b="1">
                <a:solidFill>
                  <a:srgbClr val="2563EB"/>
                </a:solidFill>
              </a:rPr>
              <a:t>Query</a:t>
            </a:r>
          </a:p>
        </p:txBody>
      </p:sp>
      <p:cxnSp>
        <p:nvCxnSpPr>
          <p:cNvPr id="27" name="Connector 26"/>
          <p:cNvCxnSpPr/>
          <p:nvPr/>
        </p:nvCxnSpPr>
        <p:spPr>
          <a:xfrm>
            <a:off x="2103120" y="5660136"/>
            <a:ext cx="411480" cy="0"/>
          </a:xfrm>
          <a:prstGeom prst="line">
            <a:avLst/>
          </a:prstGeom>
          <a:ln w="25400">
            <a:solidFill>
              <a:srgbClr val="475569"/>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2514600" y="5394960"/>
            <a:ext cx="1417320" cy="530352"/>
          </a:xfrm>
          <a:prstGeom prst="roundRect">
            <a:avLst/>
          </a:prstGeom>
          <a:solidFill>
            <a:srgbClr val="FFFF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514600" y="5522976"/>
            <a:ext cx="1417320" cy="182880"/>
          </a:xfrm>
          <a:prstGeom prst="rect">
            <a:avLst/>
          </a:prstGeom>
          <a:noFill/>
          <a:ln>
            <a:solidFill/>
          </a:ln>
        </p:spPr>
        <p:txBody>
          <a:bodyPr wrap="square">
            <a:spAutoFit/>
          </a:bodyPr>
          <a:lstStyle/>
          <a:p>
            <a:pPr algn="ctr"/>
            <a:r>
              <a:rPr sz="1100" b="1">
                <a:solidFill>
                  <a:srgbClr val="2563EB"/>
                </a:solidFill>
              </a:rPr>
              <a:t>Plan</a:t>
            </a:r>
          </a:p>
        </p:txBody>
      </p:sp>
      <p:cxnSp>
        <p:nvCxnSpPr>
          <p:cNvPr id="30" name="Connector 29"/>
          <p:cNvCxnSpPr/>
          <p:nvPr/>
        </p:nvCxnSpPr>
        <p:spPr>
          <a:xfrm>
            <a:off x="3931920" y="5660136"/>
            <a:ext cx="411480" cy="0"/>
          </a:xfrm>
          <a:prstGeom prst="line">
            <a:avLst/>
          </a:prstGeom>
          <a:ln w="25400">
            <a:solidFill>
              <a:srgbClr val="475569"/>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4343400" y="5394960"/>
            <a:ext cx="1417320" cy="530352"/>
          </a:xfrm>
          <a:prstGeom prst="roundRect">
            <a:avLst/>
          </a:prstGeom>
          <a:solidFill>
            <a:srgbClr val="FFFF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343400" y="5522976"/>
            <a:ext cx="1417320" cy="182880"/>
          </a:xfrm>
          <a:prstGeom prst="rect">
            <a:avLst/>
          </a:prstGeom>
          <a:noFill/>
          <a:ln>
            <a:solidFill/>
          </a:ln>
        </p:spPr>
        <p:txBody>
          <a:bodyPr wrap="square">
            <a:spAutoFit/>
          </a:bodyPr>
          <a:lstStyle/>
          <a:p>
            <a:pPr algn="ctr"/>
            <a:r>
              <a:rPr sz="1100" b="1">
                <a:solidFill>
                  <a:srgbClr val="2563EB"/>
                </a:solidFill>
              </a:rPr>
              <a:t>Retrieve</a:t>
            </a:r>
          </a:p>
        </p:txBody>
      </p:sp>
      <p:cxnSp>
        <p:nvCxnSpPr>
          <p:cNvPr id="33" name="Connector 32"/>
          <p:cNvCxnSpPr/>
          <p:nvPr/>
        </p:nvCxnSpPr>
        <p:spPr>
          <a:xfrm>
            <a:off x="5760720" y="5660136"/>
            <a:ext cx="411480" cy="0"/>
          </a:xfrm>
          <a:prstGeom prst="line">
            <a:avLst/>
          </a:prstGeom>
          <a:ln w="25400">
            <a:solidFill>
              <a:srgbClr val="475569"/>
            </a:solidFill>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6172200" y="5394960"/>
            <a:ext cx="1417320" cy="530352"/>
          </a:xfrm>
          <a:prstGeom prst="roundRect">
            <a:avLst/>
          </a:prstGeom>
          <a:solidFill>
            <a:srgbClr val="FFFF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72200" y="5522976"/>
            <a:ext cx="1417320" cy="182880"/>
          </a:xfrm>
          <a:prstGeom prst="rect">
            <a:avLst/>
          </a:prstGeom>
          <a:noFill/>
          <a:ln>
            <a:solidFill/>
          </a:ln>
        </p:spPr>
        <p:txBody>
          <a:bodyPr wrap="square">
            <a:spAutoFit/>
          </a:bodyPr>
          <a:lstStyle/>
          <a:p>
            <a:pPr algn="ctr"/>
            <a:r>
              <a:rPr sz="1100" b="1">
                <a:solidFill>
                  <a:srgbClr val="2563EB"/>
                </a:solidFill>
              </a:rPr>
              <a:t>Validate</a:t>
            </a:r>
          </a:p>
        </p:txBody>
      </p:sp>
      <p:cxnSp>
        <p:nvCxnSpPr>
          <p:cNvPr id="36" name="Connector 35"/>
          <p:cNvCxnSpPr/>
          <p:nvPr/>
        </p:nvCxnSpPr>
        <p:spPr>
          <a:xfrm>
            <a:off x="7589520" y="5660136"/>
            <a:ext cx="411480" cy="0"/>
          </a:xfrm>
          <a:prstGeom prst="line">
            <a:avLst/>
          </a:prstGeom>
          <a:ln w="25400">
            <a:solidFill>
              <a:srgbClr val="475569"/>
            </a:solidFill>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8001000" y="5394960"/>
            <a:ext cx="1417320" cy="530352"/>
          </a:xfrm>
          <a:prstGeom prst="roundRect">
            <a:avLst/>
          </a:prstGeom>
          <a:solidFill>
            <a:srgbClr val="FFFF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01000" y="5522976"/>
            <a:ext cx="1417320" cy="182880"/>
          </a:xfrm>
          <a:prstGeom prst="rect">
            <a:avLst/>
          </a:prstGeom>
          <a:noFill/>
          <a:ln>
            <a:solidFill/>
          </a:ln>
        </p:spPr>
        <p:txBody>
          <a:bodyPr wrap="square">
            <a:spAutoFit/>
          </a:bodyPr>
          <a:lstStyle/>
          <a:p>
            <a:pPr algn="ctr"/>
            <a:r>
              <a:rPr sz="1100" b="1">
                <a:solidFill>
                  <a:srgbClr val="2563EB"/>
                </a:solidFill>
              </a:rPr>
              <a:t>Synthesize</a:t>
            </a:r>
          </a:p>
        </p:txBody>
      </p:sp>
      <p:cxnSp>
        <p:nvCxnSpPr>
          <p:cNvPr id="39" name="Connector 38"/>
          <p:cNvCxnSpPr/>
          <p:nvPr/>
        </p:nvCxnSpPr>
        <p:spPr>
          <a:xfrm>
            <a:off x="9418320" y="5660136"/>
            <a:ext cx="411480" cy="0"/>
          </a:xfrm>
          <a:prstGeom prst="line">
            <a:avLst/>
          </a:prstGeom>
          <a:ln w="25400">
            <a:solidFill>
              <a:srgbClr val="475569"/>
            </a:solidFill>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9829800" y="5394960"/>
            <a:ext cx="1417320" cy="530352"/>
          </a:xfrm>
          <a:prstGeom prst="roundRect">
            <a:avLst/>
          </a:prstGeom>
          <a:solidFill>
            <a:srgbClr val="FFFF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829800" y="5522976"/>
            <a:ext cx="1417320" cy="182880"/>
          </a:xfrm>
          <a:prstGeom prst="rect">
            <a:avLst/>
          </a:prstGeom>
          <a:noFill/>
          <a:ln>
            <a:solidFill/>
          </a:ln>
        </p:spPr>
        <p:txBody>
          <a:bodyPr wrap="square">
            <a:spAutoFit/>
          </a:bodyPr>
          <a:lstStyle/>
          <a:p>
            <a:pPr algn="ctr"/>
            <a:r>
              <a:rPr sz="1100" b="1">
                <a:solidFill>
                  <a:srgbClr val="2563EB"/>
                </a:solidFill>
              </a:rPr>
              <a:t>Report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AF8"/>
        </a:solidFill>
        <a:effectLst/>
      </p:bgPr>
    </p:bg>
    <p:spTree>
      <p:nvGrpSpPr>
        <p:cNvPr id="1" name=""/>
        <p:cNvGrpSpPr/>
        <p:nvPr/>
      </p:nvGrpSpPr>
      <p:grpSpPr/>
      <p:sp>
        <p:nvSpPr>
          <p:cNvPr id="2" name="Rounded Rectangle 1"/>
          <p:cNvSpPr/>
          <p:nvPr/>
        </p:nvSpPr>
        <p:spPr>
          <a:xfrm>
            <a:off x="320040" y="164592"/>
            <a:ext cx="11548872" cy="658368"/>
          </a:xfrm>
          <a:prstGeom prst="roundRect">
            <a:avLst/>
          </a:prstGeom>
          <a:solidFill>
            <a:srgbClr val="C00000"/>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8869680" cy="292608"/>
          </a:xfrm>
          <a:prstGeom prst="rect">
            <a:avLst/>
          </a:prstGeom>
          <a:noFill/>
          <a:ln>
            <a:solidFill/>
          </a:ln>
        </p:spPr>
        <p:txBody>
          <a:bodyPr wrap="square">
            <a:spAutoFit/>
          </a:bodyPr>
          <a:lstStyle/>
          <a:p>
            <a:r>
              <a:t>Implementation — Research Pipeline</a:t>
            </a:r>
          </a:p>
        </p:txBody>
      </p:sp>
      <p:sp>
        <p:nvSpPr>
          <p:cNvPr id="4" name="TextBox 3"/>
          <p:cNvSpPr txBox="1"/>
          <p:nvPr/>
        </p:nvSpPr>
        <p:spPr>
          <a:xfrm>
            <a:off x="8595360" y="292608"/>
            <a:ext cx="2926080" cy="228600"/>
          </a:xfrm>
          <a:prstGeom prst="rect">
            <a:avLst/>
          </a:prstGeom>
          <a:noFill/>
          <a:ln>
            <a:solidFill/>
          </a:ln>
        </p:spPr>
        <p:txBody>
          <a:bodyPr wrap="square">
            <a:spAutoFit/>
          </a:bodyPr>
          <a:lstStyle/>
          <a:p>
            <a:r>
              <a:rPr>
                <a:solidFill>
                  <a:srgbClr val="232323"/>
                </a:solidFill>
              </a:rPr>
              <a:t>AI Multi-Agent Research Assistant  |  Applied Machine Learning for Text Analysis</a:t>
            </a:r>
          </a:p>
        </p:txBody>
      </p:sp>
      <p:sp>
        <p:nvSpPr>
          <p:cNvPr id="5" name="TextBox 4"/>
          <p:cNvSpPr txBox="1"/>
          <p:nvPr/>
        </p:nvSpPr>
        <p:spPr>
          <a:xfrm>
            <a:off x="411480" y="6528816"/>
            <a:ext cx="11064240" cy="164592"/>
          </a:xfrm>
          <a:prstGeom prst="rect">
            <a:avLst/>
          </a:prstGeom>
          <a:noFill/>
          <a:ln>
            <a:solidFill/>
          </a:ln>
        </p:spPr>
        <p:txBody>
          <a:bodyPr wrap="square">
            <a:spAutoFit/>
          </a:bodyPr>
          <a:lstStyle/>
          <a:p>
            <a:pPr algn="r"/>
            <a:r>
              <a:rPr sz="850" b="0">
                <a:solidFill>
                  <a:srgbClr val="475569"/>
                </a:solidFill>
              </a:rPr>
              <a:t>Review-2 | 17</a:t>
            </a:r>
          </a:p>
        </p:txBody>
      </p:sp>
      <p:sp>
        <p:nvSpPr>
          <p:cNvPr id="6" name="Rounded Rectangle 5"/>
          <p:cNvSpPr/>
          <p:nvPr/>
        </p:nvSpPr>
        <p:spPr>
          <a:xfrm>
            <a:off x="548640" y="1143000"/>
            <a:ext cx="6583680" cy="4617720"/>
          </a:xfrm>
          <a:prstGeom prst="roundRect">
            <a:avLst/>
          </a:prstGeom>
          <a:solidFill>
            <a:srgbClr val="232323"/>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417320"/>
            <a:ext cx="6080760" cy="4023360"/>
          </a:xfrm>
          <a:prstGeom prst="rect">
            <a:avLst/>
          </a:prstGeom>
          <a:noFill/>
          <a:ln>
            <a:solidFill/>
          </a:ln>
        </p:spPr>
        <p:txBody>
          <a:bodyPr wrap="square">
            <a:spAutoFit/>
          </a:bodyPr>
          <a:lstStyle/>
          <a:p>
            <a:r>
              <a:t># Current execution flow</a:t>
            </a:r>
          </a:p>
          <a:p>
            <a:r>
              <a:t>plan = create_research_plan(query)</a:t>
            </a:r>
          </a:p>
          <a:p>
            <a:r>
              <a:t>for task in tasks[:3]:</a:t>
            </a:r>
          </a:p>
          <a:p>
            <a:r>
              <a:t>    queries = generate_search_queries(task)[:2]</a:t>
            </a:r>
          </a:p>
          <a:p>
            <a:r>
              <a:t>    sources = research_task(task, queries)</a:t>
            </a:r>
          </a:p>
          <a:p>
            <a:r>
              <a:t>    validation = validate_research(task, sources)</a:t>
            </a:r>
          </a:p>
          <a:p>
            <a:r>
              <a:t>filtered = filter_sources(all_sources)</a:t>
            </a:r>
          </a:p>
          <a:p>
            <a:r>
              <a:t>rag_results = hybrid_search(query, filtered)</a:t>
            </a:r>
          </a:p>
          <a:p>
            <a:r>
              <a:t>answer = synthesize_answer(query, validated_results)</a:t>
            </a:r>
          </a:p>
          <a:p>
            <a:r>
              <a:t>report = generate_report(query, answer, validated_results)</a:t>
            </a:r>
          </a:p>
        </p:txBody>
      </p:sp>
      <p:sp>
        <p:nvSpPr>
          <p:cNvPr id="8" name="Rounded Rectangle 7"/>
          <p:cNvSpPr/>
          <p:nvPr/>
        </p:nvSpPr>
        <p:spPr>
          <a:xfrm>
            <a:off x="7406640" y="1143000"/>
            <a:ext cx="3977639" cy="1920240"/>
          </a:xfrm>
          <a:prstGeom prst="roundRect">
            <a:avLst/>
          </a:prstGeom>
          <a:solidFill>
            <a:srgbClr val="FFFFFF"/>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34656" y="1234440"/>
            <a:ext cx="3721607" cy="256032"/>
          </a:xfrm>
          <a:prstGeom prst="rect">
            <a:avLst/>
          </a:prstGeom>
          <a:noFill/>
          <a:ln>
            <a:solidFill/>
          </a:ln>
        </p:spPr>
        <p:txBody>
          <a:bodyPr wrap="square">
            <a:spAutoFit/>
          </a:bodyPr>
          <a:lstStyle/>
          <a:p>
            <a:r>
              <a:t>Implemented stack</a:t>
            </a:r>
          </a:p>
          <a:p>
            <a:r>
              <a:t>Python + LangChain</a:t>
            </a:r>
          </a:p>
          <a:p>
            <a:r>
              <a:t>Llama 3.1 8B via Ollama</a:t>
            </a:r>
          </a:p>
          <a:p>
            <a:r>
              <a:t>Tavily web search + FAISS/hybrid retrieval</a:t>
            </a:r>
          </a:p>
          <a:p>
            <a:r>
              <a:t>FastAPI + ReportLab</a:t>
            </a:r>
          </a:p>
        </p:txBody>
      </p:sp>
      <p:sp>
        <p:nvSpPr>
          <p:cNvPr id="10" name="TextBox 9"/>
          <p:cNvSpPr txBox="1"/>
          <p:nvPr/>
        </p:nvSpPr>
        <p:spPr>
          <a:xfrm>
            <a:off x="7534656" y="1536192"/>
            <a:ext cx="3721607" cy="1444752"/>
          </a:xfrm>
          <a:prstGeom prst="rect">
            <a:avLst/>
          </a:prstGeom>
          <a:noFill/>
          <a:ln>
            <a:solidFill/>
          </a:ln>
        </p:spPr>
        <p:txBody>
          <a:bodyPr wrap="square">
            <a:spAutoFit/>
          </a:bodyPr>
          <a:lstStyle/>
          <a:p>
            <a:pPr algn="l"/>
            <a:r>
              <a:rPr sz="1150" b="0">
                <a:solidFill>
                  <a:srgbClr val="232323"/>
                </a:solidFill>
              </a:rPr>
              <a:t>Python + scikit-learn
TF-IDF semantic proxy + lexical keyword score
Planner → retrieval → validation flow</a:t>
            </a:r>
          </a:p>
        </p:txBody>
      </p:sp>
      <p:sp>
        <p:nvSpPr>
          <p:cNvPr id="11" name="Rounded Rectangle 10"/>
          <p:cNvSpPr/>
          <p:nvPr/>
        </p:nvSpPr>
        <p:spPr>
          <a:xfrm>
            <a:off x="7406640" y="3337560"/>
            <a:ext cx="3977639" cy="2331720"/>
          </a:xfrm>
          <a:prstGeom prst="round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34656" y="3429000"/>
            <a:ext cx="3721607" cy="256032"/>
          </a:xfrm>
          <a:prstGeom prst="rect">
            <a:avLst/>
          </a:prstGeom>
          <a:noFill/>
          <a:ln>
            <a:solidFill/>
          </a:ln>
        </p:spPr>
        <p:txBody>
          <a:bodyPr wrap="square">
            <a:spAutoFit/>
          </a:bodyPr>
          <a:lstStyle/>
          <a:p>
            <a:r>
              <a:t>Evaluation note</a:t>
            </a:r>
          </a:p>
        </p:txBody>
      </p:sp>
      <p:sp>
        <p:nvSpPr>
          <p:cNvPr id="13" name="TextBox 12"/>
          <p:cNvSpPr txBox="1"/>
          <p:nvPr/>
        </p:nvSpPr>
        <p:spPr>
          <a:xfrm>
            <a:off x="7534656" y="3730752"/>
            <a:ext cx="3721607" cy="1856231"/>
          </a:xfrm>
          <a:prstGeom prst="rect">
            <a:avLst/>
          </a:prstGeom>
          <a:noFill/>
          <a:ln>
            <a:solidFill/>
          </a:ln>
        </p:spPr>
        <p:txBody>
          <a:bodyPr wrap="square">
            <a:spAutoFit/>
          </a:bodyPr>
          <a:lstStyle/>
          <a:p>
            <a:r>
              <a:t>The application has run end-to-end locally. Formal benchmark accuracy, precision, recall, F1, latency and cost have not yet been measured on a representative test set.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AF8"/>
        </a:solidFill>
        <a:effectLst/>
      </p:bgPr>
    </p:bg>
    <p:spTree>
      <p:nvGrpSpPr>
        <p:cNvPr id="1" name=""/>
        <p:cNvGrpSpPr/>
        <p:nvPr/>
      </p:nvGrpSpPr>
      <p:grpSpPr/>
      <p:sp>
        <p:nvSpPr>
          <p:cNvPr id="2" name="Rounded Rectangle 1"/>
          <p:cNvSpPr/>
          <p:nvPr/>
        </p:nvSpPr>
        <p:spPr>
          <a:xfrm>
            <a:off x="320040" y="164592"/>
            <a:ext cx="11548872" cy="658368"/>
          </a:xfrm>
          <a:prstGeom prst="roundRect">
            <a:avLst/>
          </a:prstGeom>
          <a:solidFill>
            <a:srgbClr val="C00000"/>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8869680" cy="292608"/>
          </a:xfrm>
          <a:prstGeom prst="rect">
            <a:avLst/>
          </a:prstGeom>
          <a:noFill/>
          <a:ln>
            <a:solidFill/>
          </a:ln>
        </p:spPr>
        <p:txBody>
          <a:bodyPr wrap="square">
            <a:spAutoFit/>
          </a:bodyPr>
          <a:lstStyle/>
          <a:p>
            <a:r>
              <a:t>Results &amp; Performance Evaluation</a:t>
            </a:r>
          </a:p>
        </p:txBody>
      </p:sp>
      <p:sp>
        <p:nvSpPr>
          <p:cNvPr id="4" name="TextBox 3"/>
          <p:cNvSpPr txBox="1"/>
          <p:nvPr/>
        </p:nvSpPr>
        <p:spPr>
          <a:xfrm>
            <a:off x="8595360" y="292608"/>
            <a:ext cx="2926080" cy="228600"/>
          </a:xfrm>
          <a:prstGeom prst="rect">
            <a:avLst/>
          </a:prstGeom>
          <a:noFill/>
          <a:ln>
            <a:solidFill/>
          </a:ln>
        </p:spPr>
        <p:txBody>
          <a:bodyPr wrap="square">
            <a:spAutoFit/>
          </a:bodyPr>
          <a:lstStyle/>
          <a:p>
            <a:r>
              <a:rPr>
                <a:solidFill>
                  <a:srgbClr val="232323"/>
                </a:solidFill>
              </a:rPr>
              <a:t>AI Multi-Agent Research Assistant  |  Applied Machine Learning for Text Analysis</a:t>
            </a:r>
          </a:p>
        </p:txBody>
      </p:sp>
      <p:sp>
        <p:nvSpPr>
          <p:cNvPr id="5" name="TextBox 4"/>
          <p:cNvSpPr txBox="1"/>
          <p:nvPr/>
        </p:nvSpPr>
        <p:spPr>
          <a:xfrm>
            <a:off x="411480" y="6528816"/>
            <a:ext cx="11064240" cy="164592"/>
          </a:xfrm>
          <a:prstGeom prst="rect">
            <a:avLst/>
          </a:prstGeom>
          <a:noFill/>
          <a:ln>
            <a:solidFill/>
          </a:ln>
        </p:spPr>
        <p:txBody>
          <a:bodyPr wrap="square">
            <a:spAutoFit/>
          </a:bodyPr>
          <a:lstStyle/>
          <a:p>
            <a:pPr algn="r"/>
            <a:r>
              <a:rPr sz="850" b="0">
                <a:solidFill>
                  <a:srgbClr val="475569"/>
                </a:solidFill>
              </a:rPr>
              <a:t>Review-2 | 18</a:t>
            </a:r>
          </a:p>
        </p:txBody>
      </p:sp>
      <p:sp>
        <p:nvSpPr>
          <p:cNvPr id="6" name="Rounded Rectangle 5"/>
          <p:cNvSpPr/>
          <p:nvPr/>
        </p:nvSpPr>
        <p:spPr>
          <a:xfrm>
            <a:off x="548640" y="1188720"/>
            <a:ext cx="3383280" cy="1143000"/>
          </a:xfrm>
          <a:prstGeom prst="roundRect">
            <a:avLst/>
          </a:prstGeom>
          <a:solidFill>
            <a:srgbClr val="FFFF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298448"/>
            <a:ext cx="3154680" cy="201168"/>
          </a:xfrm>
          <a:prstGeom prst="rect">
            <a:avLst/>
          </a:prstGeom>
          <a:noFill/>
          <a:ln>
            <a:solidFill/>
          </a:ln>
        </p:spPr>
        <p:txBody>
          <a:bodyPr wrap="square">
            <a:spAutoFit/>
          </a:bodyPr>
          <a:lstStyle/>
          <a:p>
            <a:r>
              <a:t>Web interface</a:t>
            </a:r>
          </a:p>
        </p:txBody>
      </p:sp>
      <p:sp>
        <p:nvSpPr>
          <p:cNvPr id="8" name="TextBox 7"/>
          <p:cNvSpPr txBox="1"/>
          <p:nvPr/>
        </p:nvSpPr>
        <p:spPr>
          <a:xfrm>
            <a:off x="658368" y="1572768"/>
            <a:ext cx="3154680" cy="320040"/>
          </a:xfrm>
          <a:prstGeom prst="rect">
            <a:avLst/>
          </a:prstGeom>
          <a:noFill/>
          <a:ln>
            <a:solidFill/>
          </a:ln>
        </p:spPr>
        <p:txBody>
          <a:bodyPr wrap="square">
            <a:spAutoFit/>
          </a:bodyPr>
          <a:lstStyle/>
          <a:p>
            <a:r>
              <a:t>Pass</a:t>
            </a:r>
          </a:p>
        </p:txBody>
      </p:sp>
      <p:sp>
        <p:nvSpPr>
          <p:cNvPr id="9" name="TextBox 8"/>
          <p:cNvSpPr txBox="1"/>
          <p:nvPr/>
        </p:nvSpPr>
        <p:spPr>
          <a:xfrm>
            <a:off x="658368" y="2011680"/>
            <a:ext cx="3154680" cy="164592"/>
          </a:xfrm>
          <a:prstGeom prst="rect">
            <a:avLst/>
          </a:prstGeom>
          <a:noFill/>
          <a:ln>
            <a:solidFill/>
          </a:ln>
        </p:spPr>
        <p:txBody>
          <a:bodyPr wrap="square">
            <a:spAutoFit/>
          </a:bodyPr>
          <a:lstStyle/>
          <a:p>
            <a:r>
              <a:t>FastAPI homepage</a:t>
            </a:r>
          </a:p>
        </p:txBody>
      </p:sp>
      <p:sp>
        <p:nvSpPr>
          <p:cNvPr id="10" name="Rounded Rectangle 9"/>
          <p:cNvSpPr/>
          <p:nvPr/>
        </p:nvSpPr>
        <p:spPr>
          <a:xfrm>
            <a:off x="4343400" y="1188720"/>
            <a:ext cx="3383280" cy="1143000"/>
          </a:xfrm>
          <a:prstGeom prst="roundRect">
            <a:avLst/>
          </a:prstGeom>
          <a:solidFill>
            <a:srgbClr val="FFFFFF"/>
          </a:solidFill>
          <a:ln>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53128" y="1298448"/>
            <a:ext cx="3154680" cy="201168"/>
          </a:xfrm>
          <a:prstGeom prst="rect">
            <a:avLst/>
          </a:prstGeom>
          <a:noFill/>
          <a:ln>
            <a:solidFill/>
          </a:ln>
        </p:spPr>
        <p:txBody>
          <a:bodyPr wrap="square">
            <a:spAutoFit/>
          </a:bodyPr>
          <a:lstStyle/>
          <a:p>
            <a:r>
              <a:t>Research endpoint</a:t>
            </a:r>
          </a:p>
        </p:txBody>
      </p:sp>
      <p:sp>
        <p:nvSpPr>
          <p:cNvPr id="12" name="TextBox 11"/>
          <p:cNvSpPr txBox="1"/>
          <p:nvPr/>
        </p:nvSpPr>
        <p:spPr>
          <a:xfrm>
            <a:off x="4453128" y="1572768"/>
            <a:ext cx="3154680" cy="320040"/>
          </a:xfrm>
          <a:prstGeom prst="rect">
            <a:avLst/>
          </a:prstGeom>
          <a:noFill/>
          <a:ln>
            <a:solidFill/>
          </a:ln>
        </p:spPr>
        <p:txBody>
          <a:bodyPr wrap="square">
            <a:spAutoFit/>
          </a:bodyPr>
          <a:lstStyle/>
          <a:p>
            <a:r>
              <a:t>Pass</a:t>
            </a:r>
          </a:p>
        </p:txBody>
      </p:sp>
      <p:sp>
        <p:nvSpPr>
          <p:cNvPr id="13" name="TextBox 12"/>
          <p:cNvSpPr txBox="1"/>
          <p:nvPr/>
        </p:nvSpPr>
        <p:spPr>
          <a:xfrm>
            <a:off x="4453128" y="2011680"/>
            <a:ext cx="3154680" cy="164592"/>
          </a:xfrm>
          <a:prstGeom prst="rect">
            <a:avLst/>
          </a:prstGeom>
          <a:noFill/>
          <a:ln>
            <a:solidFill/>
          </a:ln>
        </p:spPr>
        <p:txBody>
          <a:bodyPr wrap="square">
            <a:spAutoFit/>
          </a:bodyPr>
          <a:lstStyle/>
          <a:p>
            <a:r>
              <a:t>POST /research</a:t>
            </a:r>
          </a:p>
        </p:txBody>
      </p:sp>
      <p:sp>
        <p:nvSpPr>
          <p:cNvPr id="14" name="Rounded Rectangle 13"/>
          <p:cNvSpPr/>
          <p:nvPr/>
        </p:nvSpPr>
        <p:spPr>
          <a:xfrm>
            <a:off x="8138160" y="1188720"/>
            <a:ext cx="3383280" cy="1143000"/>
          </a:xfrm>
          <a:prstGeom prst="roundRect">
            <a:avLst/>
          </a:prstGeom>
          <a:solidFill>
            <a:srgbClr val="FFFFFF"/>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47888" y="1298448"/>
            <a:ext cx="3154680" cy="201168"/>
          </a:xfrm>
          <a:prstGeom prst="rect">
            <a:avLst/>
          </a:prstGeom>
          <a:noFill/>
          <a:ln>
            <a:solidFill/>
          </a:ln>
        </p:spPr>
        <p:txBody>
          <a:bodyPr wrap="square">
            <a:spAutoFit/>
          </a:bodyPr>
          <a:lstStyle/>
          <a:p>
            <a:r>
              <a:t>Web retrieval</a:t>
            </a:r>
          </a:p>
        </p:txBody>
      </p:sp>
      <p:sp>
        <p:nvSpPr>
          <p:cNvPr id="16" name="TextBox 15"/>
          <p:cNvSpPr txBox="1"/>
          <p:nvPr/>
        </p:nvSpPr>
        <p:spPr>
          <a:xfrm>
            <a:off x="8247888" y="1572768"/>
            <a:ext cx="3154680" cy="320040"/>
          </a:xfrm>
          <a:prstGeom prst="rect">
            <a:avLst/>
          </a:prstGeom>
          <a:noFill/>
          <a:ln>
            <a:solidFill/>
          </a:ln>
        </p:spPr>
        <p:txBody>
          <a:bodyPr wrap="square">
            <a:spAutoFit/>
          </a:bodyPr>
          <a:lstStyle/>
          <a:p>
            <a:r>
              <a:t>Pass</a:t>
            </a:r>
          </a:p>
        </p:txBody>
      </p:sp>
      <p:sp>
        <p:nvSpPr>
          <p:cNvPr id="17" name="TextBox 16"/>
          <p:cNvSpPr txBox="1"/>
          <p:nvPr/>
        </p:nvSpPr>
        <p:spPr>
          <a:xfrm>
            <a:off x="8247888" y="2011680"/>
            <a:ext cx="3154680" cy="164592"/>
          </a:xfrm>
          <a:prstGeom prst="rect">
            <a:avLst/>
          </a:prstGeom>
          <a:noFill/>
          <a:ln>
            <a:solidFill/>
          </a:ln>
        </p:spPr>
        <p:txBody>
          <a:bodyPr wrap="square">
            <a:spAutoFit/>
          </a:bodyPr>
          <a:lstStyle/>
          <a:p>
            <a:r>
              <a:t>Tavily sources collected</a:t>
            </a:r>
          </a:p>
        </p:txBody>
      </p:sp>
      <p:sp>
        <p:nvSpPr>
          <p:cNvPr id="18" name="Rounded Rectangle 17"/>
          <p:cNvSpPr/>
          <p:nvPr/>
        </p:nvSpPr>
        <p:spPr>
          <a:xfrm>
            <a:off x="548640" y="2697480"/>
            <a:ext cx="3383280" cy="1143000"/>
          </a:xfrm>
          <a:prstGeom prst="roundRect">
            <a:avLst/>
          </a:prstGeom>
          <a:solidFill>
            <a:srgbClr val="FFFFFF"/>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2807208"/>
            <a:ext cx="3154680" cy="201168"/>
          </a:xfrm>
          <a:prstGeom prst="rect">
            <a:avLst/>
          </a:prstGeom>
          <a:noFill/>
          <a:ln>
            <a:solidFill/>
          </a:ln>
        </p:spPr>
        <p:txBody>
          <a:bodyPr wrap="square">
            <a:spAutoFit/>
          </a:bodyPr>
          <a:lstStyle/>
          <a:p>
            <a:r>
              <a:t>Evidence validation</a:t>
            </a:r>
          </a:p>
        </p:txBody>
      </p:sp>
      <p:sp>
        <p:nvSpPr>
          <p:cNvPr id="20" name="TextBox 19"/>
          <p:cNvSpPr txBox="1"/>
          <p:nvPr/>
        </p:nvSpPr>
        <p:spPr>
          <a:xfrm>
            <a:off x="658368" y="3081528"/>
            <a:ext cx="3154680" cy="320040"/>
          </a:xfrm>
          <a:prstGeom prst="rect">
            <a:avLst/>
          </a:prstGeom>
          <a:noFill/>
          <a:ln>
            <a:solidFill/>
          </a:ln>
        </p:spPr>
        <p:txBody>
          <a:bodyPr wrap="square">
            <a:spAutoFit/>
          </a:bodyPr>
          <a:lstStyle/>
          <a:p>
            <a:r>
              <a:t>Pass</a:t>
            </a:r>
          </a:p>
        </p:txBody>
      </p:sp>
      <p:sp>
        <p:nvSpPr>
          <p:cNvPr id="21" name="TextBox 20"/>
          <p:cNvSpPr txBox="1"/>
          <p:nvPr/>
        </p:nvSpPr>
        <p:spPr>
          <a:xfrm>
            <a:off x="658368" y="3520440"/>
            <a:ext cx="3154680" cy="164592"/>
          </a:xfrm>
          <a:prstGeom prst="rect">
            <a:avLst/>
          </a:prstGeom>
          <a:noFill/>
          <a:ln>
            <a:solidFill/>
          </a:ln>
        </p:spPr>
        <p:txBody>
          <a:bodyPr wrap="square">
            <a:spAutoFit/>
          </a:bodyPr>
          <a:lstStyle/>
          <a:p>
            <a:r>
              <a:t>Supported / partial / unsupported</a:t>
            </a:r>
          </a:p>
        </p:txBody>
      </p:sp>
      <p:sp>
        <p:nvSpPr>
          <p:cNvPr id="22" name="Rounded Rectangle 21"/>
          <p:cNvSpPr/>
          <p:nvPr/>
        </p:nvSpPr>
        <p:spPr>
          <a:xfrm>
            <a:off x="4343400" y="2697480"/>
            <a:ext cx="3383280" cy="1143000"/>
          </a:xfrm>
          <a:prstGeom prst="roundRect">
            <a:avLst/>
          </a:prstGeom>
          <a:solidFill>
            <a:srgbClr val="FFFFFF"/>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53128" y="2807208"/>
            <a:ext cx="3154680" cy="201168"/>
          </a:xfrm>
          <a:prstGeom prst="rect">
            <a:avLst/>
          </a:prstGeom>
          <a:noFill/>
          <a:ln>
            <a:solidFill/>
          </a:ln>
        </p:spPr>
        <p:txBody>
          <a:bodyPr wrap="square">
            <a:spAutoFit/>
          </a:bodyPr>
          <a:lstStyle/>
          <a:p>
            <a:r>
              <a:t>PDF reporting</a:t>
            </a:r>
          </a:p>
        </p:txBody>
      </p:sp>
      <p:sp>
        <p:nvSpPr>
          <p:cNvPr id="24" name="TextBox 23"/>
          <p:cNvSpPr txBox="1"/>
          <p:nvPr/>
        </p:nvSpPr>
        <p:spPr>
          <a:xfrm>
            <a:off x="4453128" y="3081528"/>
            <a:ext cx="3154680" cy="320040"/>
          </a:xfrm>
          <a:prstGeom prst="rect">
            <a:avLst/>
          </a:prstGeom>
          <a:noFill/>
          <a:ln>
            <a:solidFill/>
          </a:ln>
        </p:spPr>
        <p:txBody>
          <a:bodyPr wrap="square">
            <a:spAutoFit/>
          </a:bodyPr>
          <a:lstStyle/>
          <a:p>
            <a:r>
              <a:t>Pass</a:t>
            </a:r>
          </a:p>
        </p:txBody>
      </p:sp>
      <p:sp>
        <p:nvSpPr>
          <p:cNvPr id="25" name="TextBox 24"/>
          <p:cNvSpPr txBox="1"/>
          <p:nvPr/>
        </p:nvSpPr>
        <p:spPr>
          <a:xfrm>
            <a:off x="4453128" y="3520440"/>
            <a:ext cx="3154680" cy="164592"/>
          </a:xfrm>
          <a:prstGeom prst="rect">
            <a:avLst/>
          </a:prstGeom>
          <a:noFill/>
          <a:ln>
            <a:solidFill/>
          </a:ln>
        </p:spPr>
        <p:txBody>
          <a:bodyPr wrap="square">
            <a:spAutoFit/>
          </a:bodyPr>
          <a:lstStyle/>
          <a:p>
            <a:r>
              <a:t>ReportLab output</a:t>
            </a:r>
          </a:p>
        </p:txBody>
      </p:sp>
      <p:sp>
        <p:nvSpPr>
          <p:cNvPr id="26" name="TextBox 25"/>
          <p:cNvSpPr txBox="1"/>
          <p:nvPr/>
        </p:nvSpPr>
        <p:spPr>
          <a:xfrm>
            <a:off x="594360" y="4315968"/>
            <a:ext cx="2743200" cy="274320"/>
          </a:xfrm>
          <a:prstGeom prst="rect">
            <a:avLst/>
          </a:prstGeom>
          <a:noFill/>
          <a:ln>
            <a:solidFill/>
          </a:ln>
        </p:spPr>
        <p:txBody>
          <a:bodyPr wrap="square">
            <a:spAutoFit/>
          </a:bodyPr>
          <a:lstStyle/>
          <a:p>
            <a:r>
              <a:t>Functional test evidence</a:t>
            </a:r>
          </a:p>
        </p:txBody>
      </p:sp>
      <p:sp>
        <p:nvSpPr>
          <p:cNvPr id="27" name="Rectangle 26"/>
          <p:cNvSpPr/>
          <p:nvPr/>
        </p:nvSpPr>
        <p:spPr>
          <a:xfrm>
            <a:off x="594360" y="4681728"/>
            <a:ext cx="640080" cy="292608"/>
          </a:xfrm>
          <a:prstGeom prst="rect">
            <a:avLst/>
          </a:prstGeom>
          <a:solidFill>
            <a:srgbClr val="C00000"/>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4360" y="4727448"/>
            <a:ext cx="640080" cy="164592"/>
          </a:xfrm>
          <a:prstGeom prst="rect">
            <a:avLst/>
          </a:prstGeom>
          <a:noFill/>
          <a:ln>
            <a:solidFill/>
          </a:ln>
        </p:spPr>
        <p:txBody>
          <a:bodyPr wrap="square">
            <a:spAutoFit/>
          </a:bodyPr>
          <a:lstStyle/>
          <a:p>
            <a:r>
              <a:t>Check</a:t>
            </a:r>
          </a:p>
        </p:txBody>
      </p:sp>
      <p:sp>
        <p:nvSpPr>
          <p:cNvPr id="29" name="Rectangle 28"/>
          <p:cNvSpPr/>
          <p:nvPr/>
        </p:nvSpPr>
        <p:spPr>
          <a:xfrm>
            <a:off x="1234440" y="4681728"/>
            <a:ext cx="6492240" cy="292608"/>
          </a:xfrm>
          <a:prstGeom prst="rect">
            <a:avLst/>
          </a:prstGeom>
          <a:solidFill>
            <a:srgbClr val="C00000"/>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234440" y="4727448"/>
            <a:ext cx="6492240" cy="164592"/>
          </a:xfrm>
          <a:prstGeom prst="rect">
            <a:avLst/>
          </a:prstGeom>
          <a:noFill/>
          <a:ln>
            <a:solidFill/>
          </a:ln>
        </p:spPr>
        <p:txBody>
          <a:bodyPr wrap="square">
            <a:spAutoFit/>
          </a:bodyPr>
          <a:lstStyle/>
          <a:p>
            <a:r>
              <a:t>Expected behavior</a:t>
            </a:r>
          </a:p>
        </p:txBody>
      </p:sp>
      <p:sp>
        <p:nvSpPr>
          <p:cNvPr id="31" name="Rectangle 30"/>
          <p:cNvSpPr/>
          <p:nvPr/>
        </p:nvSpPr>
        <p:spPr>
          <a:xfrm>
            <a:off x="7726679" y="4681728"/>
            <a:ext cx="1325880" cy="292608"/>
          </a:xfrm>
          <a:prstGeom prst="rect">
            <a:avLst/>
          </a:prstGeom>
          <a:solidFill>
            <a:srgbClr val="C00000"/>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26679" y="4727448"/>
            <a:ext cx="1325880" cy="164592"/>
          </a:xfrm>
          <a:prstGeom prst="rect">
            <a:avLst/>
          </a:prstGeom>
          <a:noFill/>
          <a:ln>
            <a:solidFill/>
          </a:ln>
        </p:spPr>
        <p:txBody>
          <a:bodyPr wrap="square">
            <a:spAutoFit/>
          </a:bodyPr>
          <a:lstStyle/>
          <a:p>
            <a:r>
              <a:t>Status</a:t>
            </a:r>
          </a:p>
        </p:txBody>
      </p:sp>
      <p:sp>
        <p:nvSpPr>
          <p:cNvPr id="33" name="Rectangle 32"/>
          <p:cNvSpPr/>
          <p:nvPr/>
        </p:nvSpPr>
        <p:spPr>
          <a:xfrm>
            <a:off x="594360" y="4974336"/>
            <a:ext cx="640080" cy="265176"/>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1792" y="5015484"/>
            <a:ext cx="585215" cy="164592"/>
          </a:xfrm>
          <a:prstGeom prst="rect">
            <a:avLst/>
          </a:prstGeom>
          <a:noFill/>
          <a:ln>
            <a:solidFill/>
          </a:ln>
        </p:spPr>
        <p:txBody>
          <a:bodyPr wrap="square">
            <a:spAutoFit/>
          </a:bodyPr>
          <a:lstStyle/>
          <a:p>
            <a:r>
              <a:t>1</a:t>
            </a:r>
          </a:p>
        </p:txBody>
      </p:sp>
      <p:sp>
        <p:nvSpPr>
          <p:cNvPr id="35" name="Rectangle 34"/>
          <p:cNvSpPr/>
          <p:nvPr/>
        </p:nvSpPr>
        <p:spPr>
          <a:xfrm>
            <a:off x="1234440" y="4974336"/>
            <a:ext cx="6492240" cy="265176"/>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261872" y="5015484"/>
            <a:ext cx="6437376" cy="164592"/>
          </a:xfrm>
          <a:prstGeom prst="rect">
            <a:avLst/>
          </a:prstGeom>
          <a:noFill/>
          <a:ln>
            <a:solidFill/>
          </a:ln>
        </p:spPr>
        <p:txBody>
          <a:bodyPr wrap="square">
            <a:spAutoFit/>
          </a:bodyPr>
          <a:lstStyle/>
          <a:p>
            <a:r>
              <a:t>Homepage loads</a:t>
            </a:r>
          </a:p>
        </p:txBody>
      </p:sp>
      <p:sp>
        <p:nvSpPr>
          <p:cNvPr id="37" name="Rectangle 36"/>
          <p:cNvSpPr/>
          <p:nvPr/>
        </p:nvSpPr>
        <p:spPr>
          <a:xfrm>
            <a:off x="7726679" y="4974336"/>
            <a:ext cx="1325880" cy="265176"/>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54111" y="5015484"/>
            <a:ext cx="1271016" cy="164592"/>
          </a:xfrm>
          <a:prstGeom prst="rect">
            <a:avLst/>
          </a:prstGeom>
          <a:noFill/>
          <a:ln>
            <a:solidFill/>
          </a:ln>
        </p:spPr>
        <p:txBody>
          <a:bodyPr wrap="square">
            <a:spAutoFit/>
          </a:bodyPr>
          <a:lstStyle/>
          <a:p>
            <a:r>
              <a:t>Passed</a:t>
            </a:r>
          </a:p>
        </p:txBody>
      </p:sp>
      <p:sp>
        <p:nvSpPr>
          <p:cNvPr id="39" name="Rectangle 38"/>
          <p:cNvSpPr/>
          <p:nvPr/>
        </p:nvSpPr>
        <p:spPr>
          <a:xfrm>
            <a:off x="594360" y="5239512"/>
            <a:ext cx="640080" cy="265176"/>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1792" y="5280660"/>
            <a:ext cx="585215" cy="164592"/>
          </a:xfrm>
          <a:prstGeom prst="rect">
            <a:avLst/>
          </a:prstGeom>
          <a:noFill/>
          <a:ln>
            <a:solidFill/>
          </a:ln>
        </p:spPr>
        <p:txBody>
          <a:bodyPr wrap="square">
            <a:spAutoFit/>
          </a:bodyPr>
          <a:lstStyle/>
          <a:p>
            <a:r>
              <a:t>2</a:t>
            </a:r>
          </a:p>
        </p:txBody>
      </p:sp>
      <p:sp>
        <p:nvSpPr>
          <p:cNvPr id="41" name="Rectangle 40"/>
          <p:cNvSpPr/>
          <p:nvPr/>
        </p:nvSpPr>
        <p:spPr>
          <a:xfrm>
            <a:off x="1234440" y="5239512"/>
            <a:ext cx="6492240" cy="265176"/>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261872" y="5280660"/>
            <a:ext cx="6437376" cy="164592"/>
          </a:xfrm>
          <a:prstGeom prst="rect">
            <a:avLst/>
          </a:prstGeom>
          <a:noFill/>
          <a:ln>
            <a:solidFill/>
          </a:ln>
        </p:spPr>
        <p:txBody>
          <a:bodyPr wrap="square">
            <a:spAutoFit/>
          </a:bodyPr>
          <a:lstStyle/>
          <a:p>
            <a:r>
              <a:t>Research request executes</a:t>
            </a:r>
          </a:p>
        </p:txBody>
      </p:sp>
      <p:sp>
        <p:nvSpPr>
          <p:cNvPr id="43" name="Rectangle 42"/>
          <p:cNvSpPr/>
          <p:nvPr/>
        </p:nvSpPr>
        <p:spPr>
          <a:xfrm>
            <a:off x="7726679" y="5239512"/>
            <a:ext cx="1325880" cy="265176"/>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754111" y="5280660"/>
            <a:ext cx="1271016" cy="164592"/>
          </a:xfrm>
          <a:prstGeom prst="rect">
            <a:avLst/>
          </a:prstGeom>
          <a:noFill/>
          <a:ln>
            <a:solidFill/>
          </a:ln>
        </p:spPr>
        <p:txBody>
          <a:bodyPr wrap="square">
            <a:spAutoFit/>
          </a:bodyPr>
          <a:lstStyle/>
          <a:p>
            <a:r>
              <a:t>Passed</a:t>
            </a:r>
          </a:p>
        </p:txBody>
      </p:sp>
      <p:sp>
        <p:nvSpPr>
          <p:cNvPr id="45" name="Rectangle 44"/>
          <p:cNvSpPr/>
          <p:nvPr/>
        </p:nvSpPr>
        <p:spPr>
          <a:xfrm>
            <a:off x="594360" y="5504688"/>
            <a:ext cx="640080" cy="265176"/>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21792" y="5545836"/>
            <a:ext cx="585215" cy="164592"/>
          </a:xfrm>
          <a:prstGeom prst="rect">
            <a:avLst/>
          </a:prstGeom>
          <a:noFill/>
          <a:ln>
            <a:solidFill/>
          </a:ln>
        </p:spPr>
        <p:txBody>
          <a:bodyPr wrap="square">
            <a:spAutoFit/>
          </a:bodyPr>
          <a:lstStyle/>
          <a:p>
            <a:r>
              <a:t>3</a:t>
            </a:r>
          </a:p>
        </p:txBody>
      </p:sp>
      <p:sp>
        <p:nvSpPr>
          <p:cNvPr id="47" name="Rectangle 46"/>
          <p:cNvSpPr/>
          <p:nvPr/>
        </p:nvSpPr>
        <p:spPr>
          <a:xfrm>
            <a:off x="1234440" y="5504688"/>
            <a:ext cx="6492240" cy="265176"/>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261872" y="5545836"/>
            <a:ext cx="6437376" cy="164592"/>
          </a:xfrm>
          <a:prstGeom prst="rect">
            <a:avLst/>
          </a:prstGeom>
          <a:noFill/>
          <a:ln>
            <a:solidFill/>
          </a:ln>
        </p:spPr>
        <p:txBody>
          <a:bodyPr wrap="square">
            <a:spAutoFit/>
          </a:bodyPr>
          <a:lstStyle/>
          <a:p>
            <a:r>
              <a:t>Sources are collected</a:t>
            </a:r>
          </a:p>
        </p:txBody>
      </p:sp>
      <p:sp>
        <p:nvSpPr>
          <p:cNvPr id="49" name="Rectangle 48"/>
          <p:cNvSpPr/>
          <p:nvPr/>
        </p:nvSpPr>
        <p:spPr>
          <a:xfrm>
            <a:off x="7726679" y="5504688"/>
            <a:ext cx="1325880" cy="265176"/>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754111" y="5545836"/>
            <a:ext cx="1271016" cy="164592"/>
          </a:xfrm>
          <a:prstGeom prst="rect">
            <a:avLst/>
          </a:prstGeom>
          <a:noFill/>
          <a:ln>
            <a:solidFill/>
          </a:ln>
        </p:spPr>
        <p:txBody>
          <a:bodyPr wrap="square">
            <a:spAutoFit/>
          </a:bodyPr>
          <a:lstStyle/>
          <a:p>
            <a:r>
              <a:t>Passed</a:t>
            </a:r>
          </a:p>
        </p:txBody>
      </p:sp>
      <p:sp>
        <p:nvSpPr>
          <p:cNvPr id="51" name="Rectangle 50"/>
          <p:cNvSpPr/>
          <p:nvPr/>
        </p:nvSpPr>
        <p:spPr>
          <a:xfrm>
            <a:off x="594360" y="5769864"/>
            <a:ext cx="640080" cy="265176"/>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1792" y="5811012"/>
            <a:ext cx="585215" cy="164592"/>
          </a:xfrm>
          <a:prstGeom prst="rect">
            <a:avLst/>
          </a:prstGeom>
          <a:noFill/>
          <a:ln>
            <a:solidFill/>
          </a:ln>
        </p:spPr>
        <p:txBody>
          <a:bodyPr wrap="square">
            <a:spAutoFit/>
          </a:bodyPr>
          <a:lstStyle/>
          <a:p>
            <a:r>
              <a:t>4</a:t>
            </a:r>
          </a:p>
        </p:txBody>
      </p:sp>
      <p:sp>
        <p:nvSpPr>
          <p:cNvPr id="53" name="Rectangle 52"/>
          <p:cNvSpPr/>
          <p:nvPr/>
        </p:nvSpPr>
        <p:spPr>
          <a:xfrm>
            <a:off x="1234440" y="5769864"/>
            <a:ext cx="6492240" cy="265176"/>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261872" y="5811012"/>
            <a:ext cx="6437376" cy="164592"/>
          </a:xfrm>
          <a:prstGeom prst="rect">
            <a:avLst/>
          </a:prstGeom>
          <a:noFill/>
          <a:ln>
            <a:solidFill/>
          </a:ln>
        </p:spPr>
        <p:txBody>
          <a:bodyPr wrap="square">
            <a:spAutoFit/>
          </a:bodyPr>
          <a:lstStyle/>
          <a:p>
            <a:r>
              <a:t>Evidence validation runs</a:t>
            </a:r>
          </a:p>
        </p:txBody>
      </p:sp>
      <p:sp>
        <p:nvSpPr>
          <p:cNvPr id="55" name="Rectangle 54"/>
          <p:cNvSpPr/>
          <p:nvPr/>
        </p:nvSpPr>
        <p:spPr>
          <a:xfrm>
            <a:off x="7726679" y="5769864"/>
            <a:ext cx="1325880" cy="265176"/>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754111" y="5811012"/>
            <a:ext cx="1271016" cy="164592"/>
          </a:xfrm>
          <a:prstGeom prst="rect">
            <a:avLst/>
          </a:prstGeom>
          <a:noFill/>
          <a:ln>
            <a:solidFill/>
          </a:ln>
        </p:spPr>
        <p:txBody>
          <a:bodyPr wrap="square">
            <a:spAutoFit/>
          </a:bodyPr>
          <a:lstStyle/>
          <a:p>
            <a:r>
              <a:t>Passed</a:t>
            </a:r>
          </a:p>
        </p:txBody>
      </p:sp>
      <p:sp>
        <p:nvSpPr>
          <p:cNvPr id="57" name="Rectangle 56"/>
          <p:cNvSpPr/>
          <p:nvPr/>
        </p:nvSpPr>
        <p:spPr>
          <a:xfrm>
            <a:off x="594360" y="6035040"/>
            <a:ext cx="640080" cy="265176"/>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21792" y="6076188"/>
            <a:ext cx="585215" cy="164592"/>
          </a:xfrm>
          <a:prstGeom prst="rect">
            <a:avLst/>
          </a:prstGeom>
          <a:noFill/>
          <a:ln>
            <a:solidFill/>
          </a:ln>
        </p:spPr>
        <p:txBody>
          <a:bodyPr wrap="square">
            <a:spAutoFit/>
          </a:bodyPr>
          <a:lstStyle/>
          <a:p>
            <a:r>
              <a:t>5</a:t>
            </a:r>
          </a:p>
        </p:txBody>
      </p:sp>
      <p:sp>
        <p:nvSpPr>
          <p:cNvPr id="59" name="Rectangle 58"/>
          <p:cNvSpPr/>
          <p:nvPr/>
        </p:nvSpPr>
        <p:spPr>
          <a:xfrm>
            <a:off x="1234440" y="6035040"/>
            <a:ext cx="6492240" cy="265176"/>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261872" y="6076188"/>
            <a:ext cx="6437376" cy="164592"/>
          </a:xfrm>
          <a:prstGeom prst="rect">
            <a:avLst/>
          </a:prstGeom>
          <a:noFill/>
          <a:ln>
            <a:solidFill/>
          </a:ln>
        </p:spPr>
        <p:txBody>
          <a:bodyPr wrap="square">
            <a:spAutoFit/>
          </a:bodyPr>
          <a:lstStyle/>
          <a:p>
            <a:r>
              <a:t>PDF report is generated</a:t>
            </a:r>
          </a:p>
        </p:txBody>
      </p:sp>
      <p:sp>
        <p:nvSpPr>
          <p:cNvPr id="61" name="Rectangle 60"/>
          <p:cNvSpPr/>
          <p:nvPr/>
        </p:nvSpPr>
        <p:spPr>
          <a:xfrm>
            <a:off x="7726679" y="6035040"/>
            <a:ext cx="1325880" cy="265176"/>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754111" y="6076188"/>
            <a:ext cx="1271016" cy="164592"/>
          </a:xfrm>
          <a:prstGeom prst="rect">
            <a:avLst/>
          </a:prstGeom>
          <a:noFill/>
          <a:ln>
            <a:solidFill/>
          </a:ln>
        </p:spPr>
        <p:txBody>
          <a:bodyPr wrap="square">
            <a:spAutoFit/>
          </a:bodyPr>
          <a:lstStyle/>
          <a:p>
            <a:r>
              <a:t>Passed</a:t>
            </a:r>
          </a:p>
        </p:txBody>
      </p:sp>
      <p:sp>
        <p:nvSpPr>
          <p:cNvPr id="63" name="TextBox 62"/>
          <p:cNvSpPr txBox="1"/>
          <p:nvPr/>
        </p:nvSpPr>
        <p:spPr>
          <a:xfrm>
            <a:off x="9144000" y="4343400"/>
            <a:ext cx="2331720" cy="1325880"/>
          </a:xfrm>
          <a:prstGeom prst="rect">
            <a:avLst/>
          </a:prstGeom>
          <a:noFill/>
          <a:ln>
            <a:solidFill/>
          </a:ln>
        </p:spPr>
        <p:txBody>
          <a:bodyPr wrap="square">
            <a:spAutoFit/>
          </a:bodyPr>
          <a:lstStyle/>
          <a:p>
            <a:r>
              <a:t>Functional verification only. No benchmark performance scores are claimed; quantitative evaluation remains future work.</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AF8"/>
        </a:solidFill>
        <a:effectLst/>
      </p:bgPr>
    </p:bg>
    <p:spTree>
      <p:nvGrpSpPr>
        <p:cNvPr id="1" name=""/>
        <p:cNvGrpSpPr/>
        <p:nvPr/>
      </p:nvGrpSpPr>
      <p:grpSpPr/>
      <p:sp>
        <p:nvSpPr>
          <p:cNvPr id="2" name="Rounded Rectangle 1"/>
          <p:cNvSpPr/>
          <p:nvPr/>
        </p:nvSpPr>
        <p:spPr>
          <a:xfrm>
            <a:off x="320040" y="164592"/>
            <a:ext cx="11548872" cy="658368"/>
          </a:xfrm>
          <a:prstGeom prst="roundRect">
            <a:avLst/>
          </a:prstGeom>
          <a:solidFill>
            <a:srgbClr val="C00000"/>
          </a:solidFill>
          <a:ln>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8869680" cy="292608"/>
          </a:xfrm>
          <a:prstGeom prst="rect">
            <a:avLst/>
          </a:prstGeom>
          <a:noFill/>
          <a:ln>
            <a:solidFill/>
          </a:ln>
        </p:spPr>
        <p:txBody>
          <a:bodyPr wrap="square">
            <a:spAutoFit/>
          </a:bodyPr>
          <a:lstStyle/>
          <a:p>
            <a:pPr algn="l"/>
            <a:r>
              <a:rPr sz="2300" b="1">
                <a:solidFill>
                  <a:srgbClr val="FFFFFF"/>
                </a:solidFill>
              </a:rPr>
              <a:t>Research Paper Draft Preparation</a:t>
            </a:r>
          </a:p>
        </p:txBody>
      </p:sp>
      <p:sp>
        <p:nvSpPr>
          <p:cNvPr id="4" name="TextBox 3"/>
          <p:cNvSpPr txBox="1"/>
          <p:nvPr/>
        </p:nvSpPr>
        <p:spPr>
          <a:xfrm>
            <a:off x="8595360" y="292608"/>
            <a:ext cx="2926080" cy="228600"/>
          </a:xfrm>
          <a:prstGeom prst="rect">
            <a:avLst/>
          </a:prstGeom>
          <a:noFill/>
          <a:ln>
            <a:solidFill/>
          </a:ln>
        </p:spPr>
        <p:txBody>
          <a:bodyPr wrap="square">
            <a:spAutoFit/>
          </a:bodyPr>
          <a:lstStyle/>
          <a:p>
            <a:r>
              <a:rPr>
                <a:solidFill>
                  <a:srgbClr val="232323"/>
                </a:solidFill>
              </a:rPr>
              <a:t>AI Multi-Agent Research Assistant  |  Applied Machine Learning for Text Analysis</a:t>
            </a:r>
          </a:p>
        </p:txBody>
      </p:sp>
      <p:sp>
        <p:nvSpPr>
          <p:cNvPr id="5" name="TextBox 4"/>
          <p:cNvSpPr txBox="1"/>
          <p:nvPr/>
        </p:nvSpPr>
        <p:spPr>
          <a:xfrm>
            <a:off x="411480" y="6528816"/>
            <a:ext cx="11064240" cy="164592"/>
          </a:xfrm>
          <a:prstGeom prst="rect">
            <a:avLst/>
          </a:prstGeom>
          <a:noFill/>
          <a:ln>
            <a:solidFill/>
          </a:ln>
        </p:spPr>
        <p:txBody>
          <a:bodyPr wrap="square">
            <a:spAutoFit/>
          </a:bodyPr>
          <a:lstStyle/>
          <a:p>
            <a:pPr algn="r"/>
            <a:r>
              <a:rPr sz="850" b="0">
                <a:solidFill>
                  <a:srgbClr val="475569"/>
                </a:solidFill>
              </a:rPr>
              <a:t>Review-2 | 19</a:t>
            </a:r>
          </a:p>
        </p:txBody>
      </p:sp>
      <p:sp>
        <p:nvSpPr>
          <p:cNvPr id="6" name="Rounded Rectangle 5"/>
          <p:cNvSpPr/>
          <p:nvPr/>
        </p:nvSpPr>
        <p:spPr>
          <a:xfrm>
            <a:off x="548640" y="1143000"/>
            <a:ext cx="5257800" cy="987552"/>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 y="1234440"/>
            <a:ext cx="5001768" cy="256032"/>
          </a:xfrm>
          <a:prstGeom prst="rect">
            <a:avLst/>
          </a:prstGeom>
          <a:noFill/>
          <a:ln>
            <a:solidFill/>
          </a:ln>
        </p:spPr>
        <p:txBody>
          <a:bodyPr wrap="square">
            <a:spAutoFit/>
          </a:bodyPr>
          <a:lstStyle/>
          <a:p>
            <a:pPr algn="l"/>
            <a:r>
              <a:rPr sz="1400" b="1">
                <a:solidFill>
                  <a:srgbClr val="2563EB"/>
                </a:solidFill>
              </a:rPr>
              <a:t>Abstract</a:t>
            </a:r>
          </a:p>
        </p:txBody>
      </p:sp>
      <p:sp>
        <p:nvSpPr>
          <p:cNvPr id="8" name="TextBox 7"/>
          <p:cNvSpPr txBox="1"/>
          <p:nvPr/>
        </p:nvSpPr>
        <p:spPr>
          <a:xfrm>
            <a:off x="676656" y="1536192"/>
            <a:ext cx="5001768" cy="512064"/>
          </a:xfrm>
          <a:prstGeom prst="rect">
            <a:avLst/>
          </a:prstGeom>
          <a:noFill/>
          <a:ln>
            <a:solidFill/>
          </a:ln>
        </p:spPr>
        <p:txBody>
          <a:bodyPr wrap="square">
            <a:spAutoFit/>
          </a:bodyPr>
          <a:lstStyle/>
          <a:p>
            <a:pPr algn="l"/>
            <a:r>
              <a:rPr sz="1030" b="0">
                <a:solidFill>
                  <a:srgbClr val="232323"/>
                </a:solidFill>
              </a:rPr>
              <a:t>Problem, architecture, hybrid retrieval and preliminary prototype findings.</a:t>
            </a:r>
          </a:p>
        </p:txBody>
      </p:sp>
      <p:sp>
        <p:nvSpPr>
          <p:cNvPr id="9" name="Rounded Rectangle 8"/>
          <p:cNvSpPr/>
          <p:nvPr/>
        </p:nvSpPr>
        <p:spPr>
          <a:xfrm>
            <a:off x="6263640" y="1143000"/>
            <a:ext cx="5257800" cy="987552"/>
          </a:xfrm>
          <a:prstGeom prst="round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91655" y="1234440"/>
            <a:ext cx="5001768" cy="256032"/>
          </a:xfrm>
          <a:prstGeom prst="rect">
            <a:avLst/>
          </a:prstGeom>
          <a:noFill/>
          <a:ln>
            <a:solidFill/>
          </a:ln>
        </p:spPr>
        <p:txBody>
          <a:bodyPr wrap="square">
            <a:spAutoFit/>
          </a:bodyPr>
          <a:lstStyle/>
          <a:p>
            <a:pPr algn="l"/>
            <a:r>
              <a:rPr sz="1400" b="1">
                <a:solidFill>
                  <a:srgbClr val="F59E0B"/>
                </a:solidFill>
              </a:rPr>
              <a:t>1. Introduction</a:t>
            </a:r>
          </a:p>
        </p:txBody>
      </p:sp>
      <p:sp>
        <p:nvSpPr>
          <p:cNvPr id="11" name="TextBox 10"/>
          <p:cNvSpPr txBox="1"/>
          <p:nvPr/>
        </p:nvSpPr>
        <p:spPr>
          <a:xfrm>
            <a:off x="6391655" y="1536192"/>
            <a:ext cx="5001768" cy="512064"/>
          </a:xfrm>
          <a:prstGeom prst="rect">
            <a:avLst/>
          </a:prstGeom>
          <a:noFill/>
          <a:ln>
            <a:solidFill/>
          </a:ln>
        </p:spPr>
        <p:txBody>
          <a:bodyPr wrap="square">
            <a:spAutoFit/>
          </a:bodyPr>
          <a:lstStyle/>
          <a:p>
            <a:pPr algn="l"/>
            <a:r>
              <a:rPr sz="1030" b="0">
                <a:solidFill>
                  <a:srgbClr val="232323"/>
                </a:solidFill>
              </a:rPr>
              <a:t>Motivation and limits of manual/single-agent research workflows.</a:t>
            </a:r>
          </a:p>
        </p:txBody>
      </p:sp>
      <p:sp>
        <p:nvSpPr>
          <p:cNvPr id="12" name="Rounded Rectangle 11"/>
          <p:cNvSpPr/>
          <p:nvPr/>
        </p:nvSpPr>
        <p:spPr>
          <a:xfrm>
            <a:off x="548640" y="2404872"/>
            <a:ext cx="5257800" cy="987552"/>
          </a:xfrm>
          <a:prstGeom prst="roundRect">
            <a:avLst/>
          </a:prstGeom>
          <a:solidFill>
            <a:srgbClr val="FFFFFF"/>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656" y="2496312"/>
            <a:ext cx="5001768" cy="256032"/>
          </a:xfrm>
          <a:prstGeom prst="rect">
            <a:avLst/>
          </a:prstGeom>
          <a:noFill/>
          <a:ln>
            <a:solidFill/>
          </a:ln>
        </p:spPr>
        <p:txBody>
          <a:bodyPr wrap="square">
            <a:spAutoFit/>
          </a:bodyPr>
          <a:lstStyle/>
          <a:p>
            <a:pPr algn="l"/>
            <a:r>
              <a:rPr sz="1400" b="1">
                <a:solidFill>
                  <a:srgbClr val="16A34A"/>
                </a:solidFill>
              </a:rPr>
              <a:t>2. Problem Statement</a:t>
            </a:r>
          </a:p>
        </p:txBody>
      </p:sp>
      <p:sp>
        <p:nvSpPr>
          <p:cNvPr id="14" name="TextBox 13"/>
          <p:cNvSpPr txBox="1"/>
          <p:nvPr/>
        </p:nvSpPr>
        <p:spPr>
          <a:xfrm>
            <a:off x="676656" y="2798064"/>
            <a:ext cx="5001768" cy="512064"/>
          </a:xfrm>
          <a:prstGeom prst="rect">
            <a:avLst/>
          </a:prstGeom>
          <a:noFill/>
          <a:ln>
            <a:solidFill/>
          </a:ln>
        </p:spPr>
        <p:txBody>
          <a:bodyPr wrap="square">
            <a:spAutoFit/>
          </a:bodyPr>
          <a:lstStyle/>
          <a:p>
            <a:pPr algn="l"/>
            <a:r>
              <a:rPr sz="1030" b="0">
                <a:solidFill>
                  <a:srgbClr val="232323"/>
                </a:solidFill>
              </a:rPr>
              <a:t>Web volume, manual source comparison, hallucination and verification.</a:t>
            </a:r>
          </a:p>
        </p:txBody>
      </p:sp>
      <p:sp>
        <p:nvSpPr>
          <p:cNvPr id="15" name="Rounded Rectangle 14"/>
          <p:cNvSpPr/>
          <p:nvPr/>
        </p:nvSpPr>
        <p:spPr>
          <a:xfrm>
            <a:off x="6263640" y="2404872"/>
            <a:ext cx="5257800" cy="987552"/>
          </a:xfrm>
          <a:prstGeom prst="round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91655" y="2496312"/>
            <a:ext cx="5001768" cy="256032"/>
          </a:xfrm>
          <a:prstGeom prst="rect">
            <a:avLst/>
          </a:prstGeom>
          <a:noFill/>
          <a:ln>
            <a:solidFill/>
          </a:ln>
        </p:spPr>
        <p:txBody>
          <a:bodyPr wrap="square">
            <a:spAutoFit/>
          </a:bodyPr>
          <a:lstStyle/>
          <a:p>
            <a:pPr algn="l"/>
            <a:r>
              <a:rPr sz="1400" b="1">
                <a:solidFill>
                  <a:srgbClr val="7C3AED"/>
                </a:solidFill>
              </a:rPr>
              <a:t>3. Proposed Method</a:t>
            </a:r>
          </a:p>
        </p:txBody>
      </p:sp>
      <p:sp>
        <p:nvSpPr>
          <p:cNvPr id="17" name="TextBox 16"/>
          <p:cNvSpPr txBox="1"/>
          <p:nvPr/>
        </p:nvSpPr>
        <p:spPr>
          <a:xfrm>
            <a:off x="6391655" y="2798064"/>
            <a:ext cx="5001768" cy="512064"/>
          </a:xfrm>
          <a:prstGeom prst="rect">
            <a:avLst/>
          </a:prstGeom>
          <a:noFill/>
          <a:ln>
            <a:solidFill/>
          </a:ln>
        </p:spPr>
        <p:txBody>
          <a:bodyPr wrap="square">
            <a:spAutoFit/>
          </a:bodyPr>
          <a:lstStyle/>
          <a:p>
            <a:pPr algn="l"/>
            <a:r>
              <a:rPr sz="1030" b="0">
                <a:solidFill>
                  <a:srgbClr val="232323"/>
                </a:solidFill>
              </a:rPr>
              <a:t>Planner → Research → Filter → Hybrid RAG → Validate → Synthesize → Report.</a:t>
            </a:r>
          </a:p>
        </p:txBody>
      </p:sp>
      <p:sp>
        <p:nvSpPr>
          <p:cNvPr id="18" name="Rounded Rectangle 17"/>
          <p:cNvSpPr/>
          <p:nvPr/>
        </p:nvSpPr>
        <p:spPr>
          <a:xfrm>
            <a:off x="548640" y="3666744"/>
            <a:ext cx="5257800" cy="987552"/>
          </a:xfrm>
          <a:prstGeom prst="roundRect">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6656" y="3758183"/>
            <a:ext cx="5001768" cy="256032"/>
          </a:xfrm>
          <a:prstGeom prst="rect">
            <a:avLst/>
          </a:prstGeom>
          <a:noFill/>
          <a:ln>
            <a:solidFill/>
          </a:ln>
        </p:spPr>
        <p:txBody>
          <a:bodyPr wrap="square">
            <a:spAutoFit/>
          </a:bodyPr>
          <a:lstStyle/>
          <a:p>
            <a:pPr algn="l"/>
            <a:r>
              <a:rPr sz="1400" b="1">
                <a:solidFill>
                  <a:srgbClr val="DC2626"/>
                </a:solidFill>
              </a:rPr>
              <a:t>4. Implementation</a:t>
            </a:r>
          </a:p>
        </p:txBody>
      </p:sp>
      <p:sp>
        <p:nvSpPr>
          <p:cNvPr id="20" name="TextBox 19"/>
          <p:cNvSpPr txBox="1"/>
          <p:nvPr/>
        </p:nvSpPr>
        <p:spPr>
          <a:xfrm>
            <a:off x="676656" y="4059935"/>
            <a:ext cx="5001768" cy="512064"/>
          </a:xfrm>
          <a:prstGeom prst="rect">
            <a:avLst/>
          </a:prstGeom>
          <a:noFill/>
          <a:ln>
            <a:solidFill/>
          </a:ln>
        </p:spPr>
        <p:txBody>
          <a:bodyPr wrap="square">
            <a:spAutoFit/>
          </a:bodyPr>
          <a:lstStyle/>
          <a:p>
            <a:pPr algn="l"/>
            <a:r>
              <a:rPr sz="1030" b="0">
                <a:solidFill>
                  <a:srgbClr val="232323"/>
                </a:solidFill>
              </a:rPr>
              <a:t>Python modules, retrieval prototype, FastAPI boundary and report generation.</a:t>
            </a:r>
          </a:p>
        </p:txBody>
      </p:sp>
      <p:sp>
        <p:nvSpPr>
          <p:cNvPr id="21" name="Rounded Rectangle 20"/>
          <p:cNvSpPr/>
          <p:nvPr/>
        </p:nvSpPr>
        <p:spPr>
          <a:xfrm>
            <a:off x="6263640" y="3666744"/>
            <a:ext cx="5257800" cy="987552"/>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91655" y="3758183"/>
            <a:ext cx="5001768" cy="256032"/>
          </a:xfrm>
          <a:prstGeom prst="rect">
            <a:avLst/>
          </a:prstGeom>
          <a:noFill/>
          <a:ln>
            <a:solidFill/>
          </a:ln>
        </p:spPr>
        <p:txBody>
          <a:bodyPr wrap="square">
            <a:spAutoFit/>
          </a:bodyPr>
          <a:lstStyle/>
          <a:p>
            <a:pPr algn="l"/>
            <a:r>
              <a:rPr sz="1400" b="1">
                <a:solidFill>
                  <a:srgbClr val="2563EB"/>
                </a:solidFill>
              </a:rPr>
              <a:t>5. Results</a:t>
            </a:r>
          </a:p>
        </p:txBody>
      </p:sp>
      <p:sp>
        <p:nvSpPr>
          <p:cNvPr id="23" name="TextBox 22"/>
          <p:cNvSpPr txBox="1"/>
          <p:nvPr/>
        </p:nvSpPr>
        <p:spPr>
          <a:xfrm>
            <a:off x="6391655" y="4059935"/>
            <a:ext cx="5001768" cy="512064"/>
          </a:xfrm>
          <a:prstGeom prst="rect">
            <a:avLst/>
          </a:prstGeom>
          <a:noFill/>
          <a:ln>
            <a:solidFill/>
          </a:ln>
        </p:spPr>
        <p:txBody>
          <a:bodyPr wrap="square">
            <a:spAutoFit/>
          </a:bodyPr>
          <a:lstStyle/>
          <a:p>
            <a:pPr algn="l"/>
            <a:r>
              <a:rPr sz="1030" b="0">
                <a:solidFill>
                  <a:srgbClr val="232323"/>
                </a:solidFill>
              </a:rPr>
              <a:t>3 subtasks, 5 ranked sources, 3/3 validated claims in the demo.</a:t>
            </a:r>
          </a:p>
        </p:txBody>
      </p:sp>
      <p:sp>
        <p:nvSpPr>
          <p:cNvPr id="24" name="Rounded Rectangle 23"/>
          <p:cNvSpPr/>
          <p:nvPr/>
        </p:nvSpPr>
        <p:spPr>
          <a:xfrm>
            <a:off x="548640" y="4928616"/>
            <a:ext cx="5257800" cy="987552"/>
          </a:xfrm>
          <a:prstGeom prst="roundRect">
            <a:avLst/>
          </a:prstGeom>
          <a:solidFill>
            <a:srgbClr val="FFFFFF"/>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 y="5020055"/>
            <a:ext cx="5001768" cy="256032"/>
          </a:xfrm>
          <a:prstGeom prst="rect">
            <a:avLst/>
          </a:prstGeom>
          <a:noFill/>
          <a:ln>
            <a:solidFill/>
          </a:ln>
        </p:spPr>
        <p:txBody>
          <a:bodyPr wrap="square">
            <a:spAutoFit/>
          </a:bodyPr>
          <a:lstStyle/>
          <a:p>
            <a:pPr algn="l"/>
            <a:r>
              <a:rPr sz="1400" b="1">
                <a:solidFill>
                  <a:srgbClr val="16A34A"/>
                </a:solidFill>
              </a:rPr>
              <a:t>6. Limitations &amp; Future Work</a:t>
            </a:r>
          </a:p>
        </p:txBody>
      </p:sp>
      <p:sp>
        <p:nvSpPr>
          <p:cNvPr id="26" name="TextBox 25"/>
          <p:cNvSpPr txBox="1"/>
          <p:nvPr/>
        </p:nvSpPr>
        <p:spPr>
          <a:xfrm>
            <a:off x="676656" y="5321807"/>
            <a:ext cx="5001768" cy="512064"/>
          </a:xfrm>
          <a:prstGeom prst="rect">
            <a:avLst/>
          </a:prstGeom>
          <a:noFill/>
          <a:ln>
            <a:solidFill/>
          </a:ln>
        </p:spPr>
        <p:txBody>
          <a:bodyPr wrap="square">
            <a:spAutoFit/>
          </a:bodyPr>
          <a:lstStyle/>
          <a:p>
            <a:pPr algn="l"/>
            <a:r>
              <a:rPr sz="1030" b="0">
                <a:solidFill>
                  <a:srgbClr val="232323"/>
                </a:solidFill>
              </a:rPr>
              <a:t>Live web, FAISS, LLM integration, benchmark, latency and cost evaluation.</a:t>
            </a:r>
          </a:p>
        </p:txBody>
      </p:sp>
      <p:sp>
        <p:nvSpPr>
          <p:cNvPr id="27" name="Rounded Rectangle 26"/>
          <p:cNvSpPr/>
          <p:nvPr/>
        </p:nvSpPr>
        <p:spPr>
          <a:xfrm>
            <a:off x="6263640" y="4928616"/>
            <a:ext cx="5257800" cy="987552"/>
          </a:xfrm>
          <a:prstGeom prst="round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91655" y="5020055"/>
            <a:ext cx="5001768" cy="256032"/>
          </a:xfrm>
          <a:prstGeom prst="rect">
            <a:avLst/>
          </a:prstGeom>
          <a:noFill/>
          <a:ln>
            <a:solidFill/>
          </a:ln>
        </p:spPr>
        <p:txBody>
          <a:bodyPr wrap="square">
            <a:spAutoFit/>
          </a:bodyPr>
          <a:lstStyle/>
          <a:p>
            <a:pPr algn="l"/>
            <a:r>
              <a:rPr sz="1400" b="1">
                <a:solidFill>
                  <a:srgbClr val="F59E0B"/>
                </a:solidFill>
              </a:rPr>
              <a:t>7. Conclusion</a:t>
            </a:r>
          </a:p>
        </p:txBody>
      </p:sp>
      <p:sp>
        <p:nvSpPr>
          <p:cNvPr id="29" name="TextBox 28"/>
          <p:cNvSpPr txBox="1"/>
          <p:nvPr/>
        </p:nvSpPr>
        <p:spPr>
          <a:xfrm>
            <a:off x="6391655" y="5321807"/>
            <a:ext cx="5001768" cy="512064"/>
          </a:xfrm>
          <a:prstGeom prst="rect">
            <a:avLst/>
          </a:prstGeom>
          <a:noFill/>
          <a:ln>
            <a:solidFill/>
          </a:ln>
        </p:spPr>
        <p:txBody>
          <a:bodyPr wrap="square">
            <a:spAutoFit/>
          </a:bodyPr>
          <a:lstStyle/>
          <a:p>
            <a:pPr algn="l"/>
            <a:r>
              <a:rPr sz="1030" b="0">
                <a:solidFill>
                  <a:srgbClr val="232323"/>
                </a:solidFill>
              </a:rPr>
              <a:t>Evidence-grounded multi-agent research with traceable output.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20040" y="164592"/>
            <a:ext cx="11548872" cy="658368"/>
          </a:xfrm>
          <a:prstGeom prst="roundRect">
            <a:avLst/>
          </a:prstGeom>
          <a:solidFill>
            <a:srgbClr val="123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8869680" cy="292608"/>
          </a:xfrm>
          <a:prstGeom prst="rect">
            <a:avLst/>
          </a:prstGeom>
          <a:noFill/>
        </p:spPr>
        <p:txBody>
          <a:bodyPr wrap="square">
            <a:spAutoFit/>
          </a:bodyPr>
          <a:lstStyle/>
          <a:p>
            <a:pPr algn="l"/>
            <a:r>
              <a:rPr sz="2300" b="1">
                <a:solidFill>
                  <a:srgbClr val="FFFFFF"/>
                </a:solidFill>
              </a:rPr>
              <a:t>Review-2 Summary &amp; Next Implementation Steps</a:t>
            </a:r>
          </a:p>
        </p:txBody>
      </p:sp>
      <p:sp>
        <p:nvSpPr>
          <p:cNvPr id="4" name="TextBox 3"/>
          <p:cNvSpPr txBox="1"/>
          <p:nvPr/>
        </p:nvSpPr>
        <p:spPr>
          <a:xfrm>
            <a:off x="8595360" y="292608"/>
            <a:ext cx="2926080" cy="228600"/>
          </a:xfrm>
          <a:prstGeom prst="rect">
            <a:avLst/>
          </a:prstGeom>
          <a:noFill/>
        </p:spPr>
        <p:txBody>
          <a:bodyPr wrap="square">
            <a:spAutoFit/>
          </a:bodyPr>
          <a:lstStyle/>
          <a:p>
            <a:pPr algn="r"/>
            <a:r>
              <a:rPr sz="900" b="0">
                <a:solidFill>
                  <a:srgbClr val="FFFFFF"/>
                </a:solidFill>
              </a:rPr>
              <a:t>AI Multi-Agent Research Assistant | Review-2</a:t>
            </a:r>
          </a:p>
        </p:txBody>
      </p:sp>
      <p:sp>
        <p:nvSpPr>
          <p:cNvPr id="5" name="TextBox 4"/>
          <p:cNvSpPr txBox="1"/>
          <p:nvPr/>
        </p:nvSpPr>
        <p:spPr>
          <a:xfrm>
            <a:off x="411480" y="6528816"/>
            <a:ext cx="11064240" cy="164592"/>
          </a:xfrm>
          <a:prstGeom prst="rect">
            <a:avLst/>
          </a:prstGeom>
          <a:noFill/>
        </p:spPr>
        <p:txBody>
          <a:bodyPr wrap="square">
            <a:spAutoFit/>
          </a:bodyPr>
          <a:lstStyle/>
          <a:p>
            <a:pPr algn="r"/>
            <a:r>
              <a:rPr sz="850" b="0">
                <a:solidFill>
                  <a:srgbClr val="475569"/>
                </a:solidFill>
              </a:rPr>
              <a:t>Review-2 | 20</a:t>
            </a:r>
          </a:p>
        </p:txBody>
      </p:sp>
      <p:sp>
        <p:nvSpPr>
          <p:cNvPr id="6" name="Rounded Rectangle 5"/>
          <p:cNvSpPr/>
          <p:nvPr/>
        </p:nvSpPr>
        <p:spPr>
          <a:xfrm>
            <a:off x="594360" y="1051560"/>
            <a:ext cx="10789920" cy="640080"/>
          </a:xfrm>
          <a:prstGeom prst="roundRect">
            <a:avLst/>
          </a:prstGeom>
          <a:solidFill>
            <a:srgbClr val="FFFFFF"/>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 y="1143000"/>
            <a:ext cx="10533888" cy="256032"/>
          </a:xfrm>
          <a:prstGeom prst="rect">
            <a:avLst/>
          </a:prstGeom>
          <a:noFill/>
        </p:spPr>
        <p:txBody>
          <a:bodyPr wrap="square">
            <a:spAutoFit/>
          </a:bodyPr>
          <a:lstStyle/>
          <a:p>
            <a:pPr algn="l"/>
            <a:r>
              <a:rPr sz="1400" b="1">
                <a:solidFill>
                  <a:srgbClr val="16A34A"/>
                </a:solidFill>
              </a:rPr>
              <a:t>Completed</a:t>
            </a:r>
          </a:p>
        </p:txBody>
      </p:sp>
      <p:sp>
        <p:nvSpPr>
          <p:cNvPr id="8" name="TextBox 7"/>
          <p:cNvSpPr txBox="1"/>
          <p:nvPr/>
        </p:nvSpPr>
        <p:spPr>
          <a:xfrm>
            <a:off x="722376" y="1444751"/>
            <a:ext cx="10533888" cy="164591"/>
          </a:xfrm>
          <a:prstGeom prst="rect">
            <a:avLst/>
          </a:prstGeom>
          <a:noFill/>
        </p:spPr>
        <p:txBody>
          <a:bodyPr wrap="square">
            <a:spAutoFit/>
          </a:bodyPr>
          <a:lstStyle/>
          <a:p>
            <a:r>
              <a:t>Working FastAPI UI, live Tavily research, local Llama 3.1 8B inference, evidence validation and PDF report generation.</a:t>
            </a:r>
          </a:p>
        </p:txBody>
      </p:sp>
      <p:sp>
        <p:nvSpPr>
          <p:cNvPr id="9" name="Rounded Rectangle 8"/>
          <p:cNvSpPr/>
          <p:nvPr/>
        </p:nvSpPr>
        <p:spPr>
          <a:xfrm>
            <a:off x="594360" y="1883664"/>
            <a:ext cx="10789920" cy="6400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2376" y="1975104"/>
            <a:ext cx="10533888" cy="256032"/>
          </a:xfrm>
          <a:prstGeom prst="rect">
            <a:avLst/>
          </a:prstGeom>
          <a:noFill/>
        </p:spPr>
        <p:txBody>
          <a:bodyPr wrap="square">
            <a:spAutoFit/>
          </a:bodyPr>
          <a:lstStyle/>
          <a:p>
            <a:pPr algn="l"/>
            <a:r>
              <a:rPr sz="1400" b="1">
                <a:solidFill>
                  <a:srgbClr val="2563EB"/>
                </a:solidFill>
              </a:rPr>
              <a:t>Real Retrieval</a:t>
            </a:r>
          </a:p>
        </p:txBody>
      </p:sp>
      <p:sp>
        <p:nvSpPr>
          <p:cNvPr id="11" name="TextBox 10"/>
          <p:cNvSpPr txBox="1"/>
          <p:nvPr/>
        </p:nvSpPr>
        <p:spPr>
          <a:xfrm>
            <a:off x="722376" y="2276856"/>
            <a:ext cx="10533888" cy="164591"/>
          </a:xfrm>
          <a:prstGeom prst="rect">
            <a:avLst/>
          </a:prstGeom>
          <a:noFill/>
        </p:spPr>
        <p:txBody>
          <a:bodyPr wrap="square">
            <a:spAutoFit/>
          </a:bodyPr>
          <a:lstStyle/>
          <a:p>
            <a:r>
              <a:t>Source quality</a:t>
            </a:r>
          </a:p>
        </p:txBody>
      </p:sp>
      <p:sp>
        <p:nvSpPr>
          <p:cNvPr id="12" name="Rounded Rectangle 11"/>
          <p:cNvSpPr/>
          <p:nvPr/>
        </p:nvSpPr>
        <p:spPr>
          <a:xfrm>
            <a:off x="594360" y="2715768"/>
            <a:ext cx="10789920" cy="640080"/>
          </a:xfrm>
          <a:prstGeom prst="round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r>
              <a:t>Expand source-quality scoring, deduplication and metadata checks.</a:t>
            </a:r>
          </a:p>
        </p:txBody>
      </p:sp>
      <p:sp>
        <p:nvSpPr>
          <p:cNvPr id="13" name="TextBox 12"/>
          <p:cNvSpPr txBox="1"/>
          <p:nvPr/>
        </p:nvSpPr>
        <p:spPr>
          <a:xfrm>
            <a:off x="722376" y="2807208"/>
            <a:ext cx="10533888" cy="256032"/>
          </a:xfrm>
          <a:prstGeom prst="rect">
            <a:avLst/>
          </a:prstGeom>
          <a:noFill/>
        </p:spPr>
        <p:txBody>
          <a:bodyPr wrap="square">
            <a:spAutoFit/>
          </a:bodyPr>
          <a:lstStyle/>
          <a:p>
            <a:r>
              <a:t>Quantitative evaluation</a:t>
            </a:r>
          </a:p>
        </p:txBody>
      </p:sp>
      <p:sp>
        <p:nvSpPr>
          <p:cNvPr id="14" name="TextBox 13"/>
          <p:cNvSpPr txBox="1"/>
          <p:nvPr/>
        </p:nvSpPr>
        <p:spPr>
          <a:xfrm>
            <a:off x="722376" y="3108960"/>
            <a:ext cx="10533888" cy="164591"/>
          </a:xfrm>
          <a:prstGeom prst="rect">
            <a:avLst/>
          </a:prstGeom>
          <a:noFill/>
        </p:spPr>
        <p:txBody>
          <a:bodyPr wrap="square">
            <a:spAutoFit/>
          </a:bodyPr>
          <a:lstStyle/>
          <a:p>
            <a:r>
              <a:t>Measure retrieval relevance, claim support, citation correctness, latency and cost on a test set.</a:t>
            </a:r>
          </a:p>
        </p:txBody>
      </p:sp>
      <p:sp>
        <p:nvSpPr>
          <p:cNvPr id="15" name="Rounded Rectangle 14"/>
          <p:cNvSpPr/>
          <p:nvPr/>
        </p:nvSpPr>
        <p:spPr>
          <a:xfrm>
            <a:off x="594360" y="3547872"/>
            <a:ext cx="10789920" cy="640080"/>
          </a:xfrm>
          <a:prstGeom prst="round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6" y="3639312"/>
            <a:ext cx="10533888" cy="256032"/>
          </a:xfrm>
          <a:prstGeom prst="rect">
            <a:avLst/>
          </a:prstGeom>
          <a:noFill/>
        </p:spPr>
        <p:txBody>
          <a:bodyPr wrap="square">
            <a:spAutoFit/>
          </a:bodyPr>
          <a:lstStyle/>
          <a:p>
            <a:r>
              <a:t>Orchestration</a:t>
            </a:r>
          </a:p>
        </p:txBody>
      </p:sp>
      <p:sp>
        <p:nvSpPr>
          <p:cNvPr id="17" name="TextBox 16"/>
          <p:cNvSpPr txBox="1"/>
          <p:nvPr/>
        </p:nvSpPr>
        <p:spPr>
          <a:xfrm>
            <a:off x="722376" y="3941063"/>
            <a:ext cx="10533888" cy="164591"/>
          </a:xfrm>
          <a:prstGeom prst="rect">
            <a:avLst/>
          </a:prstGeom>
          <a:noFill/>
        </p:spPr>
        <p:txBody>
          <a:bodyPr wrap="square">
            <a:spAutoFit/>
          </a:bodyPr>
          <a:lstStyle/>
          <a:p>
            <a:r>
              <a:t>LangGraph is planned; current workflow uses modular Python/LangChain components.</a:t>
            </a:r>
          </a:p>
        </p:txBody>
      </p:sp>
      <p:sp>
        <p:nvSpPr>
          <p:cNvPr id="18" name="Rounded Rectangle 17"/>
          <p:cNvSpPr/>
          <p:nvPr/>
        </p:nvSpPr>
        <p:spPr>
          <a:xfrm>
            <a:off x="594360" y="4379976"/>
            <a:ext cx="10789920" cy="640080"/>
          </a:xfrm>
          <a:prstGeom prst="roundRect">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2376" y="4471416"/>
            <a:ext cx="10533888" cy="256032"/>
          </a:xfrm>
          <a:prstGeom prst="rect">
            <a:avLst/>
          </a:prstGeom>
          <a:noFill/>
        </p:spPr>
        <p:txBody>
          <a:bodyPr wrap="square">
            <a:spAutoFit/>
          </a:bodyPr>
          <a:lstStyle/>
          <a:p>
            <a:r>
              <a:t>Deployment</a:t>
            </a:r>
          </a:p>
        </p:txBody>
      </p:sp>
      <p:sp>
        <p:nvSpPr>
          <p:cNvPr id="20" name="TextBox 19"/>
          <p:cNvSpPr txBox="1"/>
          <p:nvPr/>
        </p:nvSpPr>
        <p:spPr>
          <a:xfrm>
            <a:off x="722376" y="4773168"/>
            <a:ext cx="10533888" cy="164591"/>
          </a:xfrm>
          <a:prstGeom prst="rect">
            <a:avLst/>
          </a:prstGeom>
          <a:noFill/>
        </p:spPr>
        <p:txBody>
          <a:bodyPr wrap="square">
            <a:spAutoFit/>
          </a:bodyPr>
          <a:lstStyle/>
          <a:p>
            <a:r>
              <a:t>Docker and public hosting are future work.</a:t>
            </a:r>
          </a:p>
        </p:txBody>
      </p:sp>
      <p:sp>
        <p:nvSpPr>
          <p:cNvPr id="21" name="Rounded Rectangle 20"/>
          <p:cNvSpPr/>
          <p:nvPr/>
        </p:nvSpPr>
        <p:spPr>
          <a:xfrm>
            <a:off x="594360" y="5212079"/>
            <a:ext cx="10789920" cy="640080"/>
          </a:xfrm>
          <a:prstGeom prst="roundRect">
            <a:avLst/>
          </a:prstGeom>
          <a:solidFill>
            <a:srgbClr val="FFFFFF"/>
          </a:solidFill>
          <a:ln w="19050">
            <a:solidFill>
              <a:srgbClr val="123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6" y="5303519"/>
            <a:ext cx="10533888" cy="256032"/>
          </a:xfrm>
          <a:prstGeom prst="rect">
            <a:avLst/>
          </a:prstGeom>
          <a:noFill/>
        </p:spPr>
        <p:txBody>
          <a:bodyPr wrap="square">
            <a:spAutoFit/>
          </a:bodyPr>
          <a:lstStyle/>
          <a:p>
            <a:pPr algn="l"/>
            <a:r>
              <a:rPr sz="1400" b="1">
                <a:solidFill>
                  <a:srgbClr val="123B6B"/>
                </a:solidFill>
              </a:rPr>
              <a:t>Final Deliverables</a:t>
            </a:r>
          </a:p>
        </p:txBody>
      </p:sp>
      <p:sp>
        <p:nvSpPr>
          <p:cNvPr id="23" name="TextBox 22"/>
          <p:cNvSpPr txBox="1"/>
          <p:nvPr/>
        </p:nvSpPr>
        <p:spPr>
          <a:xfrm>
            <a:off x="722376" y="5605271"/>
            <a:ext cx="10533888" cy="164591"/>
          </a:xfrm>
          <a:prstGeom prst="rect">
            <a:avLst/>
          </a:prstGeom>
          <a:noFill/>
        </p:spPr>
        <p:txBody>
          <a:bodyPr wrap="square">
            <a:spAutoFit/>
          </a:bodyPr>
          <a:lstStyle/>
          <a:p>
            <a:pPr algn="l"/>
            <a:r>
              <a:rPr sz="1050" b="0">
                <a:solidFill>
                  <a:srgbClr val="0F172A"/>
                </a:solidFill>
              </a:rPr>
              <a:t>Working FastAPI service, report generation, UI/demo, research paper and final PPT.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TotalTime>
  <Words>1167</Words>
  <Application>Microsoft Office PowerPoint</Application>
  <PresentationFormat>Widescreen</PresentationFormat>
  <Paragraphs>183</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srija yalamanchili</cp:lastModifiedBy>
  <cp:revision>2</cp:revision>
  <dcterms:created xsi:type="dcterms:W3CDTF">2026-08-20T05:02:33Z</dcterms:created>
  <dcterms:modified xsi:type="dcterms:W3CDTF">2026-09-17T05:12:48Z</dcterms:modified>
</cp:coreProperties>
</file>